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everything here is a feasibility pass on subsamples we happened to have from two student projects (different eras and productions). The point is that the merged pipeline works end to end and the studies are internally consistent — not that any number is a tuned performance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codebases were merged into one shared package (dfm/) with a single encoder used by every study. The 5D sample provides labels; the Calo sample provides complete calorimeter context and the neighbor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matching is exact, not approximate: per sampling layer, cell centers agree to the bit between productions, so a KD-tree lookup recovers the hash identity. Everything downstream (graph transfer, corpus indexing) rides on that. The thinning law of the 5D format was measured against the full-cell format rather than trusted from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is the log response, so the correction is multiplicative and symmetric in log space. Splits are by file, so test files are never seen by training or by any normalization fit. Isolation is a stored flag, not a cut: training uses isolated jets, and both populations are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study in this talk uses this one encoder; a configuration string like TJC-graph+pan fully specifies inputs, cell encoding, initialization, and head. That is what makes the comparisons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Two-stage loss: Huber gives stable early optimization, the Gaussian NLL then buys a per-jet uncertainty. Robust estimators (median, IQR) keep the metrics honest against non-Gaussian tails. The full walk-through of the metric construction is in the backup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the best configuration halves the resolution of the stored calibrated jets on this sample, with honest per-jet uncertainties. Equally important is the scale lesson: the 4-file campaign would have concluded that cells are useless — the 17-file campaign reverses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foundation-model claim in miniature: pretrain once on unlabeled full-calorimeter data, then a frozen encoder plus a linear head already matches supervised training. The absolute gains are modest at this sample size — the interesting regime is matched provenance at 10-100x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findings that shape the program: sharing beats specializing (for flavors and for tasks), and multi-task costs nothing — the panoptic head matches a dedicated tagger while calibrating within 2% of a truth-conditioned model. The b shoulder is real physics and sets up the mixture-density upgrade.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asks: the feasibility phase is done and documented; scaling it properly needs provenance metadata, a larger and second-process track-level sample, and ideally a production where tracks and full cells come from the same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learned MET is better everywhere, and dramatically so at high true MET where the cell sum fails. The tracks-only row is the interesting negative result — covered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shared encoder does event-level set prediction out of the box. The efficiency turn-on at low pT and the DETR seed variance are both expected at this scale and are the first things the scaled study should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822960"/>
            <a:ext cx="10698480" cy="320040"/>
          </a:xfrm>
          <a:prstGeom prst="rect">
            <a:avLst/>
          </a:prstGeom>
          <a:noFill/>
          <a:ln/>
        </p:spPr>
        <p:txBody>
          <a:bodyPr wrap="square" lIns="0" tIns="0" rIns="0" bIns="0" rtlCol="0" anchor="ctr"/>
          <a:lstStyle/>
          <a:p>
            <a:pPr indent="0" marL="0">
              <a:buNone/>
            </a:pPr>
            <a:r>
              <a:rPr lang="en-US" sz="1200" b="1" spc="250" kern="0" dirty="0">
                <a:solidFill>
                  <a:srgbClr val="CADCFC"/>
                </a:solidFill>
                <a:latin typeface="Calibri" pitchFamily="34" charset="0"/>
                <a:ea typeface="Calibri" pitchFamily="34" charset="-122"/>
                <a:cs typeface="Calibri" pitchFamily="34" charset="-120"/>
              </a:rPr>
              <a:t>UTA DETECTOR FOUNDATION MODEL — FEASIBILITY REPORT</a:t>
            </a:r>
            <a:endParaRPr lang="en-US" sz="1200" dirty="0"/>
          </a:p>
        </p:txBody>
      </p:sp>
      <p:sp>
        <p:nvSpPr>
          <p:cNvPr id="3" name="Text 1"/>
          <p:cNvSpPr/>
          <p:nvPr/>
        </p:nvSpPr>
        <p:spPr>
          <a:xfrm>
            <a:off x="731520" y="1234440"/>
            <a:ext cx="10698480" cy="7772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Toward a Detector Foundation Model</a:t>
            </a:r>
            <a:endParaRPr lang="en-US" sz="4000" dirty="0"/>
          </a:p>
        </p:txBody>
      </p:sp>
      <p:sp>
        <p:nvSpPr>
          <p:cNvPr id="4" name="Text 2"/>
          <p:cNvSpPr/>
          <p:nvPr/>
        </p:nvSpPr>
        <p:spPr>
          <a:xfrm>
            <a:off x="731520" y="2103120"/>
            <a:ext cx="10058400" cy="45720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Jet calibration on two merged student pipelines — what we did, what we measured, what we learned</a:t>
            </a:r>
            <a:endParaRPr lang="en-US" sz="1700" dirty="0"/>
          </a:p>
        </p:txBody>
      </p:sp>
      <p:sp>
        <p:nvSpPr>
          <p:cNvPr id="5" name="Text 3"/>
          <p:cNvSpPr/>
          <p:nvPr/>
        </p:nvSpPr>
        <p:spPr>
          <a:xfrm>
            <a:off x="731520" y="2651760"/>
            <a:ext cx="10058400" cy="365760"/>
          </a:xfrm>
          <a:prstGeom prst="rect">
            <a:avLst/>
          </a:prstGeom>
          <a:noFill/>
          <a:ln/>
        </p:spPr>
        <p:txBody>
          <a:bodyPr wrap="square" lIns="0" tIns="0" rIns="0" bIns="0" rtlCol="0" anchor="ctr"/>
          <a:lstStyle/>
          <a:p>
            <a:pPr indent="0" marL="0">
              <a:buNone/>
            </a:pPr>
            <a:r>
              <a:rPr lang="en-US" sz="1300" i="1" dirty="0">
                <a:solidFill>
                  <a:srgbClr val="F5C065"/>
                </a:solidFill>
                <a:latin typeface="Calibri" pitchFamily="34" charset="0"/>
                <a:ea typeface="Calibri" pitchFamily="34" charset="-122"/>
                <a:cs typeface="Calibri" pitchFamily="34" charset="-120"/>
              </a:rPr>
              <a:t>A quick feasibility pass on opportunistic Run 3 / HL-LHC subsamples — the groundwork for a properly scaled study.</a:t>
            </a:r>
            <a:endParaRPr lang="en-US" sz="1300" dirty="0"/>
          </a:p>
        </p:txBody>
      </p:sp>
      <p:sp>
        <p:nvSpPr>
          <p:cNvPr id="6" name="Text 4"/>
          <p:cNvSpPr/>
          <p:nvPr/>
        </p:nvSpPr>
        <p:spPr>
          <a:xfrm>
            <a:off x="731520" y="3977640"/>
            <a:ext cx="2560320" cy="68580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187,652</a:t>
            </a:r>
            <a:endParaRPr lang="en-US" sz="3800" dirty="0"/>
          </a:p>
        </p:txBody>
      </p:sp>
      <p:sp>
        <p:nvSpPr>
          <p:cNvPr id="7" name="Text 5"/>
          <p:cNvSpPr/>
          <p:nvPr/>
        </p:nvSpPr>
        <p:spPr>
          <a:xfrm>
            <a:off x="731520" y="4709160"/>
            <a:ext cx="2468880" cy="868680"/>
          </a:xfrm>
          <a:prstGeom prst="rect">
            <a:avLst/>
          </a:prstGeom>
          <a:noFill/>
          <a:ln/>
        </p:spPr>
        <p:txBody>
          <a:bodyPr wrap="square" lIns="0" tIns="0" rIns="0" bIns="0" rtlCol="0" anchor="ctr"/>
          <a:lstStyle/>
          <a:p>
            <a:pPr indent="0" marL="0">
              <a:lnSpc>
                <a:spcPct val="105000"/>
              </a:lnSpc>
              <a:buNone/>
            </a:pPr>
            <a:r>
              <a:rPr lang="en-US" sz="1100" dirty="0">
                <a:solidFill>
                  <a:srgbClr val="CADCFC"/>
                </a:solidFill>
                <a:latin typeface="Calibri" pitchFamily="34" charset="0"/>
                <a:ea typeface="Calibri" pitchFamily="34" charset="-122"/>
                <a:cs typeface="Calibri" pitchFamily="34" charset="-120"/>
              </a:rPr>
              <a:t>calorimeter cells bridged exactly between the two formats</a:t>
            </a:r>
            <a:endParaRPr lang="en-US" sz="1100" dirty="0"/>
          </a:p>
        </p:txBody>
      </p:sp>
      <p:sp>
        <p:nvSpPr>
          <p:cNvPr id="8" name="Text 6"/>
          <p:cNvSpPr/>
          <p:nvPr/>
        </p:nvSpPr>
        <p:spPr>
          <a:xfrm>
            <a:off x="3474720" y="3977640"/>
            <a:ext cx="2560320" cy="68580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1.20M</a:t>
            </a:r>
            <a:endParaRPr lang="en-US" sz="3800" dirty="0"/>
          </a:p>
        </p:txBody>
      </p:sp>
      <p:sp>
        <p:nvSpPr>
          <p:cNvPr id="9" name="Text 7"/>
          <p:cNvSpPr/>
          <p:nvPr/>
        </p:nvSpPr>
        <p:spPr>
          <a:xfrm>
            <a:off x="3474720" y="4709160"/>
            <a:ext cx="2468880" cy="868680"/>
          </a:xfrm>
          <a:prstGeom prst="rect">
            <a:avLst/>
          </a:prstGeom>
          <a:noFill/>
          <a:ln/>
        </p:spPr>
        <p:txBody>
          <a:bodyPr wrap="square" lIns="0" tIns="0" rIns="0" bIns="0" rtlCol="0" anchor="ctr"/>
          <a:lstStyle/>
          <a:p>
            <a:pPr indent="0" marL="0">
              <a:lnSpc>
                <a:spcPct val="105000"/>
              </a:lnSpc>
              <a:buNone/>
            </a:pPr>
            <a:r>
              <a:rPr lang="en-US" sz="1100" dirty="0">
                <a:solidFill>
                  <a:srgbClr val="CADCFC"/>
                </a:solidFill>
                <a:latin typeface="Calibri" pitchFamily="34" charset="0"/>
                <a:ea typeface="Calibri" pitchFamily="34" charset="-122"/>
                <a:cs typeface="Calibri" pitchFamily="34" charset="-120"/>
              </a:rPr>
              <a:t>matched jets in the calibration datasets (620k light)</a:t>
            </a:r>
            <a:endParaRPr lang="en-US" sz="1100" dirty="0"/>
          </a:p>
        </p:txBody>
      </p:sp>
      <p:sp>
        <p:nvSpPr>
          <p:cNvPr id="10" name="Text 8"/>
          <p:cNvSpPr/>
          <p:nvPr/>
        </p:nvSpPr>
        <p:spPr>
          <a:xfrm>
            <a:off x="6217920" y="3977640"/>
            <a:ext cx="2560320" cy="68580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~115</a:t>
            </a:r>
            <a:endParaRPr lang="en-US" sz="3800" dirty="0"/>
          </a:p>
        </p:txBody>
      </p:sp>
      <p:sp>
        <p:nvSpPr>
          <p:cNvPr id="11" name="Text 9"/>
          <p:cNvSpPr/>
          <p:nvPr/>
        </p:nvSpPr>
        <p:spPr>
          <a:xfrm>
            <a:off x="6217920" y="4709160"/>
            <a:ext cx="2468880" cy="868680"/>
          </a:xfrm>
          <a:prstGeom prst="rect">
            <a:avLst/>
          </a:prstGeom>
          <a:noFill/>
          <a:ln/>
        </p:spPr>
        <p:txBody>
          <a:bodyPr wrap="square" lIns="0" tIns="0" rIns="0" bIns="0" rtlCol="0" anchor="ctr"/>
          <a:lstStyle/>
          <a:p>
            <a:pPr indent="0" marL="0">
              <a:lnSpc>
                <a:spcPct val="105000"/>
              </a:lnSpc>
              <a:buNone/>
            </a:pPr>
            <a:r>
              <a:rPr lang="en-US" sz="1100" dirty="0">
                <a:solidFill>
                  <a:srgbClr val="CADCFC"/>
                </a:solidFill>
                <a:latin typeface="Calibri" pitchFamily="34" charset="0"/>
                <a:ea typeface="Calibri" pitchFamily="34" charset="-122"/>
                <a:cs typeface="Calibri" pitchFamily="34" charset="-120"/>
              </a:rPr>
              <a:t>trainings across six gated study campaigns</a:t>
            </a:r>
            <a:endParaRPr lang="en-US" sz="1100" dirty="0"/>
          </a:p>
        </p:txBody>
      </p:sp>
      <p:sp>
        <p:nvSpPr>
          <p:cNvPr id="12" name="Text 10"/>
          <p:cNvSpPr/>
          <p:nvPr/>
        </p:nvSpPr>
        <p:spPr>
          <a:xfrm>
            <a:off x="8961120" y="3977640"/>
            <a:ext cx="2560320" cy="685800"/>
          </a:xfrm>
          <a:prstGeom prst="rect">
            <a:avLst/>
          </a:prstGeom>
          <a:noFill/>
          <a:ln/>
        </p:spPr>
        <p:txBody>
          <a:bodyPr wrap="square" lIns="0" tIns="0" rIns="0" bIns="0" rtlCol="0" anchor="ctr"/>
          <a:lstStyle/>
          <a:p>
            <a:pPr indent="0" marL="0">
              <a:buNone/>
            </a:pPr>
            <a:r>
              <a:rPr lang="en-US" sz="3800" b="1" dirty="0">
                <a:solidFill>
                  <a:srgbClr val="F5C065"/>
                </a:solidFill>
                <a:latin typeface="Calibri" pitchFamily="34" charset="0"/>
                <a:ea typeface="Calibri" pitchFamily="34" charset="-122"/>
                <a:cs typeface="Calibri" pitchFamily="34" charset="-120"/>
              </a:rPr>
              <a:t>× 0.50</a:t>
            </a:r>
            <a:endParaRPr lang="en-US" sz="3800" dirty="0"/>
          </a:p>
        </p:txBody>
      </p:sp>
      <p:sp>
        <p:nvSpPr>
          <p:cNvPr id="13" name="Text 11"/>
          <p:cNvSpPr/>
          <p:nvPr/>
        </p:nvSpPr>
        <p:spPr>
          <a:xfrm>
            <a:off x="8961120" y="4709160"/>
            <a:ext cx="2468880" cy="868680"/>
          </a:xfrm>
          <a:prstGeom prst="rect">
            <a:avLst/>
          </a:prstGeom>
          <a:noFill/>
          <a:ln/>
        </p:spPr>
        <p:txBody>
          <a:bodyPr wrap="square" lIns="0" tIns="0" rIns="0" bIns="0" rtlCol="0" anchor="ctr"/>
          <a:lstStyle/>
          <a:p>
            <a:pPr indent="0" marL="0">
              <a:lnSpc>
                <a:spcPct val="105000"/>
              </a:lnSpc>
              <a:buNone/>
            </a:pPr>
            <a:r>
              <a:rPr lang="en-US" sz="1100" dirty="0">
                <a:solidFill>
                  <a:srgbClr val="CADCFC"/>
                </a:solidFill>
                <a:latin typeface="Calibri" pitchFamily="34" charset="0"/>
                <a:ea typeface="Calibri" pitchFamily="34" charset="-122"/>
                <a:cs typeface="Calibri" pitchFamily="34" charset="-120"/>
              </a:rPr>
              <a:t>JER vs the calibrated-jet baseline at 65–90 GeV</a:t>
            </a:r>
            <a:endParaRPr lang="en-US" sz="1100" dirty="0"/>
          </a:p>
        </p:txBody>
      </p:sp>
      <p:sp>
        <p:nvSpPr>
          <p:cNvPr id="14" name="Text 12"/>
          <p:cNvSpPr/>
          <p:nvPr/>
        </p:nvSpPr>
        <p:spPr>
          <a:xfrm>
            <a:off x="731520" y="5989320"/>
            <a:ext cx="1069848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Amir Farbin  ·  Umar (5D ntuples, b-tagging)  ·  Mohammad Ali (Calo ntuples, foundation model)   —   UT Arlington, August 2026</a:t>
            </a:r>
            <a:endParaRPr lang="en-US" sz="1200" dirty="0"/>
          </a:p>
        </p:txBody>
      </p:sp>
      <p:sp>
        <p:nvSpPr>
          <p:cNvPr id="15" name="Text 13"/>
          <p:cNvSpPr/>
          <p:nvPr/>
        </p:nvSpPr>
        <p:spPr>
          <a:xfrm>
            <a:off x="502920" y="6510528"/>
            <a:ext cx="4114800" cy="274320"/>
          </a:xfrm>
          <a:prstGeom prst="rect">
            <a:avLst/>
          </a:prstGeom>
          <a:noFill/>
          <a:ln/>
        </p:spPr>
        <p:txBody>
          <a:bodyPr wrap="square" lIns="0" tIns="0" rIns="0" bIns="0" rtlCol="0" anchor="ctr"/>
          <a:lstStyle/>
          <a:p>
            <a:pPr indent="0" marL="0">
              <a:buNone/>
            </a:pPr>
            <a:r>
              <a:rPr lang="en-US" sz="900" dirty="0">
                <a:solidFill>
                  <a:srgbClr val="8FA3C8"/>
                </a:solidFill>
                <a:latin typeface="Calibri" pitchFamily="34" charset="0"/>
                <a:ea typeface="Calibri" pitchFamily="34" charset="-122"/>
                <a:cs typeface="Calibri" pitchFamily="34" charset="-120"/>
              </a:rPr>
              <a:t>DFM feasibility — UT Arlington · Aug 2026</a:t>
            </a:r>
            <a:endParaRPr lang="en-US" sz="900" dirty="0"/>
          </a:p>
        </p:txBody>
      </p:sp>
      <p:sp>
        <p:nvSpPr>
          <p:cNvPr id="16" name="Text 14"/>
          <p:cNvSpPr/>
          <p:nvPr/>
        </p:nvSpPr>
        <p:spPr>
          <a:xfrm>
            <a:off x="11430000" y="6510528"/>
            <a:ext cx="365760" cy="274320"/>
          </a:xfrm>
          <a:prstGeom prst="rect">
            <a:avLst/>
          </a:prstGeom>
          <a:noFill/>
          <a:ln/>
        </p:spPr>
        <p:txBody>
          <a:bodyPr wrap="square" lIns="0" tIns="0" rIns="0" bIns="0" rtlCol="0" anchor="ctr"/>
          <a:lstStyle/>
          <a:p>
            <a:pPr algn="r" indent="0" marL="0">
              <a:buNone/>
            </a:pPr>
            <a:r>
              <a:rPr lang="en-US" sz="900" dirty="0">
                <a:solidFill>
                  <a:srgbClr val="8FA3C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56032"/>
            <a:ext cx="11155680" cy="274320"/>
          </a:xfrm>
          <a:prstGeom prst="rect">
            <a:avLst/>
          </a:prstGeom>
          <a:noFill/>
          <a:ln/>
        </p:spPr>
        <p:txBody>
          <a:bodyPr wrap="square" lIns="0" tIns="0" rIns="0" bIns="0" rtlCol="0" anchor="ctr"/>
          <a:lstStyle/>
          <a:p>
            <a:pPr indent="0" marL="0">
              <a:buNone/>
            </a:pPr>
            <a:r>
              <a:rPr lang="en-US" sz="1050" b="1" spc="200" kern="0" dirty="0">
                <a:solidFill>
                  <a:srgbClr val="667085"/>
                </a:solidFill>
                <a:latin typeface="Calibri" pitchFamily="34" charset="0"/>
                <a:ea typeface="Calibri" pitchFamily="34" charset="-122"/>
                <a:cs typeface="Calibri" pitchFamily="34" charset="-120"/>
              </a:rPr>
              <a:t>CONTEXT &amp; DATA SELECTION</a:t>
            </a:r>
            <a:endParaRPr lang="en-US" sz="1050" dirty="0"/>
          </a:p>
        </p:txBody>
      </p:sp>
      <p:sp>
        <p:nvSpPr>
          <p:cNvPr id="3" name="Text 1"/>
          <p:cNvSpPr/>
          <p:nvPr/>
        </p:nvSpPr>
        <p:spPr>
          <a:xfrm>
            <a:off x="502920" y="475488"/>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Two student pipelines, two ntuple formats</a:t>
            </a:r>
            <a:endParaRPr lang="en-US" sz="2700" dirty="0"/>
          </a:p>
        </p:txBody>
      </p:sp>
      <p:sp>
        <p:nvSpPr>
          <p:cNvPr id="4" name="Shape 2"/>
          <p:cNvSpPr/>
          <p:nvPr/>
        </p:nvSpPr>
        <p:spPr>
          <a:xfrm>
            <a:off x="502920" y="1188720"/>
            <a:ext cx="5532120" cy="3063240"/>
          </a:xfrm>
          <a:prstGeom prst="roundRect">
            <a:avLst>
              <a:gd name="adj" fmla="val 2090"/>
            </a:avLst>
          </a:prstGeom>
          <a:solidFill>
            <a:srgbClr val="EEF3FB"/>
          </a:solidFill>
          <a:ln w="12700">
            <a:solidFill>
              <a:srgbClr val="DCE4F0"/>
            </a:solidFill>
            <a:prstDash val="solid"/>
          </a:ln>
        </p:spPr>
      </p:sp>
      <p:sp>
        <p:nvSpPr>
          <p:cNvPr id="5" name="Text 3"/>
          <p:cNvSpPr/>
          <p:nvPr/>
        </p:nvSpPr>
        <p:spPr>
          <a:xfrm>
            <a:off x="777240" y="1371600"/>
            <a:ext cx="502920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5D ntuples — Umar / SLAC production (labeled)</a:t>
            </a:r>
            <a:endParaRPr lang="en-US" sz="1500" dirty="0"/>
          </a:p>
        </p:txBody>
      </p:sp>
      <p:sp>
        <p:nvSpPr>
          <p:cNvPr id="6" name="Text 4"/>
          <p:cNvSpPr/>
          <p:nvPr/>
        </p:nvSpPr>
        <p:spPr>
          <a:xfrm>
            <a:off x="777240" y="1783080"/>
            <a:ext cx="5029200" cy="2377440"/>
          </a:xfrm>
          <a:prstGeom prst="rect">
            <a:avLst/>
          </a:prstGeom>
          <a:noFill/>
          <a:ln/>
        </p:spPr>
        <p:txBody>
          <a:bodyPr wrap="square" lIns="0" tIns="0" rIns="0" bIns="0" rtlCol="0" anchor="t"/>
          <a:lstStyle/>
          <a:p>
            <a:pPr marL="127000" indent="-127000">
              <a:lnSpc>
                <a:spcPct val="106000"/>
              </a:lnSpc>
              <a:spcAft>
                <a:spcPts val="700"/>
              </a:spcAft>
              <a:buSzPct val="100000"/>
              <a:buChar char="•"/>
            </a:pPr>
            <a:r>
              <a:rPr lang="en-US" sz="1250" dirty="0">
                <a:solidFill>
                  <a:srgbClr val="232833"/>
                </a:solidFill>
                <a:latin typeface="Calibri" pitchFamily="34" charset="0"/>
                <a:ea typeface="Calibri" pitchFamily="34" charset="-122"/>
                <a:cs typeface="Calibri" pitchFamily="34" charset="-120"/>
              </a:rPr>
              <a:t>Per-event tracks (16 stored vars + 2 derived significances), AntiKt4EMTopo jets with truth matching, truth record</a:t>
            </a:r>
            <a:endParaRPr lang="en-US" sz="1250" dirty="0"/>
          </a:p>
          <a:p>
            <a:pPr marL="127000" indent="-127000">
              <a:lnSpc>
                <a:spcPct val="106000"/>
              </a:lnSpc>
              <a:spcAft>
                <a:spcPts val="700"/>
              </a:spcAft>
              <a:buSzPct val="100000"/>
              <a:buChar char="•"/>
            </a:pPr>
            <a:r>
              <a:rPr lang="en-US" sz="1250" dirty="0">
                <a:solidFill>
                  <a:srgbClr val="232833"/>
                </a:solidFill>
                <a:latin typeface="Calibri" pitchFamily="34" charset="0"/>
                <a:ea typeface="Calibri" pitchFamily="34" charset="-122"/>
                <a:cs typeface="Calibri" pitchFamily="34" charset="-120"/>
              </a:rPr>
              <a:t>Thinned calorimeter cells in GeV — no cell IDs, no stable ordering</a:t>
            </a:r>
            <a:endParaRPr lang="en-US" sz="1250" dirty="0"/>
          </a:p>
          <a:p>
            <a:pPr marL="127000" indent="-127000">
              <a:lnSpc>
                <a:spcPct val="106000"/>
              </a:lnSpc>
              <a:spcAft>
                <a:spcPts val="700"/>
              </a:spcAft>
              <a:buSzPct val="100000"/>
              <a:buChar char="•"/>
            </a:pPr>
            <a:r>
              <a:rPr lang="en-US" sz="1250" dirty="0">
                <a:solidFill>
                  <a:srgbClr val="232833"/>
                </a:solidFill>
                <a:latin typeface="Calibri" pitchFamily="34" charset="0"/>
                <a:ea typeface="Calibri" pitchFamily="34" charset="-122"/>
                <a:cs typeface="Calibri" pitchFamily="34" charset="-120"/>
              </a:rPr>
              <a:t>17 t̄t files used: the labeled sample for every supervised study</a:t>
            </a:r>
            <a:endParaRPr lang="en-US" sz="1250" dirty="0"/>
          </a:p>
        </p:txBody>
      </p:sp>
      <p:sp>
        <p:nvSpPr>
          <p:cNvPr id="7" name="Shape 5"/>
          <p:cNvSpPr/>
          <p:nvPr/>
        </p:nvSpPr>
        <p:spPr>
          <a:xfrm>
            <a:off x="6263640" y="1188720"/>
            <a:ext cx="5440680" cy="3063240"/>
          </a:xfrm>
          <a:prstGeom prst="roundRect">
            <a:avLst>
              <a:gd name="adj" fmla="val 2090"/>
            </a:avLst>
          </a:prstGeom>
          <a:solidFill>
            <a:srgbClr val="EEF3FB"/>
          </a:solidFill>
          <a:ln w="12700">
            <a:solidFill>
              <a:srgbClr val="DCE4F0"/>
            </a:solidFill>
            <a:prstDash val="solid"/>
          </a:ln>
        </p:spPr>
      </p:sp>
      <p:sp>
        <p:nvSpPr>
          <p:cNvPr id="8" name="Text 6"/>
          <p:cNvSpPr/>
          <p:nvPr/>
        </p:nvSpPr>
        <p:spPr>
          <a:xfrm>
            <a:off x="6537960" y="1371600"/>
            <a:ext cx="502920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Calo ntuples — Mohammad Ali / UTA production (unlabeled fuel)</a:t>
            </a:r>
            <a:endParaRPr lang="en-US" sz="1500" dirty="0"/>
          </a:p>
        </p:txBody>
      </p:sp>
      <p:sp>
        <p:nvSpPr>
          <p:cNvPr id="9" name="Text 7"/>
          <p:cNvSpPr/>
          <p:nvPr/>
        </p:nvSpPr>
        <p:spPr>
          <a:xfrm>
            <a:off x="6537960" y="1783080"/>
            <a:ext cx="4937760" cy="2377440"/>
          </a:xfrm>
          <a:prstGeom prst="rect">
            <a:avLst/>
          </a:prstGeom>
          <a:noFill/>
          <a:ln/>
        </p:spPr>
        <p:txBody>
          <a:bodyPr wrap="square" lIns="0" tIns="0" rIns="0" bIns="0" rtlCol="0" anchor="t"/>
          <a:lstStyle/>
          <a:p>
            <a:pPr marL="127000" indent="-127000">
              <a:lnSpc>
                <a:spcPct val="106000"/>
              </a:lnSpc>
              <a:spcAft>
                <a:spcPts val="700"/>
              </a:spcAft>
              <a:buSzPct val="100000"/>
              <a:buChar char="•"/>
            </a:pPr>
            <a:r>
              <a:rPr lang="en-US" sz="1250" dirty="0">
                <a:solidFill>
                  <a:srgbClr val="232833"/>
                </a:solidFill>
                <a:latin typeface="Calibri" pitchFamily="34" charset="0"/>
                <a:ea typeface="Calibri" pitchFamily="34" charset="-122"/>
                <a:cs typeface="Calibri" pitchFamily="34" charset="-120"/>
              </a:rPr>
              <a:t>All 187,652 cells per event (MeV, hash-ordered) + topoclusters</a:t>
            </a:r>
            <a:endParaRPr lang="en-US" sz="1250" dirty="0"/>
          </a:p>
          <a:p>
            <a:pPr marL="127000" indent="-127000">
              <a:lnSpc>
                <a:spcPct val="106000"/>
              </a:lnSpc>
              <a:spcAft>
                <a:spcPts val="700"/>
              </a:spcAft>
              <a:buSzPct val="100000"/>
              <a:buChar char="•"/>
            </a:pPr>
            <a:r>
              <a:rPr lang="en-US" sz="1250" dirty="0">
                <a:solidFill>
                  <a:srgbClr val="232833"/>
                </a:solidFill>
                <a:latin typeface="Calibri" pitchFamily="34" charset="0"/>
                <a:ea typeface="Calibri" pitchFamily="34" charset="-122"/>
                <a:cs typeface="Calibri" pitchFamily="34" charset="-120"/>
              </a:rPr>
              <a:t>Precomputed cell neighbor graph — the geometry asset we transfer</a:t>
            </a:r>
            <a:endParaRPr lang="en-US" sz="1250" dirty="0"/>
          </a:p>
          <a:p>
            <a:pPr marL="127000" indent="-127000">
              <a:lnSpc>
                <a:spcPct val="106000"/>
              </a:lnSpc>
              <a:spcAft>
                <a:spcPts val="700"/>
              </a:spcAft>
              <a:buSzPct val="100000"/>
              <a:buChar char="•"/>
            </a:pPr>
            <a:r>
              <a:rPr lang="en-US" sz="1250" dirty="0">
                <a:solidFill>
                  <a:srgbClr val="232833"/>
                </a:solidFill>
                <a:latin typeface="Calibri" pitchFamily="34" charset="0"/>
                <a:ea typeface="Calibri" pitchFamily="34" charset="-122"/>
                <a:cs typeface="Calibri" pitchFamily="34" charset="-120"/>
              </a:rPr>
              <a:t>Corpora: t̄t (1k events), single-π (5k), hh→bbττ (10k) for self-supervised pretraining</a:t>
            </a:r>
            <a:endParaRPr lang="en-US" sz="1250" dirty="0"/>
          </a:p>
        </p:txBody>
      </p:sp>
      <p:sp>
        <p:nvSpPr>
          <p:cNvPr id="10" name="Shape 8"/>
          <p:cNvSpPr/>
          <p:nvPr/>
        </p:nvSpPr>
        <p:spPr>
          <a:xfrm>
            <a:off x="502920" y="4526280"/>
            <a:ext cx="11201400" cy="1783080"/>
          </a:xfrm>
          <a:prstGeom prst="roundRect">
            <a:avLst>
              <a:gd name="adj" fmla="val 3590"/>
            </a:avLst>
          </a:prstGeom>
          <a:solidFill>
            <a:srgbClr val="FDF0DC"/>
          </a:solidFill>
          <a:ln w="12700">
            <a:solidFill>
              <a:srgbClr val="EED9B0"/>
            </a:solidFill>
            <a:prstDash val="solid"/>
          </a:ln>
        </p:spPr>
      </p:sp>
      <p:sp>
        <p:nvSpPr>
          <p:cNvPr id="11" name="Text 9"/>
          <p:cNvSpPr/>
          <p:nvPr/>
        </p:nvSpPr>
        <p:spPr>
          <a:xfrm>
            <a:off x="777240" y="4681728"/>
            <a:ext cx="10607040" cy="320040"/>
          </a:xfrm>
          <a:prstGeom prst="rect">
            <a:avLst/>
          </a:prstGeom>
          <a:noFill/>
          <a:ln/>
        </p:spPr>
        <p:txBody>
          <a:bodyPr wrap="square" lIns="0" tIns="0" rIns="0" bIns="0" rtlCol="0" anchor="ctr"/>
          <a:lstStyle/>
          <a:p>
            <a:pPr indent="0" marL="0">
              <a:buNone/>
            </a:pPr>
            <a:r>
              <a:rPr lang="en-US" sz="1400" b="1" dirty="0">
                <a:solidFill>
                  <a:srgbClr val="9A5B13"/>
                </a:solidFill>
                <a:latin typeface="Calibri" pitchFamily="34" charset="0"/>
                <a:ea typeface="Calibri" pitchFamily="34" charset="-122"/>
                <a:cs typeface="Calibri" pitchFamily="34" charset="-120"/>
              </a:rPr>
              <a:t>Feasibility framing — read every result with this in mind</a:t>
            </a:r>
            <a:endParaRPr lang="en-US" sz="1400" dirty="0"/>
          </a:p>
        </p:txBody>
      </p:sp>
      <p:sp>
        <p:nvSpPr>
          <p:cNvPr id="12" name="Text 10"/>
          <p:cNvSpPr/>
          <p:nvPr/>
        </p:nvSpPr>
        <p:spPr>
          <a:xfrm>
            <a:off x="777240" y="5029200"/>
            <a:ext cx="10607040" cy="1143000"/>
          </a:xfrm>
          <a:prstGeom prst="rect">
            <a:avLst/>
          </a:prstGeom>
          <a:noFill/>
          <a:ln/>
        </p:spPr>
        <p:txBody>
          <a:bodyPr wrap="square" lIns="0" tIns="0" rIns="0" bIns="0" rtlCol="0" anchor="ctr"/>
          <a:lstStyle/>
          <a:p>
            <a:pPr indent="0" marL="0">
              <a:lnSpc>
                <a:spcPct val="110000"/>
              </a:lnSpc>
              <a:buNone/>
            </a:pPr>
            <a:r>
              <a:rPr lang="en-US" sz="1250" dirty="0">
                <a:solidFill>
                  <a:srgbClr val="232833"/>
                </a:solidFill>
                <a:latin typeface="Calibri" pitchFamily="34" charset="0"/>
                <a:ea typeface="Calibri" pitchFamily="34" charset="-122"/>
                <a:cs typeface="Calibri" pitchFamily="34" charset="-120"/>
              </a:rPr>
              <a:t>These are subsamples we happened to have, from different eras (Run 3 / HL-LHC) and different productions. Generator, tune and pile-up provenance is still being collected from the producers. All comparisons are internally consistent — same jets, same estimators, same splits — but nothing here is a tuned-performance claim.</a:t>
            </a:r>
            <a:endParaRPr lang="en-US" sz="1250" dirty="0"/>
          </a:p>
        </p:txBody>
      </p:sp>
      <p:sp>
        <p:nvSpPr>
          <p:cNvPr id="13" name="Text 11"/>
          <p:cNvSpPr/>
          <p:nvPr/>
        </p:nvSpPr>
        <p:spPr>
          <a:xfrm>
            <a:off x="502920" y="6510528"/>
            <a:ext cx="4114800" cy="27432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DFM feasibility — UT Arlington · Aug 2026</a:t>
            </a:r>
            <a:endParaRPr lang="en-US" sz="900" dirty="0"/>
          </a:p>
        </p:txBody>
      </p:sp>
      <p:sp>
        <p:nvSpPr>
          <p:cNvPr id="14" name="Text 12"/>
          <p:cNvSpPr/>
          <p:nvPr/>
        </p:nvSpPr>
        <p:spPr>
          <a:xfrm>
            <a:off x="11430000" y="6510528"/>
            <a:ext cx="365760" cy="274320"/>
          </a:xfrm>
          <a:prstGeom prst="rect">
            <a:avLst/>
          </a:prstGeom>
          <a:noFill/>
          <a:ln/>
        </p:spPr>
        <p:txBody>
          <a:bodyPr wrap="square" lIns="0" tIns="0" rIns="0" bIns="0"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56032"/>
            <a:ext cx="11155680" cy="274320"/>
          </a:xfrm>
          <a:prstGeom prst="rect">
            <a:avLst/>
          </a:prstGeom>
          <a:noFill/>
          <a:ln/>
        </p:spPr>
        <p:txBody>
          <a:bodyPr wrap="square" lIns="0" tIns="0" rIns="0" bIns="0" rtlCol="0" anchor="ctr"/>
          <a:lstStyle/>
          <a:p>
            <a:pPr indent="0" marL="0">
              <a:buNone/>
            </a:pPr>
            <a:r>
              <a:rPr lang="en-US" sz="1050" b="1" spc="200" kern="0" dirty="0">
                <a:solidFill>
                  <a:srgbClr val="667085"/>
                </a:solidFill>
                <a:latin typeface="Calibri" pitchFamily="34" charset="0"/>
                <a:ea typeface="Calibri" pitchFamily="34" charset="-122"/>
                <a:cs typeface="Calibri" pitchFamily="34" charset="-120"/>
              </a:rPr>
              <a:t>DATA ENGINEERING</a:t>
            </a:r>
            <a:endParaRPr lang="en-US" sz="1050" dirty="0"/>
          </a:p>
        </p:txBody>
      </p:sp>
      <p:sp>
        <p:nvSpPr>
          <p:cNvPr id="3" name="Text 1"/>
          <p:cNvSpPr/>
          <p:nvPr/>
        </p:nvSpPr>
        <p:spPr>
          <a:xfrm>
            <a:off x="502920" y="475488"/>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The bridge: hacks that make two formats one dataset</a:t>
            </a:r>
            <a:endParaRPr lang="en-US" sz="2700" dirty="0"/>
          </a:p>
        </p:txBody>
      </p:sp>
      <p:sp>
        <p:nvSpPr>
          <p:cNvPr id="4" name="Shape 2"/>
          <p:cNvSpPr/>
          <p:nvPr/>
        </p:nvSpPr>
        <p:spPr>
          <a:xfrm>
            <a:off x="502920" y="1261872"/>
            <a:ext cx="310896" cy="310896"/>
          </a:xfrm>
          <a:prstGeom prst="ellipse">
            <a:avLst/>
          </a:prstGeom>
          <a:solidFill>
            <a:srgbClr val="1E2761"/>
          </a:solidFill>
          <a:ln w="12700">
            <a:solidFill>
              <a:srgbClr val="1E2761"/>
            </a:solidFill>
            <a:prstDash val="solid"/>
          </a:ln>
        </p:spPr>
      </p:sp>
      <p:sp>
        <p:nvSpPr>
          <p:cNvPr id="5" name="Text 3"/>
          <p:cNvSpPr/>
          <p:nvPr/>
        </p:nvSpPr>
        <p:spPr>
          <a:xfrm>
            <a:off x="502920" y="12618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960120" y="1234440"/>
            <a:ext cx="5669280" cy="777240"/>
          </a:xfrm>
          <a:prstGeom prst="rect">
            <a:avLst/>
          </a:prstGeom>
          <a:noFill/>
          <a:ln/>
        </p:spPr>
        <p:txBody>
          <a:bodyPr wrap="square" lIns="0" tIns="0" rIns="0" bIns="0" rtlCol="0" anchor="t"/>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Exact geometry match — </a:t>
            </a:r>
            <a:pPr indent="0" marL="0">
              <a:lnSpc>
                <a:spcPct val="105000"/>
              </a:lnSpc>
              <a:buNone/>
            </a:pPr>
            <a:r>
              <a:rPr lang="en-US" sz="1250" dirty="0">
                <a:solidFill>
                  <a:srgbClr val="232833"/>
                </a:solidFill>
                <a:latin typeface="Calibri" pitchFamily="34" charset="0"/>
                <a:ea typeface="Calibri" pitchFamily="34" charset="-122"/>
                <a:cs typeface="Calibri" pitchFamily="34" charset="-120"/>
              </a:rPr>
              <a:t>per-layer KD-tree on cell (x, y, z) + sampling; coordinates are bit-identical across formats, recovering the hash index. Zero mismatches in 146k jets tested.</a:t>
            </a:r>
            <a:endParaRPr lang="en-US" sz="1250" dirty="0"/>
          </a:p>
        </p:txBody>
      </p:sp>
      <p:sp>
        <p:nvSpPr>
          <p:cNvPr id="7" name="Shape 5"/>
          <p:cNvSpPr/>
          <p:nvPr/>
        </p:nvSpPr>
        <p:spPr>
          <a:xfrm>
            <a:off x="502920" y="2148840"/>
            <a:ext cx="310896" cy="310896"/>
          </a:xfrm>
          <a:prstGeom prst="ellipse">
            <a:avLst/>
          </a:prstGeom>
          <a:solidFill>
            <a:srgbClr val="1E2761"/>
          </a:solidFill>
          <a:ln w="12700">
            <a:solidFill>
              <a:srgbClr val="1E2761"/>
            </a:solidFill>
            <a:prstDash val="solid"/>
          </a:ln>
        </p:spPr>
      </p:sp>
      <p:sp>
        <p:nvSpPr>
          <p:cNvPr id="8" name="Text 6"/>
          <p:cNvSpPr/>
          <p:nvPr/>
        </p:nvSpPr>
        <p:spPr>
          <a:xfrm>
            <a:off x="502920" y="21488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960120" y="2121408"/>
            <a:ext cx="5669280" cy="548640"/>
          </a:xfrm>
          <a:prstGeom prst="rect">
            <a:avLst/>
          </a:prstGeom>
          <a:noFill/>
          <a:ln/>
        </p:spPr>
        <p:txBody>
          <a:bodyPr wrap="square" lIns="0" tIns="0" rIns="0" bIns="0" rtlCol="0" anchor="t"/>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Persistent Cell-ID map — </a:t>
            </a:r>
            <a:pPr indent="0" marL="0">
              <a:lnSpc>
                <a:spcPct val="105000"/>
              </a:lnSpc>
              <a:buNone/>
            </a:pPr>
            <a:r>
              <a:rPr lang="en-US" sz="1250" dirty="0">
                <a:solidFill>
                  <a:srgbClr val="232833"/>
                </a:solidFill>
                <a:latin typeface="Calibri" pitchFamily="34" charset="0"/>
                <a:ea typeface="Calibri" pitchFamily="34" charset="-122"/>
                <a:cs typeface="Calibri" pitchFamily="34" charset="-120"/>
              </a:rPr>
              <a:t>geometry resolves each new ID once; afterwards an O(1) lookup.</a:t>
            </a:r>
            <a:endParaRPr lang="en-US" sz="1250" dirty="0"/>
          </a:p>
        </p:txBody>
      </p:sp>
      <p:sp>
        <p:nvSpPr>
          <p:cNvPr id="10" name="Shape 8"/>
          <p:cNvSpPr/>
          <p:nvPr/>
        </p:nvSpPr>
        <p:spPr>
          <a:xfrm>
            <a:off x="502920" y="2807208"/>
            <a:ext cx="310896" cy="310896"/>
          </a:xfrm>
          <a:prstGeom prst="ellipse">
            <a:avLst/>
          </a:prstGeom>
          <a:solidFill>
            <a:srgbClr val="1E2761"/>
          </a:solidFill>
          <a:ln w="12700">
            <a:solidFill>
              <a:srgbClr val="1E2761"/>
            </a:solidFill>
            <a:prstDash val="solid"/>
          </a:ln>
        </p:spPr>
      </p:sp>
      <p:sp>
        <p:nvSpPr>
          <p:cNvPr id="11" name="Text 9"/>
          <p:cNvSpPr/>
          <p:nvPr/>
        </p:nvSpPr>
        <p:spPr>
          <a:xfrm>
            <a:off x="502920" y="280720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960120" y="2779776"/>
            <a:ext cx="5669280" cy="548640"/>
          </a:xfrm>
          <a:prstGeom prst="rect">
            <a:avLst/>
          </a:prstGeom>
          <a:noFill/>
          <a:ln/>
        </p:spPr>
        <p:txBody>
          <a:bodyPr wrap="square" lIns="0" tIns="0" rIns="0" bIns="0" rtlCol="0" anchor="t"/>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Units &amp; ordering — </a:t>
            </a:r>
            <a:pPr indent="0" marL="0">
              <a:lnSpc>
                <a:spcPct val="105000"/>
              </a:lnSpc>
              <a:buNone/>
            </a:pPr>
            <a:r>
              <a:rPr lang="en-US" sz="1250" dirty="0">
                <a:solidFill>
                  <a:srgbClr val="232833"/>
                </a:solidFill>
                <a:latin typeface="Calibri" pitchFamily="34" charset="0"/>
                <a:ea typeface="Calibri" pitchFamily="34" charset="-122"/>
                <a:cs typeface="Calibri" pitchFamily="34" charset="-120"/>
              </a:rPr>
              <a:t>MeV → GeV; hash order → compact indices of the processed cell corpus.</a:t>
            </a:r>
            <a:endParaRPr lang="en-US" sz="1250" dirty="0"/>
          </a:p>
        </p:txBody>
      </p:sp>
      <p:sp>
        <p:nvSpPr>
          <p:cNvPr id="13" name="Shape 11"/>
          <p:cNvSpPr/>
          <p:nvPr/>
        </p:nvSpPr>
        <p:spPr>
          <a:xfrm>
            <a:off x="502920" y="3465576"/>
            <a:ext cx="310896" cy="310896"/>
          </a:xfrm>
          <a:prstGeom prst="ellipse">
            <a:avLst/>
          </a:prstGeom>
          <a:solidFill>
            <a:srgbClr val="1E2761"/>
          </a:solidFill>
          <a:ln w="12700">
            <a:solidFill>
              <a:srgbClr val="1E2761"/>
            </a:solidFill>
            <a:prstDash val="solid"/>
          </a:ln>
        </p:spPr>
      </p:sp>
      <p:sp>
        <p:nvSpPr>
          <p:cNvPr id="14" name="Text 12"/>
          <p:cNvSpPr/>
          <p:nvPr/>
        </p:nvSpPr>
        <p:spPr>
          <a:xfrm>
            <a:off x="502920" y="346557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960120" y="3438144"/>
            <a:ext cx="5669280" cy="777240"/>
          </a:xfrm>
          <a:prstGeom prst="rect">
            <a:avLst/>
          </a:prstGeom>
          <a:noFill/>
          <a:ln/>
        </p:spPr>
        <p:txBody>
          <a:bodyPr wrap="square" lIns="0" tIns="0" rIns="0" bIns="0" rtlCol="0" anchor="t"/>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Graph transfer — </a:t>
            </a:r>
            <a:pPr indent="0" marL="0">
              <a:lnSpc>
                <a:spcPct val="105000"/>
              </a:lnSpc>
              <a:buNone/>
            </a:pPr>
            <a:r>
              <a:rPr lang="en-US" sz="1250" dirty="0">
                <a:solidFill>
                  <a:srgbClr val="232833"/>
                </a:solidFill>
                <a:latin typeface="Calibri" pitchFamily="34" charset="0"/>
                <a:ea typeface="Calibri" pitchFamily="34" charset="-122"/>
                <a:cs typeface="Calibri" pitchFamily="34" charset="-120"/>
              </a:rPr>
              <a:t>the Calo neighbor graph, restricted to each jet’s (or event’s) matched cells by subgraph extraction — 5D cells get a graph they never had.</a:t>
            </a:r>
            <a:endParaRPr lang="en-US" sz="1250" dirty="0"/>
          </a:p>
        </p:txBody>
      </p:sp>
      <p:sp>
        <p:nvSpPr>
          <p:cNvPr id="16" name="Shape 14"/>
          <p:cNvSpPr/>
          <p:nvPr/>
        </p:nvSpPr>
        <p:spPr>
          <a:xfrm>
            <a:off x="502920" y="4352544"/>
            <a:ext cx="310896" cy="310896"/>
          </a:xfrm>
          <a:prstGeom prst="ellipse">
            <a:avLst/>
          </a:prstGeom>
          <a:solidFill>
            <a:srgbClr val="1E2761"/>
          </a:solidFill>
          <a:ln w="12700">
            <a:solidFill>
              <a:srgbClr val="1E2761"/>
            </a:solidFill>
            <a:prstDash val="solid"/>
          </a:ln>
        </p:spPr>
      </p:sp>
      <p:sp>
        <p:nvSpPr>
          <p:cNvPr id="17" name="Text 15"/>
          <p:cNvSpPr/>
          <p:nvPr/>
        </p:nvSpPr>
        <p:spPr>
          <a:xfrm>
            <a:off x="502920" y="43525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8" name="Text 16"/>
          <p:cNvSpPr/>
          <p:nvPr/>
        </p:nvSpPr>
        <p:spPr>
          <a:xfrm>
            <a:off x="960120" y="4325112"/>
            <a:ext cx="5669280" cy="777240"/>
          </a:xfrm>
          <a:prstGeom prst="rect">
            <a:avLst/>
          </a:prstGeom>
          <a:noFill/>
          <a:ln/>
        </p:spPr>
        <p:txBody>
          <a:bodyPr wrap="square" lIns="0" tIns="0" rIns="0" bIns="0" rtlCol="0" anchor="t"/>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Noise guard — </a:t>
            </a:r>
            <a:pPr indent="0" marL="0">
              <a:lnSpc>
                <a:spcPct val="105000"/>
              </a:lnSpc>
              <a:buNone/>
            </a:pPr>
            <a:r>
              <a:rPr lang="en-US" sz="1250" dirty="0">
                <a:solidFill>
                  <a:srgbClr val="232833"/>
                </a:solidFill>
                <a:latin typeface="Calibri" pitchFamily="34" charset="0"/>
                <a:ea typeface="Calibri" pitchFamily="34" charset="-122"/>
                <a:cs typeface="Calibri" pitchFamily="34" charset="-120"/>
              </a:rPr>
              <a:t>single-cell |E| &gt; 100 GeV veto (forward pile-up noise, out-of-time undershoot) instead of event vetoes.</a:t>
            </a:r>
            <a:endParaRPr lang="en-US" sz="1250" dirty="0"/>
          </a:p>
        </p:txBody>
      </p:sp>
      <p:sp>
        <p:nvSpPr>
          <p:cNvPr id="19" name="Shape 17"/>
          <p:cNvSpPr/>
          <p:nvPr/>
        </p:nvSpPr>
        <p:spPr>
          <a:xfrm>
            <a:off x="6949440" y="1234440"/>
            <a:ext cx="4754880" cy="3657600"/>
          </a:xfrm>
          <a:prstGeom prst="roundRect">
            <a:avLst>
              <a:gd name="adj" fmla="val 1750"/>
            </a:avLst>
          </a:prstGeom>
          <a:solidFill>
            <a:srgbClr val="EEF3FB"/>
          </a:solidFill>
          <a:ln w="12700">
            <a:solidFill>
              <a:srgbClr val="DCE4F0"/>
            </a:solidFill>
            <a:prstDash val="solid"/>
          </a:ln>
        </p:spPr>
      </p:sp>
      <p:sp>
        <p:nvSpPr>
          <p:cNvPr id="20" name="Text 18"/>
          <p:cNvSpPr/>
          <p:nvPr/>
        </p:nvSpPr>
        <p:spPr>
          <a:xfrm>
            <a:off x="7223760" y="1417320"/>
            <a:ext cx="4206240" cy="5486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What the 5D thinning actually is — measured, not assumed</a:t>
            </a:r>
            <a:endParaRPr lang="en-US" sz="1450" dirty="0"/>
          </a:p>
        </p:txBody>
      </p:sp>
      <p:sp>
        <p:nvSpPr>
          <p:cNvPr id="21" name="Text 19"/>
          <p:cNvSpPr/>
          <p:nvPr/>
        </p:nvSpPr>
        <p:spPr>
          <a:xfrm>
            <a:off x="7223760" y="2057400"/>
            <a:ext cx="4206240" cy="2743200"/>
          </a:xfrm>
          <a:prstGeom prst="rect">
            <a:avLst/>
          </a:prstGeom>
          <a:noFill/>
          <a:ln/>
        </p:spPr>
        <p:txBody>
          <a:bodyPr wrap="square" lIns="0" tIns="0" rIns="0" bIns="0" rtlCol="0" anchor="t"/>
          <a:lstStyle/>
          <a:p>
            <a:pPr marL="127000" indent="-127000">
              <a:lnSpc>
                <a:spcPct val="106000"/>
              </a:lnSpc>
              <a:spcAft>
                <a:spcPts val="700"/>
              </a:spcAft>
              <a:buSzPct val="100000"/>
              <a:buChar char="•"/>
            </a:pPr>
            <a:r>
              <a:rPr lang="en-US" sz="1250" dirty="0">
                <a:solidFill>
                  <a:srgbClr val="232833"/>
                </a:solidFill>
                <a:latin typeface="Calibri" pitchFamily="34" charset="0"/>
                <a:ea typeface="Calibri" pitchFamily="34" charset="-122"/>
                <a:cs typeface="Calibri" pitchFamily="34" charset="-120"/>
              </a:rPr>
              <a:t>Cells kept: E &gt; 0.5 GeV AND E &gt; 2σ(noise), positive cells only</a:t>
            </a:r>
            <a:endParaRPr lang="en-US" sz="1250" dirty="0"/>
          </a:p>
          <a:p>
            <a:pPr marL="127000" indent="-127000">
              <a:lnSpc>
                <a:spcPct val="106000"/>
              </a:lnSpc>
              <a:spcAft>
                <a:spcPts val="700"/>
              </a:spcAft>
              <a:buSzPct val="100000"/>
              <a:buChar char="•"/>
            </a:pPr>
            <a:r>
              <a:rPr lang="en-US" sz="1250" dirty="0">
                <a:solidFill>
                  <a:srgbClr val="232833"/>
                </a:solidFill>
                <a:latin typeface="Calibri" pitchFamily="34" charset="0"/>
                <a:ea typeface="Calibri" pitchFamily="34" charset="-122"/>
                <a:cs typeface="Calibri" pitchFamily="34" charset="-120"/>
              </a:rPr>
              <a:t>Retains 75.0% of jet cell energy — layer-dependent: EMB1/EMB3 ≈ 33%, Tile ≈ 81–86%</a:t>
            </a:r>
            <a:endParaRPr lang="en-US" sz="1250" dirty="0"/>
          </a:p>
          <a:p>
            <a:pPr marL="127000" indent="-127000">
              <a:lnSpc>
                <a:spcPct val="106000"/>
              </a:lnSpc>
              <a:spcAft>
                <a:spcPts val="700"/>
              </a:spcAft>
              <a:buSzPct val="100000"/>
              <a:buChar char="•"/>
            </a:pPr>
            <a:r>
              <a:rPr lang="en-US" sz="1250" dirty="0">
                <a:solidFill>
                  <a:srgbClr val="232833"/>
                </a:solidFill>
                <a:latin typeface="Calibri" pitchFamily="34" charset="0"/>
                <a:ea typeface="Calibri" pitchFamily="34" charset="-122"/>
                <a:cs typeface="Calibri" pitchFamily="34" charset="-120"/>
              </a:rPr>
              <a:t>The model therefore sees a biased cell subset — documented and accepted for feasibility; only a new production fixes it</a:t>
            </a:r>
            <a:endParaRPr lang="en-US" sz="1250" dirty="0"/>
          </a:p>
        </p:txBody>
      </p:sp>
      <p:sp>
        <p:nvSpPr>
          <p:cNvPr id="22" name="Shape 20"/>
          <p:cNvSpPr/>
          <p:nvPr/>
        </p:nvSpPr>
        <p:spPr>
          <a:xfrm>
            <a:off x="6949440" y="5120640"/>
            <a:ext cx="4754880" cy="1051560"/>
          </a:xfrm>
          <a:prstGeom prst="roundRect">
            <a:avLst>
              <a:gd name="adj" fmla="val 6087"/>
            </a:avLst>
          </a:prstGeom>
          <a:solidFill>
            <a:srgbClr val="FDF0DC"/>
          </a:solidFill>
          <a:ln w="12700">
            <a:solidFill>
              <a:srgbClr val="EED9B0"/>
            </a:solidFill>
            <a:prstDash val="solid"/>
          </a:ln>
        </p:spPr>
      </p:sp>
      <p:sp>
        <p:nvSpPr>
          <p:cNvPr id="23" name="Text 21"/>
          <p:cNvSpPr/>
          <p:nvPr/>
        </p:nvSpPr>
        <p:spPr>
          <a:xfrm>
            <a:off x="7223760" y="5285232"/>
            <a:ext cx="4206240" cy="731520"/>
          </a:xfrm>
          <a:prstGeom prst="rect">
            <a:avLst/>
          </a:prstGeom>
          <a:noFill/>
          <a:ln/>
        </p:spPr>
        <p:txBody>
          <a:bodyPr wrap="square" lIns="0" tIns="0" rIns="0" bIns="0" rtlCol="0" anchor="ctr"/>
          <a:lstStyle/>
          <a:p>
            <a:pPr indent="0" marL="0">
              <a:lnSpc>
                <a:spcPct val="110000"/>
              </a:lnSpc>
              <a:buNone/>
            </a:pPr>
            <a:r>
              <a:rPr lang="en-US" sz="1300" b="1" dirty="0">
                <a:solidFill>
                  <a:srgbClr val="9A5B13"/>
                </a:solidFill>
                <a:latin typeface="Calibri" pitchFamily="34" charset="0"/>
                <a:ea typeface="Calibri" pitchFamily="34" charset="-122"/>
                <a:cs typeface="Calibri" pitchFamily="34" charset="-120"/>
              </a:rPr>
              <a:t>Lesson: </a:t>
            </a:r>
            <a:pPr indent="0" marL="0">
              <a:lnSpc>
                <a:spcPct val="110000"/>
              </a:lnSpc>
              <a:buNone/>
            </a:pPr>
            <a:r>
              <a:rPr lang="en-US" sz="1300" dirty="0">
                <a:solidFill>
                  <a:srgbClr val="232833"/>
                </a:solidFill>
                <a:latin typeface="Calibri" pitchFamily="34" charset="0"/>
                <a:ea typeface="Calibri" pitchFamily="34" charset="-122"/>
                <a:cs typeface="Calibri" pitchFamily="34" charset="-120"/>
              </a:rPr>
              <a:t>geometry is a universal key between detector data formats.</a:t>
            </a:r>
            <a:endParaRPr lang="en-US" sz="1300" dirty="0"/>
          </a:p>
        </p:txBody>
      </p:sp>
      <p:sp>
        <p:nvSpPr>
          <p:cNvPr id="24" name="Text 22"/>
          <p:cNvSpPr/>
          <p:nvPr/>
        </p:nvSpPr>
        <p:spPr>
          <a:xfrm>
            <a:off x="502920" y="6510528"/>
            <a:ext cx="4114800" cy="27432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DFM feasibility — UT Arlington · Aug 2026</a:t>
            </a:r>
            <a:endParaRPr lang="en-US" sz="900" dirty="0"/>
          </a:p>
        </p:txBody>
      </p:sp>
      <p:sp>
        <p:nvSpPr>
          <p:cNvPr id="25" name="Text 23"/>
          <p:cNvSpPr/>
          <p:nvPr/>
        </p:nvSpPr>
        <p:spPr>
          <a:xfrm>
            <a:off x="11430000" y="6510528"/>
            <a:ext cx="365760" cy="274320"/>
          </a:xfrm>
          <a:prstGeom prst="rect">
            <a:avLst/>
          </a:prstGeom>
          <a:noFill/>
          <a:ln/>
        </p:spPr>
        <p:txBody>
          <a:bodyPr wrap="square" lIns="0" tIns="0" rIns="0" bIns="0"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56032"/>
            <a:ext cx="11155680" cy="274320"/>
          </a:xfrm>
          <a:prstGeom prst="rect">
            <a:avLst/>
          </a:prstGeom>
          <a:noFill/>
          <a:ln/>
        </p:spPr>
        <p:txBody>
          <a:bodyPr wrap="square" lIns="0" tIns="0" rIns="0" bIns="0" rtlCol="0" anchor="ctr"/>
          <a:lstStyle/>
          <a:p>
            <a:pPr indent="0" marL="0">
              <a:buNone/>
            </a:pPr>
            <a:r>
              <a:rPr lang="en-US" sz="1050" b="1" spc="200" kern="0" dirty="0">
                <a:solidFill>
                  <a:srgbClr val="667085"/>
                </a:solidFill>
                <a:latin typeface="Calibri" pitchFamily="34" charset="0"/>
                <a:ea typeface="Calibri" pitchFamily="34" charset="-122"/>
                <a:cs typeface="Calibri" pitchFamily="34" charset="-120"/>
              </a:rPr>
              <a:t>TASK &amp; DATASET</a:t>
            </a:r>
            <a:endParaRPr lang="en-US" sz="1050" dirty="0"/>
          </a:p>
        </p:txBody>
      </p:sp>
      <p:sp>
        <p:nvSpPr>
          <p:cNvPr id="3" name="Text 1"/>
          <p:cNvSpPr/>
          <p:nvPr/>
        </p:nvSpPr>
        <p:spPr>
          <a:xfrm>
            <a:off x="502920" y="475488"/>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The task: probabilistic jet-pT calibration</a:t>
            </a:r>
            <a:endParaRPr lang="en-US" sz="2700" dirty="0"/>
          </a:p>
        </p:txBody>
      </p:sp>
      <p:sp>
        <p:nvSpPr>
          <p:cNvPr id="4" name="Shape 2"/>
          <p:cNvSpPr/>
          <p:nvPr/>
        </p:nvSpPr>
        <p:spPr>
          <a:xfrm>
            <a:off x="502920" y="1188720"/>
            <a:ext cx="5943600" cy="1325880"/>
          </a:xfrm>
          <a:prstGeom prst="roundRect">
            <a:avLst>
              <a:gd name="adj" fmla="val 4828"/>
            </a:avLst>
          </a:prstGeom>
          <a:solidFill>
            <a:srgbClr val="EEF3FB"/>
          </a:solidFill>
          <a:ln w="12700">
            <a:solidFill>
              <a:srgbClr val="DCE4F0"/>
            </a:solidFill>
            <a:prstDash val="solid"/>
          </a:ln>
        </p:spPr>
      </p:sp>
      <p:sp>
        <p:nvSpPr>
          <p:cNvPr id="5" name="Text 3"/>
          <p:cNvSpPr/>
          <p:nvPr/>
        </p:nvSpPr>
        <p:spPr>
          <a:xfrm>
            <a:off x="777240" y="1371600"/>
            <a:ext cx="5486400" cy="1005840"/>
          </a:xfrm>
          <a:prstGeom prst="rect">
            <a:avLst/>
          </a:prstGeom>
          <a:noFill/>
          <a:ln/>
        </p:spPr>
        <p:txBody>
          <a:bodyPr wrap="square" lIns="0" tIns="0" rIns="0" bIns="0" rtlCol="0" anchor="ctr"/>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Target   y = ln(pT_true / pT_reco)    →    corrected pT = pT_reco · e^μ
</a:t>
            </a:r>
            <a:pPr indent="0" marL="0">
              <a:lnSpc>
                <a:spcPct val="115000"/>
              </a:lnSpc>
              <a:buNone/>
            </a:pPr>
            <a:r>
              <a:rPr lang="en-US" sz="1250" dirty="0">
                <a:solidFill>
                  <a:srgbClr val="232833"/>
                </a:solidFill>
                <a:latin typeface="Calibri" pitchFamily="34" charset="0"/>
                <a:ea typeface="Calibri" pitchFamily="34" charset="-122"/>
                <a:cs typeface="Calibri" pitchFamily="34" charset="-120"/>
              </a:rPr>
              <a:t>The model predicts (μ, σ): a correction and a per-jet uncertainty.</a:t>
            </a:r>
            <a:endParaRPr lang="en-US" sz="1500" dirty="0"/>
          </a:p>
        </p:txBody>
      </p:sp>
      <p:sp>
        <p:nvSpPr>
          <p:cNvPr id="6" name="Text 4"/>
          <p:cNvSpPr/>
          <p:nvPr/>
        </p:nvSpPr>
        <p:spPr>
          <a:xfrm>
            <a:off x="502920" y="2743200"/>
            <a:ext cx="274320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Jet selection</a:t>
            </a:r>
            <a:endParaRPr lang="en-US" sz="1500" dirty="0"/>
          </a:p>
        </p:txBody>
      </p:sp>
      <p:sp>
        <p:nvSpPr>
          <p:cNvPr id="7" name="Text 5"/>
          <p:cNvSpPr/>
          <p:nvPr/>
        </p:nvSpPr>
        <p:spPr>
          <a:xfrm>
            <a:off x="502920" y="3108960"/>
            <a:ext cx="5943600" cy="3017520"/>
          </a:xfrm>
          <a:prstGeom prst="rect">
            <a:avLst/>
          </a:prstGeom>
          <a:noFill/>
          <a:ln/>
        </p:spPr>
        <p:txBody>
          <a:bodyPr wrap="square" lIns="0" tIns="0" rIns="0" bIns="0" rtlCol="0" anchor="t"/>
          <a:lstStyle/>
          <a:p>
            <a:pPr marL="127000" indent="-127000">
              <a:lnSpc>
                <a:spcPct val="106000"/>
              </a:lnSpc>
              <a:spcAft>
                <a:spcPts val="700"/>
              </a:spcAft>
              <a:buSzPct val="100000"/>
              <a:buChar char="•"/>
            </a:pPr>
            <a:r>
              <a:rPr lang="en-US" sz="1250" dirty="0">
                <a:solidFill>
                  <a:srgbClr val="232833"/>
                </a:solidFill>
                <a:latin typeface="Calibri" pitchFamily="34" charset="0"/>
                <a:ea typeface="Calibri" pitchFamily="34" charset="-122"/>
                <a:cs typeface="Calibri" pitchFamily="34" charset="-120"/>
              </a:rPr>
              <a:t>Truth-matched AntiKt4EMTopo jets; pT_true &gt; 20 GeV; |η| &lt; 2.5</a:t>
            </a:r>
            <a:endParaRPr lang="en-US" sz="1250" dirty="0"/>
          </a:p>
          <a:p>
            <a:pPr marL="127000" indent="-127000">
              <a:lnSpc>
                <a:spcPct val="106000"/>
              </a:lnSpc>
              <a:spcAft>
                <a:spcPts val="700"/>
              </a:spcAft>
              <a:buSzPct val="100000"/>
              <a:buChar char="•"/>
            </a:pPr>
            <a:r>
              <a:rPr lang="en-US" sz="1250" dirty="0">
                <a:solidFill>
                  <a:srgbClr val="232833"/>
                </a:solidFill>
                <a:latin typeface="Calibri" pitchFamily="34" charset="0"/>
                <a:ea typeface="Calibri" pitchFamily="34" charset="-122"/>
                <a:cs typeface="Calibri" pitchFamily="34" charset="-120"/>
              </a:rPr>
              <a:t>ΔR(reco, truth) &lt; 0.3 recomputed from kinematics + duplicate-match guard</a:t>
            </a:r>
            <a:endParaRPr lang="en-US" sz="1250" dirty="0"/>
          </a:p>
          <a:p>
            <a:pPr marL="127000" indent="-127000">
              <a:lnSpc>
                <a:spcPct val="106000"/>
              </a:lnSpc>
              <a:spcAft>
                <a:spcPts val="700"/>
              </a:spcAft>
              <a:buSzPct val="100000"/>
              <a:buChar char="•"/>
            </a:pPr>
            <a:r>
              <a:rPr lang="en-US" sz="1250" dirty="0">
                <a:solidFill>
                  <a:srgbClr val="232833"/>
                </a:solidFill>
                <a:latin typeface="Calibri" pitchFamily="34" charset="0"/>
                <a:ea typeface="Calibri" pitchFamily="34" charset="-122"/>
                <a:cs typeface="Calibri" pitchFamily="34" charset="-120"/>
              </a:rPr>
              <a:t>Isolation flag stored — train on isolated jets, evaluate both populations (the non-isolated gap probes inter-cluster energy sharing)</a:t>
            </a:r>
            <a:endParaRPr lang="en-US" sz="1250" dirty="0"/>
          </a:p>
          <a:p>
            <a:pPr marL="127000" indent="-127000">
              <a:lnSpc>
                <a:spcPct val="106000"/>
              </a:lnSpc>
              <a:spcAft>
                <a:spcPts val="700"/>
              </a:spcAft>
              <a:buSzPct val="100000"/>
              <a:buChar char="•"/>
            </a:pPr>
            <a:r>
              <a:rPr lang="en-US" sz="1250" dirty="0">
                <a:solidFill>
                  <a:srgbClr val="232833"/>
                </a:solidFill>
                <a:latin typeface="Calibri" pitchFamily="34" charset="0"/>
                <a:ea typeface="Calibri" pitchFamily="34" charset="-122"/>
                <a:cs typeface="Calibri" pitchFamily="34" charset="-120"/>
              </a:rPr>
              <a:t>Per jet: cone tracks · jet features · ΔR &lt; 0.4 cells + transferred graph</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720840" y="1188720"/>
          <a:ext cx="4983480" cy="914400"/>
        </p:xfrm>
        <a:graphic>
          <a:graphicData uri="http://schemas.openxmlformats.org/drawingml/2006/table">
            <a:tbl>
              <a:tblPr/>
              <a:tblGrid>
                <a:gridCol w="1691640"/>
                <a:gridCol w="329184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Item</a:t>
                      </a:r>
                      <a:endParaRPr lang="en-US" sz="1100" dirty="0">
                        <a:latin typeface="Calibri" charset="0"/>
                        <a:ea typeface="Calibri" charset="0"/>
                        <a:cs typeface="Calibri" charset="0"/>
                      </a:endParaRPr>
                    </a:p>
                  </a:txBody>
                  <a:tcPr marL="54864" marR="54864" marT="54864" marB="54864"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54864" marR="54864" marT="54864" marB="54864"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solidFill>
                      <a:srgbClr val="1E2761"/>
                    </a:solidFill>
                  </a:tcPr>
                </a:tc>
              </a:tr>
              <a:tr h="384048">
                <a:tc>
                  <a:txBody>
                    <a:bodyPr/>
                    <a:lstStyle/>
                    <a:p>
                      <a:pPr indent="0" marL="0">
                        <a:buNone/>
                      </a:pPr>
                      <a:r>
                        <a:rPr lang="en-US" sz="1100" dirty="0">
                          <a:solidFill>
                            <a:srgbClr val="232833"/>
                          </a:solidFill>
                          <a:latin typeface="Calibri" pitchFamily="34" charset="0"/>
                          <a:ea typeface="Calibri" pitchFamily="34" charset="-122"/>
                          <a:cs typeface="Calibri" pitchFamily="34" charset="-120"/>
                        </a:rPr>
                        <a:t>Light-jet campaign</a:t>
                      </a:r>
                      <a:endParaRPr lang="en-US" sz="1100" dirty="0">
                        <a:latin typeface="Calibri" charset="0"/>
                        <a:ea typeface="Calibri" charset="0"/>
                        <a:cs typeface="Calibri" charset="0"/>
                      </a:endParaRPr>
                    </a:p>
                  </a:txBody>
                  <a:tcPr marL="54864" marR="54864" marT="54864" marB="54864"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100" dirty="0">
                          <a:solidFill>
                            <a:srgbClr val="232833"/>
                          </a:solidFill>
                          <a:latin typeface="Calibri" pitchFamily="34" charset="0"/>
                          <a:ea typeface="Calibri" pitchFamily="34" charset="-122"/>
                          <a:cs typeface="Calibri" pitchFamily="34" charset="-120"/>
                        </a:rPr>
                        <a:t>620k jets — 181k isolated training jets</a:t>
                      </a:r>
                      <a:endParaRPr lang="en-US" sz="1100" dirty="0">
                        <a:latin typeface="Calibri" charset="0"/>
                        <a:ea typeface="Calibri" charset="0"/>
                        <a:cs typeface="Calibri" charset="0"/>
                      </a:endParaRPr>
                    </a:p>
                  </a:txBody>
                  <a:tcPr marL="54864" marR="54864" marT="54864" marB="54864"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384048">
                <a:tc>
                  <a:txBody>
                    <a:bodyPr/>
                    <a:lstStyle/>
                    <a:p>
                      <a:pPr indent="0" marL="0">
                        <a:buNone/>
                      </a:pPr>
                      <a:r>
                        <a:rPr lang="en-US" sz="1100" dirty="0">
                          <a:solidFill>
                            <a:srgbClr val="232833"/>
                          </a:solidFill>
                          <a:latin typeface="Calibri" pitchFamily="34" charset="0"/>
                          <a:ea typeface="Calibri" pitchFamily="34" charset="-122"/>
                          <a:cs typeface="Calibri" pitchFamily="34" charset="-120"/>
                        </a:rPr>
                        <a:t>Splits (by file)</a:t>
                      </a:r>
                      <a:endParaRPr lang="en-US" sz="1100" dirty="0">
                        <a:latin typeface="Calibri" charset="0"/>
                        <a:ea typeface="Calibri" charset="0"/>
                        <a:cs typeface="Calibri" charset="0"/>
                      </a:endParaRPr>
                    </a:p>
                  </a:txBody>
                  <a:tcPr marL="54864" marR="54864" marT="54864" marB="54864"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100" dirty="0">
                          <a:solidFill>
                            <a:srgbClr val="232833"/>
                          </a:solidFill>
                          <a:latin typeface="Calibri" pitchFamily="34" charset="0"/>
                          <a:ea typeface="Calibri" pitchFamily="34" charset="-122"/>
                          <a:cs typeface="Calibri" pitchFamily="34" charset="-120"/>
                        </a:rPr>
                        <a:t>13 train / 2 validation / 2 test — test files never touched</a:t>
                      </a:r>
                      <a:endParaRPr lang="en-US" sz="1100" dirty="0">
                        <a:latin typeface="Calibri" charset="0"/>
                        <a:ea typeface="Calibri" charset="0"/>
                        <a:cs typeface="Calibri" charset="0"/>
                      </a:endParaRPr>
                    </a:p>
                  </a:txBody>
                  <a:tcPr marL="54864" marR="54864" marT="54864" marB="54864"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384048">
                <a:tc>
                  <a:txBody>
                    <a:bodyPr/>
                    <a:lstStyle/>
                    <a:p>
                      <a:pPr indent="0" marL="0">
                        <a:buNone/>
                      </a:pPr>
                      <a:r>
                        <a:rPr lang="en-US" sz="1100" dirty="0">
                          <a:solidFill>
                            <a:srgbClr val="232833"/>
                          </a:solidFill>
                          <a:latin typeface="Calibri" pitchFamily="34" charset="0"/>
                          <a:ea typeface="Calibri" pitchFamily="34" charset="-122"/>
                          <a:cs typeface="Calibri" pitchFamily="34" charset="-120"/>
                        </a:rPr>
                        <a:t>All-flavor extension</a:t>
                      </a:r>
                      <a:endParaRPr lang="en-US" sz="1100" dirty="0">
                        <a:latin typeface="Calibri" charset="0"/>
                        <a:ea typeface="Calibri" charset="0"/>
                        <a:cs typeface="Calibri" charset="0"/>
                      </a:endParaRPr>
                    </a:p>
                  </a:txBody>
                  <a:tcPr marL="54864" marR="54864" marT="54864" marB="54864"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100" dirty="0">
                          <a:solidFill>
                            <a:srgbClr val="232833"/>
                          </a:solidFill>
                          <a:latin typeface="Calibri" pitchFamily="34" charset="0"/>
                          <a:ea typeface="Calibri" pitchFamily="34" charset="-122"/>
                          <a:cs typeface="Calibri" pitchFamily="34" charset="-120"/>
                        </a:rPr>
                        <a:t>1.20M matched jets (light : c : b mix of t̄t)</a:t>
                      </a:r>
                      <a:endParaRPr lang="en-US" sz="1100" dirty="0">
                        <a:latin typeface="Calibri" charset="0"/>
                        <a:ea typeface="Calibri" charset="0"/>
                        <a:cs typeface="Calibri" charset="0"/>
                      </a:endParaRPr>
                    </a:p>
                  </a:txBody>
                  <a:tcPr marL="54864" marR="54864" marT="54864" marB="54864"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384048">
                <a:tc>
                  <a:txBody>
                    <a:bodyPr/>
                    <a:lstStyle/>
                    <a:p>
                      <a:pPr indent="0" marL="0">
                        <a:buNone/>
                      </a:pPr>
                      <a:r>
                        <a:rPr lang="en-US" sz="1100" dirty="0">
                          <a:solidFill>
                            <a:srgbClr val="232833"/>
                          </a:solidFill>
                          <a:latin typeface="Calibri" pitchFamily="34" charset="0"/>
                          <a:ea typeface="Calibri" pitchFamily="34" charset="-122"/>
                          <a:cs typeface="Calibri" pitchFamily="34" charset="-120"/>
                        </a:rPr>
                        <a:t>Training weights</a:t>
                      </a:r>
                      <a:endParaRPr lang="en-US" sz="1100" dirty="0">
                        <a:latin typeface="Calibri" charset="0"/>
                        <a:ea typeface="Calibri" charset="0"/>
                        <a:cs typeface="Calibri" charset="0"/>
                      </a:endParaRPr>
                    </a:p>
                  </a:txBody>
                  <a:tcPr marL="54864" marR="54864" marT="54864" marB="54864"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100" dirty="0">
                          <a:solidFill>
                            <a:srgbClr val="232833"/>
                          </a:solidFill>
                          <a:latin typeface="Calibri" pitchFamily="34" charset="0"/>
                          <a:ea typeface="Calibri" pitchFamily="34" charset="-122"/>
                          <a:cs typeface="Calibri" pitchFamily="34" charset="-120"/>
                        </a:rPr>
                        <a:t>flat in log pT, 20–250 GeV, capped at 99th pct</a:t>
                      </a:r>
                      <a:endParaRPr lang="en-US" sz="1100" dirty="0">
                        <a:latin typeface="Calibri" charset="0"/>
                        <a:ea typeface="Calibri" charset="0"/>
                        <a:cs typeface="Calibri" charset="0"/>
                      </a:endParaRPr>
                    </a:p>
                  </a:txBody>
                  <a:tcPr marL="54864" marR="54864" marT="54864" marB="54864"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bl>
          </a:graphicData>
        </a:graphic>
      </p:graphicFrame>
      <p:pic>
        <p:nvPicPr>
          <p:cNvPr id="9" name="Image 0" descr="/Users/afarbin/CaloGNN/CaloGraphNet/notes/DFM-NOTE-2026-02-flavor-calibration/figures/FP1_uncorr_flavor.png">    </p:cNvPr>
          <p:cNvPicPr>
            <a:picLocks noChangeAspect="1"/>
          </p:cNvPicPr>
          <p:nvPr/>
        </p:nvPicPr>
        <p:blipFill>
          <a:blip r:embed="rId1"/>
          <a:stretch>
            <a:fillRect/>
          </a:stretch>
        </p:blipFill>
        <p:spPr>
          <a:xfrm>
            <a:off x="7178040" y="3429000"/>
            <a:ext cx="3977640" cy="2255138"/>
          </a:xfrm>
          <a:prstGeom prst="rect">
            <a:avLst/>
          </a:prstGeom>
        </p:spPr>
      </p:pic>
      <p:sp>
        <p:nvSpPr>
          <p:cNvPr id="10" name="Text 6"/>
          <p:cNvSpPr/>
          <p:nvPr/>
        </p:nvSpPr>
        <p:spPr>
          <a:xfrm>
            <a:off x="7178040" y="6382512"/>
            <a:ext cx="4206240" cy="292608"/>
          </a:xfrm>
          <a:prstGeom prst="rect">
            <a:avLst/>
          </a:prstGeom>
          <a:noFill/>
          <a:ln/>
        </p:spPr>
        <p:txBody>
          <a:bodyPr wrap="square" lIns="0" tIns="0" rIns="0" bIns="0" rtlCol="0" anchor="ctr"/>
          <a:lstStyle/>
          <a:p>
            <a:pPr indent="0" marL="0">
              <a:buNone/>
            </a:pPr>
            <a:r>
              <a:rPr lang="en-US" sz="1000" i="1" dirty="0">
                <a:solidFill>
                  <a:srgbClr val="667085"/>
                </a:solidFill>
                <a:latin typeface="Calibri" pitchFamily="34" charset="0"/>
                <a:ea typeface="Calibri" pitchFamily="34" charset="-122"/>
                <a:cs typeface="Calibri" pitchFamily="34" charset="-120"/>
              </a:rPr>
              <a:t>Uncorrected response by flavor — the problem being fixed.</a:t>
            </a:r>
            <a:endParaRPr lang="en-US" sz="1000" dirty="0"/>
          </a:p>
        </p:txBody>
      </p:sp>
      <p:sp>
        <p:nvSpPr>
          <p:cNvPr id="11" name="Text 7"/>
          <p:cNvSpPr/>
          <p:nvPr/>
        </p:nvSpPr>
        <p:spPr>
          <a:xfrm>
            <a:off x="502920" y="6510528"/>
            <a:ext cx="4114800" cy="27432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DFM feasibility — UT Arlington · Aug 2026</a:t>
            </a:r>
            <a:endParaRPr lang="en-US" sz="900" dirty="0"/>
          </a:p>
        </p:txBody>
      </p:sp>
      <p:sp>
        <p:nvSpPr>
          <p:cNvPr id="12" name="Text 8"/>
          <p:cNvSpPr/>
          <p:nvPr/>
        </p:nvSpPr>
        <p:spPr>
          <a:xfrm>
            <a:off x="11430000" y="6510528"/>
            <a:ext cx="365760" cy="274320"/>
          </a:xfrm>
          <a:prstGeom prst="rect">
            <a:avLst/>
          </a:prstGeom>
          <a:noFill/>
          <a:ln/>
        </p:spPr>
        <p:txBody>
          <a:bodyPr wrap="square" lIns="0" tIns="0" rIns="0" bIns="0"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56032"/>
            <a:ext cx="11155680" cy="274320"/>
          </a:xfrm>
          <a:prstGeom prst="rect">
            <a:avLst/>
          </a:prstGeom>
          <a:noFill/>
          <a:ln/>
        </p:spPr>
        <p:txBody>
          <a:bodyPr wrap="square" lIns="0" tIns="0" rIns="0" bIns="0" rtlCol="0" anchor="ctr"/>
          <a:lstStyle/>
          <a:p>
            <a:pPr indent="0" marL="0">
              <a:buNone/>
            </a:pPr>
            <a:r>
              <a:rPr lang="en-US" sz="1050" b="1" spc="200" kern="0" dirty="0">
                <a:solidFill>
                  <a:srgbClr val="667085"/>
                </a:solidFill>
                <a:latin typeface="Calibri" pitchFamily="34" charset="0"/>
                <a:ea typeface="Calibri" pitchFamily="34" charset="-122"/>
                <a:cs typeface="Calibri" pitchFamily="34" charset="-120"/>
              </a:rPr>
              <a:t>ARCHITECTURE &amp; NOMENCLATURE</a:t>
            </a:r>
            <a:endParaRPr lang="en-US" sz="1050" dirty="0"/>
          </a:p>
        </p:txBody>
      </p:sp>
      <p:sp>
        <p:nvSpPr>
          <p:cNvPr id="3" name="Text 1"/>
          <p:cNvSpPr/>
          <p:nvPr/>
        </p:nvSpPr>
        <p:spPr>
          <a:xfrm>
            <a:off x="502920" y="475488"/>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One shared encoder — the options and how we label them</a:t>
            </a:r>
            <a:endParaRPr lang="en-US" sz="2700" dirty="0"/>
          </a:p>
        </p:txBody>
      </p:sp>
      <p:sp>
        <p:nvSpPr>
          <p:cNvPr id="4" name="Shape 2"/>
          <p:cNvSpPr/>
          <p:nvPr/>
        </p:nvSpPr>
        <p:spPr>
          <a:xfrm>
            <a:off x="640080" y="1234440"/>
            <a:ext cx="1691640" cy="457200"/>
          </a:xfrm>
          <a:prstGeom prst="roundRect">
            <a:avLst>
              <a:gd name="adj" fmla="val 14000"/>
            </a:avLst>
          </a:prstGeom>
          <a:solidFill>
            <a:srgbClr val="EEF3FB"/>
          </a:solidFill>
          <a:ln w="12700">
            <a:solidFill>
              <a:srgbClr val="DCE4F0"/>
            </a:solidFill>
            <a:prstDash val="solid"/>
          </a:ln>
        </p:spPr>
      </p:sp>
      <p:sp>
        <p:nvSpPr>
          <p:cNvPr id="5" name="Text 3"/>
          <p:cNvSpPr/>
          <p:nvPr/>
        </p:nvSpPr>
        <p:spPr>
          <a:xfrm>
            <a:off x="640080" y="1234440"/>
            <a:ext cx="1691640" cy="45720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Tracks (18f)</a:t>
            </a:r>
            <a:endParaRPr lang="en-US" sz="1200" dirty="0"/>
          </a:p>
        </p:txBody>
      </p:sp>
      <p:sp>
        <p:nvSpPr>
          <p:cNvPr id="6" name="Shape 4"/>
          <p:cNvSpPr/>
          <p:nvPr/>
        </p:nvSpPr>
        <p:spPr>
          <a:xfrm>
            <a:off x="2514600" y="1234440"/>
            <a:ext cx="1691640" cy="457200"/>
          </a:xfrm>
          <a:prstGeom prst="roundRect">
            <a:avLst>
              <a:gd name="adj" fmla="val 14000"/>
            </a:avLst>
          </a:prstGeom>
          <a:solidFill>
            <a:srgbClr val="EEF3FB"/>
          </a:solidFill>
          <a:ln w="12700">
            <a:solidFill>
              <a:srgbClr val="DCE4F0"/>
            </a:solidFill>
            <a:prstDash val="solid"/>
          </a:ln>
        </p:spPr>
      </p:sp>
      <p:sp>
        <p:nvSpPr>
          <p:cNvPr id="7" name="Text 5"/>
          <p:cNvSpPr/>
          <p:nvPr/>
        </p:nvSpPr>
        <p:spPr>
          <a:xfrm>
            <a:off x="2514600" y="1234440"/>
            <a:ext cx="1691640" cy="45720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Cells (7f)</a:t>
            </a:r>
            <a:endParaRPr lang="en-US" sz="1200" dirty="0"/>
          </a:p>
        </p:txBody>
      </p:sp>
      <p:sp>
        <p:nvSpPr>
          <p:cNvPr id="8" name="Shape 6"/>
          <p:cNvSpPr/>
          <p:nvPr/>
        </p:nvSpPr>
        <p:spPr>
          <a:xfrm>
            <a:off x="4389120" y="1234440"/>
            <a:ext cx="1691640" cy="457200"/>
          </a:xfrm>
          <a:prstGeom prst="roundRect">
            <a:avLst>
              <a:gd name="adj" fmla="val 14000"/>
            </a:avLst>
          </a:prstGeom>
          <a:solidFill>
            <a:srgbClr val="EEF3FB"/>
          </a:solidFill>
          <a:ln w="12700">
            <a:solidFill>
              <a:srgbClr val="DCE4F0"/>
            </a:solidFill>
            <a:prstDash val="solid"/>
          </a:ln>
        </p:spPr>
      </p:sp>
      <p:sp>
        <p:nvSpPr>
          <p:cNvPr id="9" name="Text 7"/>
          <p:cNvSpPr/>
          <p:nvPr/>
        </p:nvSpPr>
        <p:spPr>
          <a:xfrm>
            <a:off x="4389120" y="1234440"/>
            <a:ext cx="1691640" cy="45720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Jet feats</a:t>
            </a:r>
            <a:endParaRPr lang="en-US" sz="1200" dirty="0"/>
          </a:p>
        </p:txBody>
      </p:sp>
      <p:sp>
        <p:nvSpPr>
          <p:cNvPr id="10" name="Shape 8"/>
          <p:cNvSpPr/>
          <p:nvPr/>
        </p:nvSpPr>
        <p:spPr>
          <a:xfrm>
            <a:off x="640080" y="2011680"/>
            <a:ext cx="5440680" cy="457200"/>
          </a:xfrm>
          <a:prstGeom prst="roundRect">
            <a:avLst>
              <a:gd name="adj" fmla="val 14000"/>
            </a:avLst>
          </a:prstGeom>
          <a:solidFill>
            <a:srgbClr val="FFFFFF"/>
          </a:solidFill>
          <a:ln w="12700">
            <a:solidFill>
              <a:srgbClr val="DCE4F0"/>
            </a:solidFill>
            <a:prstDash val="solid"/>
          </a:ln>
        </p:spPr>
      </p:sp>
      <p:sp>
        <p:nvSpPr>
          <p:cNvPr id="11" name="Text 9"/>
          <p:cNvSpPr/>
          <p:nvPr/>
        </p:nvSpPr>
        <p:spPr>
          <a:xfrm>
            <a:off x="822960" y="2011680"/>
            <a:ext cx="5120640" cy="457200"/>
          </a:xfrm>
          <a:prstGeom prst="rect">
            <a:avLst/>
          </a:prstGeom>
          <a:noFill/>
          <a:ln/>
        </p:spPr>
        <p:txBody>
          <a:bodyPr wrap="square" lIns="0" tIns="0" rIns="0" bIns="0" rtlCol="0" anchor="ctr"/>
          <a:lstStyle/>
          <a:p>
            <a:pPr indent="0" marL="0">
              <a:lnSpc>
                <a:spcPct val="100000"/>
              </a:lnSpc>
              <a:buNone/>
            </a:pPr>
            <a:r>
              <a:rPr lang="en-US" sz="1200" dirty="0">
                <a:solidFill>
                  <a:srgbClr val="232833"/>
                </a:solidFill>
                <a:latin typeface="Calibri" pitchFamily="34" charset="0"/>
                <a:ea typeface="Calibri" pitchFamily="34" charset="-122"/>
                <a:cs typeface="Calibri" pitchFamily="34" charset="-120"/>
              </a:rPr>
              <a:t>Per-modality embedding → 128-d tokens</a:t>
            </a:r>
            <a:endParaRPr lang="en-US" sz="1200" dirty="0"/>
          </a:p>
        </p:txBody>
      </p:sp>
      <p:sp>
        <p:nvSpPr>
          <p:cNvPr id="12" name="Shape 10"/>
          <p:cNvSpPr/>
          <p:nvPr/>
        </p:nvSpPr>
        <p:spPr>
          <a:xfrm>
            <a:off x="640080" y="2743200"/>
            <a:ext cx="5440680" cy="658368"/>
          </a:xfrm>
          <a:prstGeom prst="roundRect">
            <a:avLst>
              <a:gd name="adj" fmla="val 9722"/>
            </a:avLst>
          </a:prstGeom>
          <a:solidFill>
            <a:srgbClr val="FFFFFF"/>
          </a:solidFill>
          <a:ln w="12700">
            <a:solidFill>
              <a:srgbClr val="DCE4F0"/>
            </a:solidFill>
            <a:prstDash val="solid"/>
          </a:ln>
        </p:spPr>
      </p:sp>
      <p:sp>
        <p:nvSpPr>
          <p:cNvPr id="13" name="Text 11"/>
          <p:cNvSpPr/>
          <p:nvPr/>
        </p:nvSpPr>
        <p:spPr>
          <a:xfrm>
            <a:off x="822960" y="2743200"/>
            <a:ext cx="5120640" cy="658368"/>
          </a:xfrm>
          <a:prstGeom prst="rect">
            <a:avLst/>
          </a:prstGeom>
          <a:noFill/>
          <a:ln/>
        </p:spPr>
        <p:txBody>
          <a:bodyPr wrap="square" lIns="0" tIns="0" rIns="0" bIns="0" rtlCol="0" anchor="ctr"/>
          <a:lstStyle/>
          <a:p>
            <a:pPr indent="0" marL="0">
              <a:lnSpc>
                <a:spcPct val="100000"/>
              </a:lnSpc>
              <a:buNone/>
            </a:pPr>
            <a:r>
              <a:rPr lang="en-US" sz="1200" dirty="0">
                <a:solidFill>
                  <a:srgbClr val="232833"/>
                </a:solidFill>
                <a:latin typeface="Calibri" pitchFamily="34" charset="0"/>
                <a:ea typeface="Calibri" pitchFamily="34" charset="-122"/>
                <a:cs typeface="Calibri" pitchFamily="34" charset="-120"/>
              </a:rPr>
              <a:t>Local context — tracks: kNN graph · cells: transferred neighbor graph (EdgeConv) · or none (“set”)</a:t>
            </a:r>
            <a:endParaRPr lang="en-US" sz="1200" dirty="0"/>
          </a:p>
        </p:txBody>
      </p:sp>
      <p:sp>
        <p:nvSpPr>
          <p:cNvPr id="14" name="Shape 12"/>
          <p:cNvSpPr/>
          <p:nvPr/>
        </p:nvSpPr>
        <p:spPr>
          <a:xfrm>
            <a:off x="640080" y="3703320"/>
            <a:ext cx="5440680" cy="548640"/>
          </a:xfrm>
          <a:prstGeom prst="roundRect">
            <a:avLst>
              <a:gd name="adj" fmla="val 11667"/>
            </a:avLst>
          </a:prstGeom>
          <a:solidFill>
            <a:srgbClr val="FFFFFF"/>
          </a:solidFill>
          <a:ln w="12700">
            <a:solidFill>
              <a:srgbClr val="DCE4F0"/>
            </a:solidFill>
            <a:prstDash val="solid"/>
          </a:ln>
        </p:spPr>
      </p:sp>
      <p:sp>
        <p:nvSpPr>
          <p:cNvPr id="15" name="Text 13"/>
          <p:cNvSpPr/>
          <p:nvPr/>
        </p:nvSpPr>
        <p:spPr>
          <a:xfrm>
            <a:off x="822960" y="3703320"/>
            <a:ext cx="5120640" cy="548640"/>
          </a:xfrm>
          <a:prstGeom prst="rect">
            <a:avLst/>
          </a:prstGeom>
          <a:noFill/>
          <a:ln/>
        </p:spPr>
        <p:txBody>
          <a:bodyPr wrap="square" lIns="0" tIns="0" rIns="0" bIns="0" rtlCol="0" anchor="ctr"/>
          <a:lstStyle/>
          <a:p>
            <a:pPr indent="0" marL="0">
              <a:lnSpc>
                <a:spcPct val="100000"/>
              </a:lnSpc>
              <a:buNone/>
            </a:pPr>
            <a:r>
              <a:rPr lang="en-US" sz="1200" dirty="0">
                <a:solidFill>
                  <a:srgbClr val="232833"/>
                </a:solidFill>
                <a:latin typeface="Calibri" pitchFamily="34" charset="0"/>
                <a:ea typeface="Calibri" pitchFamily="34" charset="-122"/>
                <a:cs typeface="Calibri" pitchFamily="34" charset="-120"/>
              </a:rPr>
              <a:t>Cross-modality masked set attention (ISAB ×2) + pooled global token</a:t>
            </a:r>
            <a:endParaRPr lang="en-US" sz="1200" dirty="0"/>
          </a:p>
        </p:txBody>
      </p:sp>
      <p:sp>
        <p:nvSpPr>
          <p:cNvPr id="16" name="Shape 14"/>
          <p:cNvSpPr/>
          <p:nvPr/>
        </p:nvSpPr>
        <p:spPr>
          <a:xfrm>
            <a:off x="640080" y="4553712"/>
            <a:ext cx="5440680" cy="457200"/>
          </a:xfrm>
          <a:prstGeom prst="roundRect">
            <a:avLst>
              <a:gd name="adj" fmla="val 14000"/>
            </a:avLst>
          </a:prstGeom>
          <a:solidFill>
            <a:srgbClr val="FDF0DC"/>
          </a:solidFill>
          <a:ln w="12700">
            <a:solidFill>
              <a:srgbClr val="EED9B0"/>
            </a:solidFill>
            <a:prstDash val="solid"/>
          </a:ln>
        </p:spPr>
      </p:sp>
      <p:sp>
        <p:nvSpPr>
          <p:cNvPr id="17" name="Text 15"/>
          <p:cNvSpPr/>
          <p:nvPr/>
        </p:nvSpPr>
        <p:spPr>
          <a:xfrm>
            <a:off x="822960" y="4553712"/>
            <a:ext cx="5120640" cy="457200"/>
          </a:xfrm>
          <a:prstGeom prst="rect">
            <a:avLst/>
          </a:prstGeom>
          <a:noFill/>
          <a:ln/>
        </p:spPr>
        <p:txBody>
          <a:bodyPr wrap="square" lIns="0" tIns="0" rIns="0" bIns="0" rtlCol="0" anchor="ctr"/>
          <a:lstStyle/>
          <a:p>
            <a:pPr indent="0" marL="0">
              <a:lnSpc>
                <a:spcPct val="100000"/>
              </a:lnSpc>
              <a:buNone/>
            </a:pPr>
            <a:r>
              <a:rPr lang="en-US" sz="1200" dirty="0">
                <a:solidFill>
                  <a:srgbClr val="232833"/>
                </a:solidFill>
                <a:latin typeface="Calibri" pitchFamily="34" charset="0"/>
                <a:ea typeface="Calibri" pitchFamily="34" charset="-122"/>
                <a:cs typeface="Calibri" pitchFamily="34" charset="-120"/>
              </a:rPr>
              <a:t>Gaussian head → (μ, log σ²) per jet</a:t>
            </a:r>
            <a:endParaRPr lang="en-US" sz="1200" dirty="0"/>
          </a:p>
        </p:txBody>
      </p:sp>
      <p:sp>
        <p:nvSpPr>
          <p:cNvPr id="18" name="Shape 16"/>
          <p:cNvSpPr/>
          <p:nvPr/>
        </p:nvSpPr>
        <p:spPr>
          <a:xfrm>
            <a:off x="3355848" y="1783080"/>
            <a:ext cx="0" cy="192024"/>
          </a:xfrm>
          <a:prstGeom prst="line">
            <a:avLst/>
          </a:prstGeom>
          <a:noFill/>
          <a:ln w="19050">
            <a:solidFill>
              <a:srgbClr val="667085"/>
            </a:solidFill>
            <a:prstDash val="solid"/>
            <a:tailEnd type="triangle"/>
          </a:ln>
        </p:spPr>
      </p:sp>
      <p:sp>
        <p:nvSpPr>
          <p:cNvPr id="19" name="Shape 17"/>
          <p:cNvSpPr/>
          <p:nvPr/>
        </p:nvSpPr>
        <p:spPr>
          <a:xfrm>
            <a:off x="3355848" y="2505456"/>
            <a:ext cx="0" cy="201168"/>
          </a:xfrm>
          <a:prstGeom prst="line">
            <a:avLst/>
          </a:prstGeom>
          <a:noFill/>
          <a:ln w="19050">
            <a:solidFill>
              <a:srgbClr val="667085"/>
            </a:solidFill>
            <a:prstDash val="solid"/>
            <a:tailEnd type="triangle"/>
          </a:ln>
        </p:spPr>
      </p:sp>
      <p:sp>
        <p:nvSpPr>
          <p:cNvPr id="20" name="Shape 18"/>
          <p:cNvSpPr/>
          <p:nvPr/>
        </p:nvSpPr>
        <p:spPr>
          <a:xfrm>
            <a:off x="3355848" y="3438144"/>
            <a:ext cx="0" cy="228600"/>
          </a:xfrm>
          <a:prstGeom prst="line">
            <a:avLst/>
          </a:prstGeom>
          <a:noFill/>
          <a:ln w="19050">
            <a:solidFill>
              <a:srgbClr val="667085"/>
            </a:solidFill>
            <a:prstDash val="solid"/>
            <a:tailEnd type="triangle"/>
          </a:ln>
        </p:spPr>
      </p:sp>
      <p:sp>
        <p:nvSpPr>
          <p:cNvPr id="21" name="Shape 19"/>
          <p:cNvSpPr/>
          <p:nvPr/>
        </p:nvSpPr>
        <p:spPr>
          <a:xfrm>
            <a:off x="3355848" y="4288536"/>
            <a:ext cx="0" cy="228600"/>
          </a:xfrm>
          <a:prstGeom prst="line">
            <a:avLst/>
          </a:prstGeom>
          <a:noFill/>
          <a:ln w="19050">
            <a:solidFill>
              <a:srgbClr val="667085"/>
            </a:solidFill>
            <a:prstDash val="solid"/>
            <a:tailEnd type="triangle"/>
          </a:ln>
        </p:spPr>
      </p:sp>
      <p:sp>
        <p:nvSpPr>
          <p:cNvPr id="22" name="Text 20"/>
          <p:cNvSpPr/>
          <p:nvPr/>
        </p:nvSpPr>
        <p:spPr>
          <a:xfrm>
            <a:off x="640080" y="5212080"/>
            <a:ext cx="5440680" cy="548640"/>
          </a:xfrm>
          <a:prstGeom prst="rect">
            <a:avLst/>
          </a:prstGeom>
          <a:noFill/>
          <a:ln/>
        </p:spPr>
        <p:txBody>
          <a:bodyPr wrap="square" lIns="0" tIns="0" rIns="0" bIns="0" rtlCol="0" anchor="ctr"/>
          <a:lstStyle/>
          <a:p>
            <a:pPr indent="0" marL="0">
              <a:lnSpc>
                <a:spcPct val="105000"/>
              </a:lnSpc>
              <a:buNone/>
            </a:pPr>
            <a:r>
              <a:rPr lang="en-US" sz="1150" i="1" dirty="0">
                <a:solidFill>
                  <a:srgbClr val="667085"/>
                </a:solidFill>
                <a:latin typeface="Calibri" pitchFamily="34" charset="0"/>
                <a:ea typeface="Calibri" pitchFamily="34" charset="-122"/>
                <a:cs typeface="Calibri" pitchFamily="34" charset="-120"/>
              </a:rPr>
              <a:t>≈ 1M parameters · identical backbone in every study — only the input set and the head change.</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92240" y="1234440"/>
          <a:ext cx="5212080" cy="914400"/>
        </p:xfrm>
        <a:graphic>
          <a:graphicData uri="http://schemas.openxmlformats.org/drawingml/2006/table">
            <a:tbl>
              <a:tblPr/>
              <a:tblGrid>
                <a:gridCol w="1371600"/>
                <a:gridCol w="3840480"/>
              </a:tblGrid>
              <a:tr h="47548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Label</a:t>
                      </a:r>
                      <a:endParaRPr lang="en-US" sz="1050" dirty="0">
                        <a:latin typeface="Calibri" charset="0"/>
                        <a:ea typeface="Calibri" charset="0"/>
                        <a:cs typeface="Calibri" charset="0"/>
                      </a:endParaRPr>
                    </a:p>
                  </a:txBody>
                  <a:tcPr marL="50292" marR="50292" marT="50292" marB="50292"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Meaning</a:t>
                      </a:r>
                      <a:endParaRPr lang="en-US" sz="1050" dirty="0">
                        <a:latin typeface="Calibri" charset="0"/>
                        <a:ea typeface="Calibri" charset="0"/>
                        <a:cs typeface="Calibri" charset="0"/>
                      </a:endParaRPr>
                    </a:p>
                  </a:txBody>
                  <a:tcPr marL="50292" marR="50292" marT="50292" marB="50292"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solidFill>
                      <a:srgbClr val="1E2761"/>
                    </a:solidFill>
                  </a:tcPr>
                </a:tc>
              </a:tr>
              <a:tr h="475488">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T / J</a:t>
                      </a:r>
                      <a:endParaRPr lang="en-US" sz="1050" dirty="0">
                        <a:latin typeface="Calibri" charset="0"/>
                        <a:ea typeface="Calibri" charset="0"/>
                        <a:cs typeface="Calibri" charset="0"/>
                      </a:endParaRPr>
                    </a:p>
                  </a:txBody>
                  <a:tcPr marL="50292" marR="50292" marT="50292" marB="50292"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tracks in the jet cone (18 features) / jet-level features of the reco jet</a:t>
                      </a:r>
                      <a:endParaRPr lang="en-US" sz="1050" dirty="0">
                        <a:latin typeface="Calibri" charset="0"/>
                        <a:ea typeface="Calibri" charset="0"/>
                        <a:cs typeface="Calibri" charset="0"/>
                      </a:endParaRPr>
                    </a:p>
                  </a:txBody>
                  <a:tcPr marL="50292" marR="50292" marT="50292" marB="50292"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475488">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C-graph / C-set</a:t>
                      </a:r>
                      <a:endParaRPr lang="en-US" sz="1050" dirty="0">
                        <a:latin typeface="Calibri" charset="0"/>
                        <a:ea typeface="Calibri" charset="0"/>
                        <a:cs typeface="Calibri" charset="0"/>
                      </a:endParaRPr>
                    </a:p>
                  </a:txBody>
                  <a:tcPr marL="50292" marR="50292" marT="50292" marB="50292"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cone cells with the transferred neighbor graph / as a plain set</a:t>
                      </a:r>
                      <a:endParaRPr lang="en-US" sz="1050" dirty="0">
                        <a:latin typeface="Calibri" charset="0"/>
                        <a:ea typeface="Calibri" charset="0"/>
                        <a:cs typeface="Calibri" charset="0"/>
                      </a:endParaRPr>
                    </a:p>
                  </a:txBody>
                  <a:tcPr marL="50292" marR="50292" marT="50292" marB="50292"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475488">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TJ, TC, TJC …</a:t>
                      </a:r>
                      <a:endParaRPr lang="en-US" sz="1050" dirty="0">
                        <a:latin typeface="Calibri" charset="0"/>
                        <a:ea typeface="Calibri" charset="0"/>
                        <a:cs typeface="Calibri" charset="0"/>
                      </a:endParaRPr>
                    </a:p>
                  </a:txBody>
                  <a:tcPr marL="50292" marR="50292" marT="50292" marB="50292"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input combinations (token-set concatenation)</a:t>
                      </a:r>
                      <a:endParaRPr lang="en-US" sz="1050" dirty="0">
                        <a:latin typeface="Calibri" charset="0"/>
                        <a:ea typeface="Calibri" charset="0"/>
                        <a:cs typeface="Calibri" charset="0"/>
                      </a:endParaRPr>
                    </a:p>
                  </a:txBody>
                  <a:tcPr marL="50292" marR="50292" marT="50292" marB="50292"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475488">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-pre / -probe</a:t>
                      </a:r>
                      <a:endParaRPr lang="en-US" sz="1050" dirty="0">
                        <a:latin typeface="Calibri" charset="0"/>
                        <a:ea typeface="Calibri" charset="0"/>
                        <a:cs typeface="Calibri" charset="0"/>
                      </a:endParaRPr>
                    </a:p>
                  </a:txBody>
                  <a:tcPr marL="50292" marR="50292" marT="50292" marB="50292"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initialized from masked-cell pretraining / frozen encoder + linear head</a:t>
                      </a:r>
                      <a:endParaRPr lang="en-US" sz="1050" dirty="0">
                        <a:latin typeface="Calibri" charset="0"/>
                        <a:ea typeface="Calibri" charset="0"/>
                        <a:cs typeface="Calibri" charset="0"/>
                      </a:endParaRPr>
                    </a:p>
                  </a:txBody>
                  <a:tcPr marL="50292" marR="50292" marT="50292" marB="50292"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475488">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-f0.01 / -f0.1</a:t>
                      </a:r>
                      <a:endParaRPr lang="en-US" sz="1050" dirty="0">
                        <a:latin typeface="Calibri" charset="0"/>
                        <a:ea typeface="Calibri" charset="0"/>
                        <a:cs typeface="Calibri" charset="0"/>
                      </a:endParaRPr>
                    </a:p>
                  </a:txBody>
                  <a:tcPr marL="50292" marR="50292" marT="50292" marB="50292"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trained on 1% / 10% of the labels (label-efficiency scans)</a:t>
                      </a:r>
                      <a:endParaRPr lang="en-US" sz="1050" dirty="0">
                        <a:latin typeface="Calibri" charset="0"/>
                        <a:ea typeface="Calibri" charset="0"/>
                        <a:cs typeface="Calibri" charset="0"/>
                      </a:endParaRPr>
                    </a:p>
                  </a:txBody>
                  <a:tcPr marL="50292" marR="50292" marT="50292" marB="50292"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475488">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+fc</a:t>
                      </a:r>
                      <a:endParaRPr lang="en-US" sz="1050" dirty="0">
                        <a:latin typeface="Calibri" charset="0"/>
                        <a:ea typeface="Calibri" charset="0"/>
                        <a:cs typeface="Calibri" charset="0"/>
                      </a:endParaRPr>
                    </a:p>
                  </a:txBody>
                  <a:tcPr marL="50292" marR="50292" marT="50292" marB="50292"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flavor-conditioned calibration (truth flavor as input)</a:t>
                      </a:r>
                      <a:endParaRPr lang="en-US" sz="1050" dirty="0">
                        <a:latin typeface="Calibri" charset="0"/>
                        <a:ea typeface="Calibri" charset="0"/>
                        <a:cs typeface="Calibri" charset="0"/>
                      </a:endParaRPr>
                    </a:p>
                  </a:txBody>
                  <a:tcPr marL="50292" marR="50292" marT="50292" marB="50292"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475488">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+pan</a:t>
                      </a:r>
                      <a:endParaRPr lang="en-US" sz="1050" dirty="0">
                        <a:latin typeface="Calibri" charset="0"/>
                        <a:ea typeface="Calibri" charset="0"/>
                        <a:cs typeface="Calibri" charset="0"/>
                      </a:endParaRPr>
                    </a:p>
                  </a:txBody>
                  <a:tcPr marL="50292" marR="50292" marT="50292" marB="50292"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panoptic head (p_b, p_c, p_light, μ, σ): tagging + calibration jointly</a:t>
                      </a:r>
                      <a:endParaRPr lang="en-US" sz="1050" dirty="0">
                        <a:latin typeface="Calibri" charset="0"/>
                        <a:ea typeface="Calibri" charset="0"/>
                        <a:cs typeface="Calibri" charset="0"/>
                      </a:endParaRPr>
                    </a:p>
                  </a:txBody>
                  <a:tcPr marL="50292" marR="50292" marT="50292" marB="50292"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475488">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B0</a:t>
                      </a:r>
                      <a:endParaRPr lang="en-US" sz="1050" dirty="0">
                        <a:latin typeface="Calibri" charset="0"/>
                        <a:ea typeface="Calibri" charset="0"/>
                        <a:cs typeface="Calibri" charset="0"/>
                      </a:endParaRPr>
                    </a:p>
                  </a:txBody>
                  <a:tcPr marL="50292" marR="50292" marT="50292" marB="50292"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baseline: the ntuple’s own calibrated jets, evaluated identically</a:t>
                      </a:r>
                      <a:endParaRPr lang="en-US" sz="1050" dirty="0">
                        <a:latin typeface="Calibri" charset="0"/>
                        <a:ea typeface="Calibri" charset="0"/>
                        <a:cs typeface="Calibri" charset="0"/>
                      </a:endParaRPr>
                    </a:p>
                  </a:txBody>
                  <a:tcPr marL="50292" marR="50292" marT="50292" marB="50292"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bl>
          </a:graphicData>
        </a:graphic>
      </p:graphicFrame>
      <p:sp>
        <p:nvSpPr>
          <p:cNvPr id="24" name="Text 21"/>
          <p:cNvSpPr/>
          <p:nvPr/>
        </p:nvSpPr>
        <p:spPr>
          <a:xfrm>
            <a:off x="502920" y="6510528"/>
            <a:ext cx="4114800" cy="27432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DFM feasibility — UT Arlington · Aug 2026</a:t>
            </a:r>
            <a:endParaRPr lang="en-US" sz="900" dirty="0"/>
          </a:p>
        </p:txBody>
      </p:sp>
      <p:sp>
        <p:nvSpPr>
          <p:cNvPr id="25" name="Text 22"/>
          <p:cNvSpPr/>
          <p:nvPr/>
        </p:nvSpPr>
        <p:spPr>
          <a:xfrm>
            <a:off x="11430000" y="6510528"/>
            <a:ext cx="365760" cy="274320"/>
          </a:xfrm>
          <a:prstGeom prst="rect">
            <a:avLst/>
          </a:prstGeom>
          <a:noFill/>
          <a:ln/>
        </p:spPr>
        <p:txBody>
          <a:bodyPr wrap="square" lIns="0" tIns="0" rIns="0" bIns="0"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56032"/>
            <a:ext cx="11155680" cy="274320"/>
          </a:xfrm>
          <a:prstGeom prst="rect">
            <a:avLst/>
          </a:prstGeom>
          <a:noFill/>
          <a:ln/>
        </p:spPr>
        <p:txBody>
          <a:bodyPr wrap="square" lIns="0" tIns="0" rIns="0" bIns="0" rtlCol="0" anchor="ctr"/>
          <a:lstStyle/>
          <a:p>
            <a:pPr indent="0" marL="0">
              <a:buNone/>
            </a:pPr>
            <a:r>
              <a:rPr lang="en-US" sz="1050" b="1" spc="200" kern="0" dirty="0">
                <a:solidFill>
                  <a:srgbClr val="667085"/>
                </a:solidFill>
                <a:latin typeface="Calibri" pitchFamily="34" charset="0"/>
                <a:ea typeface="Calibri" pitchFamily="34" charset="-122"/>
                <a:cs typeface="Calibri" pitchFamily="34" charset="-120"/>
              </a:rPr>
              <a:t>TRAINING PROTOCOL &amp; METRICS</a:t>
            </a:r>
            <a:endParaRPr lang="en-US" sz="1050" dirty="0"/>
          </a:p>
        </p:txBody>
      </p:sp>
      <p:sp>
        <p:nvSpPr>
          <p:cNvPr id="3" name="Text 1"/>
          <p:cNvSpPr/>
          <p:nvPr/>
        </p:nvSpPr>
        <p:spPr>
          <a:xfrm>
            <a:off x="502920" y="475488"/>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How the models are trained — and how we score them</a:t>
            </a:r>
            <a:endParaRPr lang="en-US" sz="2700" dirty="0"/>
          </a:p>
        </p:txBody>
      </p:sp>
      <p:sp>
        <p:nvSpPr>
          <p:cNvPr id="4" name="Text 2"/>
          <p:cNvSpPr/>
          <p:nvPr/>
        </p:nvSpPr>
        <p:spPr>
          <a:xfrm>
            <a:off x="502920" y="1234440"/>
            <a:ext cx="5577840" cy="4754880"/>
          </a:xfrm>
          <a:prstGeom prst="rect">
            <a:avLst/>
          </a:prstGeom>
          <a:noFill/>
          <a:ln/>
        </p:spPr>
        <p:txBody>
          <a:bodyPr wrap="square" lIns="0" tIns="0" rIns="0" bIns="0" rtlCol="0" anchor="t"/>
          <a:lstStyle/>
          <a:p>
            <a:pPr marL="127000" indent="-127000">
              <a:lnSpc>
                <a:spcPct val="107000"/>
              </a:lnSpc>
              <a:buSzPct val="100000"/>
              <a:buChar char="•"/>
            </a:pPr>
            <a:r>
              <a:rPr lang="en-US" sz="1250" b="1" dirty="0">
                <a:solidFill>
                  <a:srgbClr val="1E2761"/>
                </a:solidFill>
                <a:latin typeface="Calibri" pitchFamily="34" charset="0"/>
                <a:ea typeface="Calibri" pitchFamily="34" charset="-122"/>
                <a:cs typeface="Calibri" pitchFamily="34" charset="-120"/>
              </a:rPr>
              <a:t>Loss:</a:t>
            </a:r>
            <a:pPr indent="0" marL="0">
              <a:lnSpc>
                <a:spcPct val="107000"/>
              </a:lnSpc>
              <a:spcAft>
                <a:spcPts val="1000"/>
              </a:spcAft>
              <a:buNone/>
            </a:pPr>
            <a:r>
              <a:rPr lang="en-US" sz="1250" dirty="0">
                <a:solidFill>
                  <a:srgbClr val="232833"/>
                </a:solidFill>
                <a:latin typeface="Calibri" pitchFamily="34" charset="0"/>
                <a:ea typeface="Calibri" pitchFamily="34" charset="-122"/>
                <a:cs typeface="Calibri" pitchFamily="34" charset="-120"/>
              </a:rPr>
              <a:t> short Huber warm-up (stability), then heteroscedastic Gaussian NLL:  L = ½ ln σ² + (y − μ)² / 2σ²</a:t>
            </a:r>
            <a:endParaRPr lang="en-US" sz="1250" dirty="0"/>
          </a:p>
          <a:p>
            <a:pPr marL="127000" indent="-127000">
              <a:lnSpc>
                <a:spcPct val="107000"/>
              </a:lnSpc>
              <a:buSzPct val="100000"/>
              <a:buChar char="•"/>
            </a:pPr>
            <a:r>
              <a:rPr lang="en-US" sz="1250" b="1" dirty="0">
                <a:solidFill>
                  <a:srgbClr val="1E2761"/>
                </a:solidFill>
                <a:latin typeface="Calibri" pitchFamily="34" charset="0"/>
                <a:ea typeface="Calibri" pitchFamily="34" charset="-122"/>
                <a:cs typeface="Calibri" pitchFamily="34" charset="-120"/>
              </a:rPr>
              <a:t>Optimizer:</a:t>
            </a:r>
            <a:pPr indent="0" marL="0">
              <a:lnSpc>
                <a:spcPct val="107000"/>
              </a:lnSpc>
              <a:spcAft>
                <a:spcPts val="1000"/>
              </a:spcAft>
              <a:buNone/>
            </a:pPr>
            <a:r>
              <a:rPr lang="en-US" sz="1250" dirty="0">
                <a:solidFill>
                  <a:srgbClr val="232833"/>
                </a:solidFill>
                <a:latin typeface="Calibri" pitchFamily="34" charset="0"/>
                <a:ea typeface="Calibri" pitchFamily="34" charset="-122"/>
                <a:cs typeface="Calibri" pitchFamily="34" charset="-120"/>
              </a:rPr>
              <a:t> AdamW + cosine schedule; early stopping on validation NLL</a:t>
            </a:r>
            <a:endParaRPr lang="en-US" sz="1250" dirty="0"/>
          </a:p>
          <a:p>
            <a:pPr marL="127000" indent="-127000">
              <a:lnSpc>
                <a:spcPct val="107000"/>
              </a:lnSpc>
              <a:buSzPct val="100000"/>
              <a:buChar char="•"/>
            </a:pPr>
            <a:r>
              <a:rPr lang="en-US" sz="1250" b="1" dirty="0">
                <a:solidFill>
                  <a:srgbClr val="1E2761"/>
                </a:solidFill>
                <a:latin typeface="Calibri" pitchFamily="34" charset="0"/>
                <a:ea typeface="Calibri" pitchFamily="34" charset="-122"/>
                <a:cs typeface="Calibri" pitchFamily="34" charset="-120"/>
              </a:rPr>
              <a:t>Weights:</a:t>
            </a:r>
            <a:pPr indent="0" marL="0">
              <a:lnSpc>
                <a:spcPct val="107000"/>
              </a:lnSpc>
              <a:spcAft>
                <a:spcPts val="1000"/>
              </a:spcAft>
              <a:buNone/>
            </a:pPr>
            <a:r>
              <a:rPr lang="en-US" sz="1250" dirty="0">
                <a:solidFill>
                  <a:srgbClr val="232833"/>
                </a:solidFill>
                <a:latin typeface="Calibri" pitchFamily="34" charset="0"/>
                <a:ea typeface="Calibri" pitchFamily="34" charset="-122"/>
                <a:cs typeface="Calibri" pitchFamily="34" charset="-120"/>
              </a:rPr>
              <a:t> flat in log pT so no momentum region dominates the fit</a:t>
            </a:r>
            <a:endParaRPr lang="en-US" sz="1250" dirty="0"/>
          </a:p>
          <a:p>
            <a:pPr marL="127000" indent="-127000">
              <a:lnSpc>
                <a:spcPct val="107000"/>
              </a:lnSpc>
              <a:buSzPct val="100000"/>
              <a:buChar char="•"/>
            </a:pPr>
            <a:r>
              <a:rPr lang="en-US" sz="1250" b="1" dirty="0">
                <a:solidFill>
                  <a:srgbClr val="1E2761"/>
                </a:solidFill>
                <a:latin typeface="Calibri" pitchFamily="34" charset="0"/>
                <a:ea typeface="Calibri" pitchFamily="34" charset="-122"/>
                <a:cs typeface="Calibri" pitchFamily="34" charset="-120"/>
              </a:rPr>
              <a:t>Seeds:</a:t>
            </a:r>
            <a:pPr indent="0" marL="0">
              <a:lnSpc>
                <a:spcPct val="107000"/>
              </a:lnSpc>
              <a:spcAft>
                <a:spcPts val="1000"/>
              </a:spcAft>
              <a:buNone/>
            </a:pPr>
            <a:r>
              <a:rPr lang="en-US" sz="1250" dirty="0">
                <a:solidFill>
                  <a:srgbClr val="232833"/>
                </a:solidFill>
                <a:latin typeface="Calibri" pitchFamily="34" charset="0"/>
                <a:ea typeface="Calibri" pitchFamily="34" charset="-122"/>
                <a:cs typeface="Calibri" pitchFamily="34" charset="-120"/>
              </a:rPr>
              <a:t> 3 per configuration; mean ± spread reported (10-seed convention planned)</a:t>
            </a:r>
            <a:endParaRPr lang="en-US" sz="1250" dirty="0"/>
          </a:p>
          <a:p>
            <a:pPr marL="127000" indent="-127000">
              <a:lnSpc>
                <a:spcPct val="107000"/>
              </a:lnSpc>
              <a:buSzPct val="100000"/>
              <a:buChar char="•"/>
            </a:pPr>
            <a:r>
              <a:rPr lang="en-US" sz="1250" b="1" dirty="0">
                <a:solidFill>
                  <a:srgbClr val="1E2761"/>
                </a:solidFill>
                <a:latin typeface="Calibri" pitchFamily="34" charset="0"/>
                <a:ea typeface="Calibri" pitchFamily="34" charset="-122"/>
                <a:cs typeface="Calibri" pitchFamily="34" charset="-120"/>
              </a:rPr>
              <a:t>Hygiene:</a:t>
            </a:r>
            <a:pPr indent="0" marL="0">
              <a:lnSpc>
                <a:spcPct val="107000"/>
              </a:lnSpc>
              <a:spcAft>
                <a:spcPts val="1000"/>
              </a:spcAft>
              <a:buNone/>
            </a:pPr>
            <a:r>
              <a:rPr lang="en-US" sz="1250" dirty="0">
                <a:solidFill>
                  <a:srgbClr val="232833"/>
                </a:solidFill>
                <a:latin typeface="Calibri" pitchFamily="34" charset="0"/>
                <a:ea typeface="Calibri" pitchFamily="34" charset="-122"/>
                <a:cs typeface="Calibri" pitchFamily="34" charset="-120"/>
              </a:rPr>
              <a:t> splits by file; every normalization and weight fit on the training files only</a:t>
            </a:r>
            <a:endParaRPr lang="en-US" sz="1250" dirty="0"/>
          </a:p>
          <a:p>
            <a:pPr marL="127000" indent="-127000">
              <a:lnSpc>
                <a:spcPct val="107000"/>
              </a:lnSpc>
              <a:buSzPct val="100000"/>
              <a:buChar char="•"/>
            </a:pPr>
            <a:r>
              <a:rPr lang="en-US" sz="1250" b="1" dirty="0">
                <a:solidFill>
                  <a:srgbClr val="1E2761"/>
                </a:solidFill>
                <a:latin typeface="Calibri" pitchFamily="34" charset="0"/>
                <a:ea typeface="Calibri" pitchFamily="34" charset="-122"/>
                <a:cs typeface="Calibri" pitchFamily="34" charset="-120"/>
              </a:rPr>
              <a:t>Ops:</a:t>
            </a:r>
            <a:pPr indent="0" marL="0">
              <a:lnSpc>
                <a:spcPct val="107000"/>
              </a:lnSpc>
              <a:spcAft>
                <a:spcPts val="1000"/>
              </a:spcAft>
              <a:buNone/>
            </a:pPr>
            <a:r>
              <a:rPr lang="en-US" sz="1250" dirty="0">
                <a:solidFill>
                  <a:srgbClr val="232833"/>
                </a:solidFill>
                <a:latin typeface="Calibri" pitchFamily="34" charset="0"/>
                <a:ea typeface="Calibri" pitchFamily="34" charset="-122"/>
                <a:cs typeface="Calibri" pitchFamily="34" charset="-120"/>
              </a:rPr>
              <a:t> shared university GPU node — thread-capped, nice’d, watchdog-guarded; ~100 trainings without incident after hardening</a:t>
            </a:r>
            <a:endParaRPr lang="en-US" sz="1250" dirty="0"/>
          </a:p>
        </p:txBody>
      </p:sp>
      <p:sp>
        <p:nvSpPr>
          <p:cNvPr id="5" name="Shape 3"/>
          <p:cNvSpPr/>
          <p:nvPr/>
        </p:nvSpPr>
        <p:spPr>
          <a:xfrm>
            <a:off x="6400800" y="1234440"/>
            <a:ext cx="5303520" cy="2651760"/>
          </a:xfrm>
          <a:prstGeom prst="roundRect">
            <a:avLst>
              <a:gd name="adj" fmla="val 2414"/>
            </a:avLst>
          </a:prstGeom>
          <a:solidFill>
            <a:srgbClr val="EEF3FB"/>
          </a:solidFill>
          <a:ln w="12700">
            <a:solidFill>
              <a:srgbClr val="DCE4F0"/>
            </a:solidFill>
            <a:prstDash val="solid"/>
          </a:ln>
        </p:spPr>
      </p:sp>
      <p:sp>
        <p:nvSpPr>
          <p:cNvPr id="6" name="Text 4"/>
          <p:cNvSpPr/>
          <p:nvPr/>
        </p:nvSpPr>
        <p:spPr>
          <a:xfrm>
            <a:off x="6675120" y="1371600"/>
            <a:ext cx="475488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Metrics (per pT-true bin; also profiled vs η, φ)</a:t>
            </a:r>
            <a:endParaRPr lang="en-US" sz="1400" dirty="0"/>
          </a:p>
        </p:txBody>
      </p:sp>
      <p:sp>
        <p:nvSpPr>
          <p:cNvPr id="7" name="Text 5"/>
          <p:cNvSpPr/>
          <p:nvPr/>
        </p:nvSpPr>
        <p:spPr>
          <a:xfrm>
            <a:off x="6675120" y="1783080"/>
            <a:ext cx="4754880" cy="2011680"/>
          </a:xfrm>
          <a:prstGeom prst="rect">
            <a:avLst/>
          </a:prstGeom>
          <a:noFill/>
          <a:ln/>
        </p:spPr>
        <p:txBody>
          <a:bodyPr wrap="square" lIns="0" tIns="0" rIns="0" bIns="0" rtlCol="0" anchor="t"/>
          <a:lstStyle/>
          <a:p>
            <a:pPr indent="0" marL="0">
              <a:lnSpc>
                <a:spcPct val="118000"/>
              </a:lnSpc>
              <a:buNone/>
            </a:pPr>
            <a:r>
              <a:rPr lang="en-US" sz="1200" dirty="0">
                <a:solidFill>
                  <a:srgbClr val="232833"/>
                </a:solidFill>
                <a:latin typeface="Calibri" pitchFamily="34" charset="0"/>
                <a:ea typeface="Calibri" pitchFamily="34" charset="-122"/>
                <a:cs typeface="Calibri" pitchFamily="34" charset="-120"/>
              </a:rPr>
              <a:t>JES = median r,  r = pT_corr / pT_true
</a:t>
            </a:r>
            <a:pPr indent="0" marL="0">
              <a:lnSpc>
                <a:spcPct val="118000"/>
              </a:lnSpc>
              <a:buNone/>
            </a:pPr>
            <a:r>
              <a:rPr lang="en-US" sz="1200" dirty="0">
                <a:solidFill>
                  <a:srgbClr val="232833"/>
                </a:solidFill>
                <a:latin typeface="Calibri" pitchFamily="34" charset="0"/>
                <a:ea typeface="Calibri" pitchFamily="34" charset="-122"/>
                <a:cs typeface="Calibri" pitchFamily="34" charset="-120"/>
              </a:rPr>
              <a:t>JER = (q75 − q25) / 1.349 ÷ median  — robust, tail-insensitive
</a:t>
            </a:r>
            <a:pPr indent="0" marL="0">
              <a:lnSpc>
                <a:spcPct val="118000"/>
              </a:lnSpc>
              <a:buNone/>
            </a:pPr>
            <a:r>
              <a:rPr lang="en-US" sz="1200" dirty="0">
                <a:solidFill>
                  <a:srgbClr val="232833"/>
                </a:solidFill>
                <a:latin typeface="Calibri" pitchFamily="34" charset="0"/>
                <a:ea typeface="Calibri" pitchFamily="34" charset="-122"/>
                <a:cs typeface="Calibri" pitchFamily="34" charset="-120"/>
              </a:rPr>
              <a:t>pull z = (y − μ)/σ  →  std ≈ 1 ⇔ honest uncertainties (we get 1.00–1.05)
</a:t>
            </a:r>
            <a:pPr indent="0" marL="0">
              <a:lnSpc>
                <a:spcPct val="118000"/>
              </a:lnSpc>
              <a:buNone/>
            </a:pPr>
            <a:r>
              <a:rPr lang="en-US" sz="1200" dirty="0">
                <a:solidFill>
                  <a:srgbClr val="232833"/>
                </a:solidFill>
                <a:latin typeface="Calibri" pitchFamily="34" charset="0"/>
                <a:ea typeface="Calibri" pitchFamily="34" charset="-122"/>
                <a:cs typeface="Calibri" pitchFamily="34" charset="-120"/>
              </a:rPr>
              <a:t>closure = RMS over bins of (JES − 1)
</a:t>
            </a:r>
            <a:pPr indent="0" marL="0">
              <a:lnSpc>
                <a:spcPct val="118000"/>
              </a:lnSpc>
              <a:buNone/>
            </a:pPr>
            <a:r>
              <a:rPr lang="en-US" sz="1100" i="1" dirty="0">
                <a:solidFill>
                  <a:srgbClr val="667085"/>
                </a:solidFill>
                <a:latin typeface="Calibri" pitchFamily="34" charset="0"/>
                <a:ea typeface="Calibri" pitchFamily="34" charset="-122"/>
                <a:cs typeface="Calibri" pitchFamily="34" charset="-120"/>
              </a:rPr>
              <a:t>Bins: 20–400 GeV, headline 65–90 · B0 measured identically on the same test jets · details in backup</a:t>
            </a:r>
            <a:endParaRPr lang="en-US" sz="1200" dirty="0"/>
          </a:p>
        </p:txBody>
      </p:sp>
      <p:pic>
        <p:nvPicPr>
          <p:cNvPr id="8" name="Image 0" descr="/Users/afarbin/CaloGNN/CaloGraphNet/notes/DFM-NOTE-2026-01-jet-pt-calibration/figures/H5_pulls.png">    </p:cNvPr>
          <p:cNvPicPr>
            <a:picLocks noChangeAspect="1"/>
          </p:cNvPicPr>
          <p:nvPr/>
        </p:nvPicPr>
        <p:blipFill>
          <a:blip r:embed="rId1"/>
          <a:stretch>
            <a:fillRect/>
          </a:stretch>
        </p:blipFill>
        <p:spPr>
          <a:xfrm>
            <a:off x="7589520" y="4041648"/>
            <a:ext cx="2880360" cy="2213247"/>
          </a:xfrm>
          <a:prstGeom prst="rect">
            <a:avLst/>
          </a:prstGeom>
        </p:spPr>
      </p:pic>
      <p:sp>
        <p:nvSpPr>
          <p:cNvPr id="9" name="Text 6"/>
          <p:cNvSpPr/>
          <p:nvPr/>
        </p:nvSpPr>
        <p:spPr>
          <a:xfrm>
            <a:off x="7589520" y="6309360"/>
            <a:ext cx="3840480" cy="292608"/>
          </a:xfrm>
          <a:prstGeom prst="rect">
            <a:avLst/>
          </a:prstGeom>
          <a:noFill/>
          <a:ln/>
        </p:spPr>
        <p:txBody>
          <a:bodyPr wrap="square" lIns="0" tIns="0" rIns="0" bIns="0" rtlCol="0" anchor="ctr"/>
          <a:lstStyle/>
          <a:p>
            <a:pPr indent="0" marL="0">
              <a:buNone/>
            </a:pPr>
            <a:r>
              <a:rPr lang="en-US" sz="1000" i="1" dirty="0">
                <a:solidFill>
                  <a:srgbClr val="667085"/>
                </a:solidFill>
                <a:latin typeface="Calibri" pitchFamily="34" charset="0"/>
                <a:ea typeface="Calibri" pitchFamily="34" charset="-122"/>
                <a:cs typeface="Calibri" pitchFamily="34" charset="-120"/>
              </a:rPr>
              <a:t>Pull distributions — predicted σ matches observed spread.</a:t>
            </a:r>
            <a:endParaRPr lang="en-US" sz="1000" dirty="0"/>
          </a:p>
        </p:txBody>
      </p:sp>
      <p:sp>
        <p:nvSpPr>
          <p:cNvPr id="10" name="Text 7"/>
          <p:cNvSpPr/>
          <p:nvPr/>
        </p:nvSpPr>
        <p:spPr>
          <a:xfrm>
            <a:off x="502920" y="6510528"/>
            <a:ext cx="4114800" cy="27432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DFM feasibility — UT Arlington · Aug 2026</a:t>
            </a:r>
            <a:endParaRPr lang="en-US" sz="900" dirty="0"/>
          </a:p>
        </p:txBody>
      </p:sp>
      <p:sp>
        <p:nvSpPr>
          <p:cNvPr id="11" name="Text 8"/>
          <p:cNvSpPr/>
          <p:nvPr/>
        </p:nvSpPr>
        <p:spPr>
          <a:xfrm>
            <a:off x="11430000" y="6510528"/>
            <a:ext cx="365760" cy="274320"/>
          </a:xfrm>
          <a:prstGeom prst="rect">
            <a:avLst/>
          </a:prstGeom>
          <a:noFill/>
          <a:ln/>
        </p:spPr>
        <p:txBody>
          <a:bodyPr wrap="square" lIns="0" tIns="0" rIns="0" bIns="0"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56032"/>
            <a:ext cx="11155680" cy="274320"/>
          </a:xfrm>
          <a:prstGeom prst="rect">
            <a:avLst/>
          </a:prstGeom>
          <a:noFill/>
          <a:ln/>
        </p:spPr>
        <p:txBody>
          <a:bodyPr wrap="square" lIns="0" tIns="0" rIns="0" bIns="0" rtlCol="0" anchor="ctr"/>
          <a:lstStyle/>
          <a:p>
            <a:pPr indent="0" marL="0">
              <a:buNone/>
            </a:pPr>
            <a:r>
              <a:rPr lang="en-US" sz="1050" b="1" spc="200" kern="0" dirty="0">
                <a:solidFill>
                  <a:srgbClr val="667085"/>
                </a:solidFill>
                <a:latin typeface="Calibri" pitchFamily="34" charset="0"/>
                <a:ea typeface="Calibri" pitchFamily="34" charset="-122"/>
                <a:cs typeface="Calibri" pitchFamily="34" charset="-120"/>
              </a:rPr>
              <a:t>RESULTS I — INPUT COMPARISONS</a:t>
            </a:r>
            <a:endParaRPr lang="en-US" sz="1050" dirty="0"/>
          </a:p>
        </p:txBody>
      </p:sp>
      <p:sp>
        <p:nvSpPr>
          <p:cNvPr id="3" name="Text 1"/>
          <p:cNvSpPr/>
          <p:nvPr/>
        </p:nvSpPr>
        <p:spPr>
          <a:xfrm>
            <a:off x="502920" y="475488"/>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Which inputs matter? (light jets, all 17 files)</a:t>
            </a:r>
            <a:endParaRPr lang="en-US" sz="2700" dirty="0"/>
          </a:p>
        </p:txBody>
      </p:sp>
      <p:pic>
        <p:nvPicPr>
          <p:cNvPr id="4" name="Image 0" descr="/Users/afarbin/CaloGNN/CaloGraphNet/notes/DFM-NOTE-2026-01-jet-pt-calibration/figures/U2_jer_ratio_all.png">    </p:cNvPr>
          <p:cNvPicPr>
            <a:picLocks noChangeAspect="1"/>
          </p:cNvPicPr>
          <p:nvPr/>
        </p:nvPicPr>
        <p:blipFill>
          <a:blip r:embed="rId1"/>
          <a:stretch>
            <a:fillRect/>
          </a:stretch>
        </p:blipFill>
        <p:spPr>
          <a:xfrm>
            <a:off x="502920" y="1188720"/>
            <a:ext cx="5166360" cy="4712385"/>
          </a:xfrm>
          <a:prstGeom prst="rect">
            <a:avLst/>
          </a:prstGeom>
        </p:spPr>
      </p:pic>
      <p:sp>
        <p:nvSpPr>
          <p:cNvPr id="5" name="Text 2"/>
          <p:cNvSpPr/>
          <p:nvPr/>
        </p:nvSpPr>
        <p:spPr>
          <a:xfrm>
            <a:off x="502920" y="5989320"/>
            <a:ext cx="5303520" cy="292608"/>
          </a:xfrm>
          <a:prstGeom prst="rect">
            <a:avLst/>
          </a:prstGeom>
          <a:noFill/>
          <a:ln/>
        </p:spPr>
        <p:txBody>
          <a:bodyPr wrap="square" lIns="0" tIns="0" rIns="0" bIns="0" rtlCol="0" anchor="ctr"/>
          <a:lstStyle/>
          <a:p>
            <a:pPr indent="0" marL="0">
              <a:buNone/>
            </a:pPr>
            <a:r>
              <a:rPr lang="en-US" sz="1000" i="1" dirty="0">
                <a:solidFill>
                  <a:srgbClr val="667085"/>
                </a:solidFill>
                <a:latin typeface="Calibri" pitchFamily="34" charset="0"/>
                <a:ea typeface="Calibri" pitchFamily="34" charset="-122"/>
                <a:cs typeface="Calibri" pitchFamily="34" charset="-120"/>
              </a:rPr>
              <a:t>JER vs pT, single-input models vs the stored calibrated jets (Reco); ratio below.</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172200" y="1188720"/>
          <a:ext cx="5532120" cy="914400"/>
        </p:xfrm>
        <a:graphic>
          <a:graphicData uri="http://schemas.openxmlformats.org/drawingml/2006/table">
            <a:tbl>
              <a:tblPr/>
              <a:tblGrid>
                <a:gridCol w="2788920"/>
                <a:gridCol w="1554480"/>
                <a:gridCol w="1188720"/>
              </a:tblGrid>
              <a:tr h="310896">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JER @ 65–90</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 B0</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solidFill>
                      <a:srgbClr val="1E2761"/>
                    </a:solidFill>
                  </a:tcPr>
                </a:tc>
              </a:tr>
              <a:tr h="310896">
                <a:tc>
                  <a:txBody>
                    <a:bodyPr/>
                    <a:lstStyle/>
                    <a:p>
                      <a:pPr algn="l" indent="0" marL="0">
                        <a:buNone/>
                      </a:pPr>
                      <a:r>
                        <a:rPr lang="en-US" sz="1100" dirty="0">
                          <a:solidFill>
                            <a:srgbClr val="232833"/>
                          </a:solidFill>
                          <a:latin typeface="Calibri" pitchFamily="34" charset="0"/>
                          <a:ea typeface="Calibri" pitchFamily="34" charset="-122"/>
                          <a:cs typeface="Calibri" pitchFamily="34" charset="-120"/>
                        </a:rPr>
                        <a:t>B0 (calibrated jets)</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algn="l" indent="0" marL="0">
                        <a:buNone/>
                      </a:pPr>
                      <a:r>
                        <a:rPr lang="en-US" sz="1100" dirty="0">
                          <a:solidFill>
                            <a:srgbClr val="232833"/>
                          </a:solidFill>
                          <a:latin typeface="Calibri" pitchFamily="34" charset="0"/>
                          <a:ea typeface="Calibri" pitchFamily="34" charset="-122"/>
                          <a:cs typeface="Calibri" pitchFamily="34" charset="-120"/>
                        </a:rPr>
                        <a:t>0.230</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algn="l" indent="0" marL="0">
                        <a:buNone/>
                      </a:pPr>
                      <a:r>
                        <a:rPr lang="en-US" sz="1100" dirty="0">
                          <a:solidFill>
                            <a:srgbClr val="232833"/>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310896">
                <a:tc>
                  <a:txBody>
                    <a:bodyPr/>
                    <a:lstStyle/>
                    <a:p>
                      <a:pPr algn="l" indent="0" marL="0">
                        <a:buNone/>
                      </a:pPr>
                      <a:r>
                        <a:rPr lang="en-US" sz="1100" dirty="0">
                          <a:solidFill>
                            <a:srgbClr val="232833"/>
                          </a:solidFill>
                          <a:latin typeface="Calibri" pitchFamily="34" charset="0"/>
                          <a:ea typeface="Calibri" pitchFamily="34" charset="-122"/>
                          <a:cs typeface="Calibri" pitchFamily="34" charset="-120"/>
                        </a:rPr>
                        <a:t>C-graph (cells only)</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algn="l" indent="0" marL="0">
                        <a:buNone/>
                      </a:pPr>
                      <a:r>
                        <a:rPr lang="en-US" sz="1100" dirty="0">
                          <a:solidFill>
                            <a:srgbClr val="232833"/>
                          </a:solidFill>
                          <a:latin typeface="Calibri" pitchFamily="34" charset="0"/>
                          <a:ea typeface="Calibri" pitchFamily="34" charset="-122"/>
                          <a:cs typeface="Calibri" pitchFamily="34" charset="-120"/>
                        </a:rPr>
                        <a:t>0.158</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algn="l" indent="0" marL="0">
                        <a:buNone/>
                      </a:pPr>
                      <a:r>
                        <a:rPr lang="en-US" sz="1100" dirty="0">
                          <a:solidFill>
                            <a:srgbClr val="232833"/>
                          </a:solidFill>
                          <a:latin typeface="Calibri" pitchFamily="34" charset="0"/>
                          <a:ea typeface="Calibri" pitchFamily="34" charset="-122"/>
                          <a:cs typeface="Calibri" pitchFamily="34" charset="-120"/>
                        </a:rPr>
                        <a:t>0.69</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310896">
                <a:tc>
                  <a:txBody>
                    <a:bodyPr/>
                    <a:lstStyle/>
                    <a:p>
                      <a:pPr algn="l" indent="0" marL="0">
                        <a:buNone/>
                      </a:pPr>
                      <a:r>
                        <a:rPr lang="en-US" sz="1100" dirty="0">
                          <a:solidFill>
                            <a:srgbClr val="232833"/>
                          </a:solidFill>
                          <a:latin typeface="Calibri" pitchFamily="34" charset="0"/>
                          <a:ea typeface="Calibri" pitchFamily="34" charset="-122"/>
                          <a:cs typeface="Calibri" pitchFamily="34" charset="-120"/>
                        </a:rPr>
                        <a:t>T (tracks only)</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algn="l" indent="0" marL="0">
                        <a:buNone/>
                      </a:pPr>
                      <a:r>
                        <a:rPr lang="en-US" sz="1100" dirty="0">
                          <a:solidFill>
                            <a:srgbClr val="232833"/>
                          </a:solidFill>
                          <a:latin typeface="Calibri" pitchFamily="34" charset="0"/>
                          <a:ea typeface="Calibri" pitchFamily="34" charset="-122"/>
                          <a:cs typeface="Calibri" pitchFamily="34" charset="-120"/>
                        </a:rPr>
                        <a:t>0.150</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algn="l" indent="0" marL="0">
                        <a:buNone/>
                      </a:pPr>
                      <a:r>
                        <a:rPr lang="en-US" sz="1100" dirty="0">
                          <a:solidFill>
                            <a:srgbClr val="232833"/>
                          </a:solidFill>
                          <a:latin typeface="Calibri" pitchFamily="34" charset="0"/>
                          <a:ea typeface="Calibri" pitchFamily="34" charset="-122"/>
                          <a:cs typeface="Calibri" pitchFamily="34" charset="-120"/>
                        </a:rPr>
                        <a:t>0.65</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310896">
                <a:tc>
                  <a:txBody>
                    <a:bodyPr/>
                    <a:lstStyle/>
                    <a:p>
                      <a:pPr algn="l" indent="0" marL="0">
                        <a:buNone/>
                      </a:pPr>
                      <a:r>
                        <a:rPr lang="en-US" sz="1100" dirty="0">
                          <a:solidFill>
                            <a:srgbClr val="232833"/>
                          </a:solidFill>
                          <a:latin typeface="Calibri" pitchFamily="34" charset="0"/>
                          <a:ea typeface="Calibri" pitchFamily="34" charset="-122"/>
                          <a:cs typeface="Calibri" pitchFamily="34" charset="-120"/>
                        </a:rPr>
                        <a:t>TC-graph</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algn="l" indent="0" marL="0">
                        <a:buNone/>
                      </a:pPr>
                      <a:r>
                        <a:rPr lang="en-US" sz="1100" dirty="0">
                          <a:solidFill>
                            <a:srgbClr val="232833"/>
                          </a:solidFill>
                          <a:latin typeface="Calibri" pitchFamily="34" charset="0"/>
                          <a:ea typeface="Calibri" pitchFamily="34" charset="-122"/>
                          <a:cs typeface="Calibri" pitchFamily="34" charset="-120"/>
                        </a:rPr>
                        <a:t>0.130</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algn="l" indent="0" marL="0">
                        <a:buNone/>
                      </a:pPr>
                      <a:r>
                        <a:rPr lang="en-US" sz="1100" dirty="0">
                          <a:solidFill>
                            <a:srgbClr val="232833"/>
                          </a:solidFill>
                          <a:latin typeface="Calibri" pitchFamily="34" charset="0"/>
                          <a:ea typeface="Calibri" pitchFamily="34" charset="-122"/>
                          <a:cs typeface="Calibri" pitchFamily="34" charset="-120"/>
                        </a:rPr>
                        <a:t>0.57</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310896">
                <a:tc>
                  <a:txBody>
                    <a:bodyPr/>
                    <a:lstStyle/>
                    <a:p>
                      <a:pPr algn="l" indent="0" marL="0">
                        <a:buNone/>
                      </a:pPr>
                      <a:r>
                        <a:rPr lang="en-US" sz="1100" dirty="0">
                          <a:solidFill>
                            <a:srgbClr val="232833"/>
                          </a:solidFill>
                          <a:latin typeface="Calibri" pitchFamily="34" charset="0"/>
                          <a:ea typeface="Calibri" pitchFamily="34" charset="-122"/>
                          <a:cs typeface="Calibri" pitchFamily="34" charset="-120"/>
                        </a:rPr>
                        <a:t>TJ</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algn="l" indent="0" marL="0">
                        <a:buNone/>
                      </a:pPr>
                      <a:r>
                        <a:rPr lang="en-US" sz="1100" dirty="0">
                          <a:solidFill>
                            <a:srgbClr val="232833"/>
                          </a:solidFill>
                          <a:latin typeface="Calibri" pitchFamily="34" charset="0"/>
                          <a:ea typeface="Calibri" pitchFamily="34" charset="-122"/>
                          <a:cs typeface="Calibri" pitchFamily="34" charset="-120"/>
                        </a:rPr>
                        <a:t>0.125</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algn="l" indent="0" marL="0">
                        <a:buNone/>
                      </a:pPr>
                      <a:r>
                        <a:rPr lang="en-US" sz="1100" dirty="0">
                          <a:solidFill>
                            <a:srgbClr val="232833"/>
                          </a:solidFill>
                          <a:latin typeface="Calibri" pitchFamily="34" charset="0"/>
                          <a:ea typeface="Calibri" pitchFamily="34" charset="-122"/>
                          <a:cs typeface="Calibri" pitchFamily="34" charset="-120"/>
                        </a:rPr>
                        <a:t>0.54</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310896">
                <a:tc>
                  <a:txBody>
                    <a:bodyPr/>
                    <a:lstStyle/>
                    <a:p>
                      <a:pPr algn="l" indent="0" marL="0">
                        <a:buNone/>
                      </a:pPr>
                      <a:r>
                        <a:rPr lang="en-US" sz="1100" dirty="0">
                          <a:solidFill>
                            <a:srgbClr val="232833"/>
                          </a:solidFill>
                          <a:latin typeface="Calibri" pitchFamily="34" charset="0"/>
                          <a:ea typeface="Calibri" pitchFamily="34" charset="-122"/>
                          <a:cs typeface="Calibri" pitchFamily="34" charset="-120"/>
                        </a:rPr>
                        <a:t>TJC-set</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algn="l" indent="0" marL="0">
                        <a:buNone/>
                      </a:pPr>
                      <a:r>
                        <a:rPr lang="en-US" sz="1100" dirty="0">
                          <a:solidFill>
                            <a:srgbClr val="232833"/>
                          </a:solidFill>
                          <a:latin typeface="Calibri" pitchFamily="34" charset="0"/>
                          <a:ea typeface="Calibri" pitchFamily="34" charset="-122"/>
                          <a:cs typeface="Calibri" pitchFamily="34" charset="-120"/>
                        </a:rPr>
                        <a:t>0.116</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algn="l" indent="0" marL="0">
                        <a:buNone/>
                      </a:pPr>
                      <a:r>
                        <a:rPr lang="en-US" sz="1100" dirty="0">
                          <a:solidFill>
                            <a:srgbClr val="232833"/>
                          </a:solidFill>
                          <a:latin typeface="Calibri" pitchFamily="34" charset="0"/>
                          <a:ea typeface="Calibri" pitchFamily="34" charset="-122"/>
                          <a:cs typeface="Calibri" pitchFamily="34" charset="-120"/>
                        </a:rPr>
                        <a:t>0.51</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310896">
                <a:tc>
                  <a:txBody>
                    <a:bodyPr/>
                    <a:lstStyle/>
                    <a:p>
                      <a:pPr algn="l" indent="0" marL="0">
                        <a:buNone/>
                      </a:pPr>
                      <a:r>
                        <a:rPr lang="en-US" sz="1100" b="1" dirty="0">
                          <a:solidFill>
                            <a:srgbClr val="232833"/>
                          </a:solidFill>
                          <a:latin typeface="Calibri" pitchFamily="34" charset="0"/>
                          <a:ea typeface="Calibri" pitchFamily="34" charset="-122"/>
                          <a:cs typeface="Calibri" pitchFamily="34" charset="-120"/>
                        </a:rPr>
                        <a:t>TJC-graph</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solidFill>
                      <a:srgbClr val="FDF0DC"/>
                    </a:solidFill>
                  </a:tcPr>
                </a:tc>
                <a:tc>
                  <a:txBody>
                    <a:bodyPr/>
                    <a:lstStyle/>
                    <a:p>
                      <a:pPr algn="l" indent="0" marL="0">
                        <a:buNone/>
                      </a:pPr>
                      <a:r>
                        <a:rPr lang="en-US" sz="1100" b="1" dirty="0">
                          <a:solidFill>
                            <a:srgbClr val="232833"/>
                          </a:solidFill>
                          <a:latin typeface="Calibri" pitchFamily="34" charset="0"/>
                          <a:ea typeface="Calibri" pitchFamily="34" charset="-122"/>
                          <a:cs typeface="Calibri" pitchFamily="34" charset="-120"/>
                        </a:rPr>
                        <a:t>0.115</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solidFill>
                      <a:srgbClr val="FDF0DC"/>
                    </a:solidFill>
                  </a:tcPr>
                </a:tc>
                <a:tc>
                  <a:txBody>
                    <a:bodyPr/>
                    <a:lstStyle/>
                    <a:p>
                      <a:pPr algn="l" indent="0" marL="0">
                        <a:buNone/>
                      </a:pPr>
                      <a:r>
                        <a:rPr lang="en-US" sz="1100" b="1" dirty="0">
                          <a:solidFill>
                            <a:srgbClr val="232833"/>
                          </a:solidFill>
                          <a:latin typeface="Calibri" pitchFamily="34" charset="0"/>
                          <a:ea typeface="Calibri" pitchFamily="34" charset="-122"/>
                          <a:cs typeface="Calibri" pitchFamily="34" charset="-120"/>
                        </a:rPr>
                        <a:t>0.50</a:t>
                      </a:r>
                      <a:endParaRPr lang="en-US" sz="110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solidFill>
                      <a:srgbClr val="FDF0DC"/>
                    </a:solidFill>
                  </a:tcPr>
                </a:tc>
              </a:tr>
            </a:tbl>
          </a:graphicData>
        </a:graphic>
      </p:graphicFrame>
      <p:sp>
        <p:nvSpPr>
          <p:cNvPr id="7" name="Text 3"/>
          <p:cNvSpPr/>
          <p:nvPr/>
        </p:nvSpPr>
        <p:spPr>
          <a:xfrm>
            <a:off x="6172200" y="4023360"/>
            <a:ext cx="5532120" cy="2377440"/>
          </a:xfrm>
          <a:prstGeom prst="rect">
            <a:avLst/>
          </a:prstGeom>
          <a:noFill/>
          <a:ln/>
        </p:spPr>
        <p:txBody>
          <a:bodyPr wrap="square" lIns="0" tIns="0" rIns="0" bIns="0" rtlCol="0" anchor="t"/>
          <a:lstStyle/>
          <a:p>
            <a:pPr marL="127000" indent="-127000">
              <a:lnSpc>
                <a:spcPct val="107000"/>
              </a:lnSpc>
              <a:buSzPct val="100000"/>
              <a:buChar char="•"/>
            </a:pPr>
            <a:r>
              <a:rPr lang="en-US" sz="1200" b="1" dirty="0">
                <a:solidFill>
                  <a:srgbClr val="1E2761"/>
                </a:solidFill>
                <a:latin typeface="Calibri" pitchFamily="34" charset="0"/>
                <a:ea typeface="Calibri" pitchFamily="34" charset="-122"/>
                <a:cs typeface="Calibri" pitchFamily="34" charset="-120"/>
              </a:rPr>
              <a:t>Tracks are the backbone;</a:t>
            </a:r>
            <a:pPr indent="0" marL="0">
              <a:lnSpc>
                <a:spcPct val="107000"/>
              </a:lnSpc>
              <a:spcAft>
                <a:spcPts val="900"/>
              </a:spcAft>
              <a:buNone/>
            </a:pPr>
            <a:r>
              <a:rPr lang="en-US" sz="1200" dirty="0">
                <a:solidFill>
                  <a:srgbClr val="232833"/>
                </a:solidFill>
                <a:latin typeface="Calibri" pitchFamily="34" charset="0"/>
                <a:ea typeface="Calibri" pitchFamily="34" charset="-122"/>
                <a:cs typeface="Calibri" pitchFamily="34" charset="-120"/>
              </a:rPr>
              <a:t> cells pay off only with enough data. At 4 files cells added nothing over TJ — at 17 files they cut JER a further 8% (0.125 → 0.115). Ablation conclusions are scale-dependent.</a:t>
            </a:r>
            <a:endParaRPr lang="en-US" sz="1200" dirty="0"/>
          </a:p>
          <a:p>
            <a:pPr marL="127000" indent="-127000">
              <a:lnSpc>
                <a:spcPct val="107000"/>
              </a:lnSpc>
              <a:buSzPct val="100000"/>
              <a:buChar char="•"/>
            </a:pPr>
            <a:r>
              <a:rPr lang="en-US" sz="1200" b="1" dirty="0">
                <a:solidFill>
                  <a:srgbClr val="1E2761"/>
                </a:solidFill>
                <a:latin typeface="Calibri" pitchFamily="34" charset="0"/>
                <a:ea typeface="Calibri" pitchFamily="34" charset="-122"/>
                <a:cs typeface="Calibri" pitchFamily="34" charset="-120"/>
              </a:rPr>
              <a:t>Jet features still help</a:t>
            </a:r>
            <a:pPr indent="0" marL="0">
              <a:lnSpc>
                <a:spcPct val="107000"/>
              </a:lnSpc>
              <a:spcAft>
                <a:spcPts val="900"/>
              </a:spcAft>
              <a:buNone/>
            </a:pPr>
            <a:r>
              <a:rPr lang="en-US" sz="1200" dirty="0">
                <a:solidFill>
                  <a:srgbClr val="232833"/>
                </a:solidFill>
                <a:latin typeface="Calibri" pitchFamily="34" charset="0"/>
                <a:ea typeface="Calibri" pitchFamily="34" charset="-122"/>
                <a:cs typeface="Calibri" pitchFamily="34" charset="-120"/>
              </a:rPr>
              <a:t> (TC 0.130 → TJC 0.115): “J is learned from the cells” is not yet demonstrated at this scale.</a:t>
            </a:r>
            <a:endParaRPr lang="en-US" sz="1200" dirty="0"/>
          </a:p>
          <a:p>
            <a:pPr marL="127000" indent="-127000">
              <a:lnSpc>
                <a:spcPct val="107000"/>
              </a:lnSpc>
              <a:buSzPct val="100000"/>
              <a:buChar char="•"/>
            </a:pPr>
            <a:r>
              <a:rPr lang="en-US" sz="1200" b="1" dirty="0">
                <a:solidFill>
                  <a:srgbClr val="1E2761"/>
                </a:solidFill>
                <a:latin typeface="Calibri" pitchFamily="34" charset="0"/>
                <a:ea typeface="Calibri" pitchFamily="34" charset="-122"/>
                <a:cs typeface="Calibri" pitchFamily="34" charset="-120"/>
              </a:rPr>
              <a:t>Graph vs set:</a:t>
            </a:r>
            <a:pPr indent="0" marL="0">
              <a:lnSpc>
                <a:spcPct val="107000"/>
              </a:lnSpc>
              <a:spcAft>
                <a:spcPts val="900"/>
              </a:spcAft>
              <a:buNone/>
            </a:pPr>
            <a:r>
              <a:rPr lang="en-US" sz="1200" dirty="0">
                <a:solidFill>
                  <a:srgbClr val="232833"/>
                </a:solidFill>
                <a:latin typeface="Calibri" pitchFamily="34" charset="0"/>
                <a:ea typeface="Calibri" pitchFamily="34" charset="-122"/>
                <a:cs typeface="Calibri" pitchFamily="34" charset="-120"/>
              </a:rPr>
              <a:t> a near-tie at full data (0.115 vs 0.116); the graph mattered most in cell-only and low-data regimes.</a:t>
            </a:r>
            <a:endParaRPr lang="en-US" sz="1200" dirty="0"/>
          </a:p>
        </p:txBody>
      </p:sp>
      <p:sp>
        <p:nvSpPr>
          <p:cNvPr id="8" name="Text 4"/>
          <p:cNvSpPr/>
          <p:nvPr/>
        </p:nvSpPr>
        <p:spPr>
          <a:xfrm>
            <a:off x="502920" y="6510528"/>
            <a:ext cx="4114800" cy="27432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DFM feasibility — UT Arlington · Aug 2026</a:t>
            </a:r>
            <a:endParaRPr lang="en-US" sz="900" dirty="0"/>
          </a:p>
        </p:txBody>
      </p:sp>
      <p:sp>
        <p:nvSpPr>
          <p:cNvPr id="9" name="Text 5"/>
          <p:cNvSpPr/>
          <p:nvPr/>
        </p:nvSpPr>
        <p:spPr>
          <a:xfrm>
            <a:off x="11430000" y="6510528"/>
            <a:ext cx="365760" cy="274320"/>
          </a:xfrm>
          <a:prstGeom prst="rect">
            <a:avLst/>
          </a:prstGeom>
          <a:noFill/>
          <a:ln/>
        </p:spPr>
        <p:txBody>
          <a:bodyPr wrap="square" lIns="0" tIns="0" rIns="0" bIns="0"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56032"/>
            <a:ext cx="11155680" cy="274320"/>
          </a:xfrm>
          <a:prstGeom prst="rect">
            <a:avLst/>
          </a:prstGeom>
          <a:noFill/>
          <a:ln/>
        </p:spPr>
        <p:txBody>
          <a:bodyPr wrap="square" lIns="0" tIns="0" rIns="0" bIns="0" rtlCol="0" anchor="ctr"/>
          <a:lstStyle/>
          <a:p>
            <a:pPr indent="0" marL="0">
              <a:buNone/>
            </a:pPr>
            <a:r>
              <a:rPr lang="en-US" sz="1050" b="1" spc="200" kern="0" dirty="0">
                <a:solidFill>
                  <a:srgbClr val="667085"/>
                </a:solidFill>
                <a:latin typeface="Calibri" pitchFamily="34" charset="0"/>
                <a:ea typeface="Calibri" pitchFamily="34" charset="-122"/>
                <a:cs typeface="Calibri" pitchFamily="34" charset="-120"/>
              </a:rPr>
              <a:t>RESULTS II — CALO PRETRAINING</a:t>
            </a:r>
            <a:endParaRPr lang="en-US" sz="1050" dirty="0"/>
          </a:p>
        </p:txBody>
      </p:sp>
      <p:sp>
        <p:nvSpPr>
          <p:cNvPr id="3" name="Text 1"/>
          <p:cNvSpPr/>
          <p:nvPr/>
        </p:nvSpPr>
        <p:spPr>
          <a:xfrm>
            <a:off x="502920" y="475488"/>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Does self-supervised pretraining transfer?</a:t>
            </a:r>
            <a:endParaRPr lang="en-US" sz="2700" dirty="0"/>
          </a:p>
        </p:txBody>
      </p:sp>
      <p:sp>
        <p:nvSpPr>
          <p:cNvPr id="4" name="Text 2"/>
          <p:cNvSpPr/>
          <p:nvPr/>
        </p:nvSpPr>
        <p:spPr>
          <a:xfrm>
            <a:off x="502920" y="1234440"/>
            <a:ext cx="5760720" cy="4937760"/>
          </a:xfrm>
          <a:prstGeom prst="rect">
            <a:avLst/>
          </a:prstGeom>
          <a:noFill/>
          <a:ln/>
        </p:spPr>
        <p:txBody>
          <a:bodyPr wrap="square" lIns="0" tIns="0" rIns="0" bIns="0" rtlCol="0" anchor="t"/>
          <a:lstStyle/>
          <a:p>
            <a:pPr marL="127000" indent="-127000">
              <a:lnSpc>
                <a:spcPct val="107000"/>
              </a:lnSpc>
              <a:buSzPct val="100000"/>
              <a:buChar char="•"/>
            </a:pPr>
            <a:r>
              <a:rPr lang="en-US" sz="1250" b="1" dirty="0">
                <a:solidFill>
                  <a:srgbClr val="1E2761"/>
                </a:solidFill>
                <a:latin typeface="Calibri" pitchFamily="34" charset="0"/>
                <a:ea typeface="Calibri" pitchFamily="34" charset="-122"/>
                <a:cs typeface="Calibri" pitchFamily="34" charset="-120"/>
              </a:rPr>
              <a:t>Pretext:</a:t>
            </a:r>
            <a:pPr indent="0" marL="0">
              <a:lnSpc>
                <a:spcPct val="107000"/>
              </a:lnSpc>
              <a:spcAft>
                <a:spcPts val="1100"/>
              </a:spcAft>
              <a:buNone/>
            </a:pPr>
            <a:r>
              <a:rPr lang="en-US" sz="1250" dirty="0">
                <a:solidFill>
                  <a:srgbClr val="232833"/>
                </a:solidFill>
                <a:latin typeface="Calibri" pitchFamily="34" charset="0"/>
                <a:ea typeface="Calibri" pitchFamily="34" charset="-122"/>
                <a:cs typeface="Calibri" pitchFamily="34" charset="-120"/>
              </a:rPr>
              <a:t> mask groups of cell tokens on the Calo corpora and reconstruct their features; reconstruction QA validated against truth (Note 01 figure set).</a:t>
            </a:r>
            <a:endParaRPr lang="en-US" sz="1250" dirty="0"/>
          </a:p>
          <a:p>
            <a:pPr marL="127000" indent="-127000">
              <a:lnSpc>
                <a:spcPct val="107000"/>
              </a:lnSpc>
              <a:buSzPct val="100000"/>
              <a:buChar char="•"/>
            </a:pPr>
            <a:r>
              <a:rPr lang="en-US" sz="1250" b="1" dirty="0">
                <a:solidFill>
                  <a:srgbClr val="1E2761"/>
                </a:solidFill>
                <a:latin typeface="Calibri" pitchFamily="34" charset="0"/>
                <a:ea typeface="Calibri" pitchFamily="34" charset="-122"/>
                <a:cs typeface="Calibri" pitchFamily="34" charset="-120"/>
              </a:rPr>
              <a:t>Corpus scale helps:</a:t>
            </a:r>
            <a:pPr indent="0" marL="0">
              <a:lnSpc>
                <a:spcPct val="107000"/>
              </a:lnSpc>
              <a:spcAft>
                <a:spcPts val="1100"/>
              </a:spcAft>
              <a:buNone/>
            </a:pPr>
            <a:r>
              <a:rPr lang="en-US" sz="1250" dirty="0">
                <a:solidFill>
                  <a:srgbClr val="232833"/>
                </a:solidFill>
                <a:latin typeface="Calibri" pitchFamily="34" charset="0"/>
                <a:ea typeface="Calibri" pitchFamily="34" charset="-122"/>
                <a:cs typeface="Calibri" pitchFamily="34" charset="-120"/>
              </a:rPr>
              <a:t> masked-reconstruction validation loss 0.507 (t̄t-only) → 0.347 with the 3-corpus mix (≈14k events).</a:t>
            </a:r>
            <a:endParaRPr lang="en-US" sz="1250" dirty="0"/>
          </a:p>
          <a:p>
            <a:pPr marL="127000" indent="-127000">
              <a:lnSpc>
                <a:spcPct val="107000"/>
              </a:lnSpc>
              <a:buSzPct val="100000"/>
              <a:buChar char="•"/>
            </a:pPr>
            <a:r>
              <a:rPr lang="en-US" sz="1250" b="1" dirty="0">
                <a:solidFill>
                  <a:srgbClr val="1E2761"/>
                </a:solidFill>
                <a:latin typeface="Calibri" pitchFamily="34" charset="0"/>
                <a:ea typeface="Calibri" pitchFamily="34" charset="-122"/>
                <a:cs typeface="Calibri" pitchFamily="34" charset="-120"/>
              </a:rPr>
              <a:t>Transfer is real:</a:t>
            </a:r>
            <a:pPr indent="0" marL="0">
              <a:lnSpc>
                <a:spcPct val="107000"/>
              </a:lnSpc>
              <a:spcAft>
                <a:spcPts val="1100"/>
              </a:spcAft>
              <a:buNone/>
            </a:pPr>
            <a:r>
              <a:rPr lang="en-US" sz="1250" dirty="0">
                <a:solidFill>
                  <a:srgbClr val="232833"/>
                </a:solidFill>
                <a:latin typeface="Calibri" pitchFamily="34" charset="0"/>
                <a:ea typeface="Calibri" pitchFamily="34" charset="-122"/>
                <a:cs typeface="Calibri" pitchFamily="34" charset="-120"/>
              </a:rPr>
              <a:t> a linear probe on the frozen pretrained encoder matches full end-to-end training — JER 0.157 vs 0.158 (cells-only). The representation already carries calibration-relevant structure.</a:t>
            </a:r>
            <a:endParaRPr lang="en-US" sz="1250" dirty="0"/>
          </a:p>
          <a:p>
            <a:pPr marL="127000" indent="-127000">
              <a:lnSpc>
                <a:spcPct val="107000"/>
              </a:lnSpc>
              <a:buSzPct val="100000"/>
              <a:buChar char="•"/>
            </a:pPr>
            <a:r>
              <a:rPr lang="en-US" sz="1250" b="1" dirty="0">
                <a:solidFill>
                  <a:srgbClr val="1E2761"/>
                </a:solidFill>
                <a:latin typeface="Calibri" pitchFamily="34" charset="0"/>
                <a:ea typeface="Calibri" pitchFamily="34" charset="-122"/>
                <a:cs typeface="Calibri" pitchFamily="34" charset="-120"/>
              </a:rPr>
              <a:t>Label efficiency:</a:t>
            </a:r>
            <a:pPr indent="0" marL="0">
              <a:lnSpc>
                <a:spcPct val="107000"/>
              </a:lnSpc>
              <a:spcAft>
                <a:spcPts val="1100"/>
              </a:spcAft>
              <a:buNone/>
            </a:pPr>
            <a:r>
              <a:rPr lang="en-US" sz="1250" dirty="0">
                <a:solidFill>
                  <a:srgbClr val="232833"/>
                </a:solidFill>
                <a:latin typeface="Calibri" pitchFamily="34" charset="0"/>
                <a:ea typeface="Calibri" pitchFamily="34" charset="-122"/>
                <a:cs typeface="Calibri" pitchFamily="34" charset="-120"/>
              </a:rPr>
              <a:t> with 1% / 10% of labels, pretrained initialization is consistently but modestly better (0.156 → 0.154, 0.145 → 0.142).</a:t>
            </a:r>
            <a:endParaRPr lang="en-US" sz="1250" dirty="0"/>
          </a:p>
          <a:p>
            <a:pPr marL="127000" indent="-127000">
              <a:lnSpc>
                <a:spcPct val="107000"/>
              </a:lnSpc>
              <a:buSzPct val="100000"/>
              <a:buChar char="•"/>
            </a:pPr>
            <a:r>
              <a:rPr lang="en-US" sz="1250" b="1" dirty="0">
                <a:solidFill>
                  <a:srgbClr val="1E2761"/>
                </a:solidFill>
                <a:latin typeface="Calibri" pitchFamily="34" charset="0"/>
                <a:ea typeface="Calibri" pitchFamily="34" charset="-122"/>
                <a:cs typeface="Calibri" pitchFamily="34" charset="-120"/>
              </a:rPr>
              <a:t>Caveat:</a:t>
            </a:r>
            <a:pPr indent="0" marL="0">
              <a:lnSpc>
                <a:spcPct val="107000"/>
              </a:lnSpc>
              <a:spcAft>
                <a:spcPts val="1100"/>
              </a:spcAft>
              <a:buNone/>
            </a:pPr>
            <a:r>
              <a:rPr lang="en-US" sz="1250" dirty="0">
                <a:solidFill>
                  <a:srgbClr val="232833"/>
                </a:solidFill>
                <a:latin typeface="Calibri" pitchFamily="34" charset="0"/>
                <a:ea typeface="Calibri" pitchFamily="34" charset="-122"/>
                <a:cs typeface="Calibri" pitchFamily="34" charset="-120"/>
              </a:rPr>
              <a:t> pretraining and fine-tuning samples differ in (unverified) provenance — matched provenance and larger corpora are the obvious next step.</a:t>
            </a:r>
            <a:endParaRPr lang="en-US" sz="1250" dirty="0"/>
          </a:p>
        </p:txBody>
      </p:sp>
      <p:pic>
        <p:nvPicPr>
          <p:cNvPr id="5" name="Image 0" descr="/Users/afarbin/CaloGNN/CaloGraphNet/notes/DFM-NOTE-2026-01-jet-pt-calibration/figures/FF3_label_efficiency.png">    </p:cNvPr>
          <p:cNvPicPr>
            <a:picLocks noChangeAspect="1"/>
          </p:cNvPicPr>
          <p:nvPr/>
        </p:nvPicPr>
        <p:blipFill>
          <a:blip r:embed="rId1"/>
          <a:stretch>
            <a:fillRect/>
          </a:stretch>
        </p:blipFill>
        <p:spPr>
          <a:xfrm>
            <a:off x="6675120" y="1371600"/>
            <a:ext cx="4846320" cy="3736921"/>
          </a:xfrm>
          <a:prstGeom prst="rect">
            <a:avLst/>
          </a:prstGeom>
        </p:spPr>
      </p:pic>
      <p:sp>
        <p:nvSpPr>
          <p:cNvPr id="6" name="Text 3"/>
          <p:cNvSpPr/>
          <p:nvPr/>
        </p:nvSpPr>
        <p:spPr>
          <a:xfrm>
            <a:off x="6675120" y="5212080"/>
            <a:ext cx="4846320" cy="292608"/>
          </a:xfrm>
          <a:prstGeom prst="rect">
            <a:avLst/>
          </a:prstGeom>
          <a:noFill/>
          <a:ln/>
        </p:spPr>
        <p:txBody>
          <a:bodyPr wrap="square" lIns="0" tIns="0" rIns="0" bIns="0" rtlCol="0" anchor="ctr"/>
          <a:lstStyle/>
          <a:p>
            <a:pPr indent="0" marL="0">
              <a:buNone/>
            </a:pPr>
            <a:r>
              <a:rPr lang="en-US" sz="1000" i="1" dirty="0">
                <a:solidFill>
                  <a:srgbClr val="667085"/>
                </a:solidFill>
                <a:latin typeface="Calibri" pitchFamily="34" charset="0"/>
                <a:ea typeface="Calibri" pitchFamily="34" charset="-122"/>
                <a:cs typeface="Calibri" pitchFamily="34" charset="-120"/>
              </a:rPr>
              <a:t>Label-efficiency scan: pretrained vs from-scratch at 1%, 10%, 100% of labels.</a:t>
            </a:r>
            <a:endParaRPr lang="en-US" sz="1000" dirty="0"/>
          </a:p>
        </p:txBody>
      </p:sp>
      <p:sp>
        <p:nvSpPr>
          <p:cNvPr id="7" name="Text 4"/>
          <p:cNvSpPr/>
          <p:nvPr/>
        </p:nvSpPr>
        <p:spPr>
          <a:xfrm>
            <a:off x="502920" y="6510528"/>
            <a:ext cx="4114800" cy="27432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DFM feasibility — UT Arlington · Aug 2026</a:t>
            </a:r>
            <a:endParaRPr lang="en-US" sz="900" dirty="0"/>
          </a:p>
        </p:txBody>
      </p:sp>
      <p:sp>
        <p:nvSpPr>
          <p:cNvPr id="8" name="Text 5"/>
          <p:cNvSpPr/>
          <p:nvPr/>
        </p:nvSpPr>
        <p:spPr>
          <a:xfrm>
            <a:off x="11430000" y="6510528"/>
            <a:ext cx="365760" cy="274320"/>
          </a:xfrm>
          <a:prstGeom prst="rect">
            <a:avLst/>
          </a:prstGeom>
          <a:noFill/>
          <a:ln/>
        </p:spPr>
        <p:txBody>
          <a:bodyPr wrap="square" lIns="0" tIns="0" rIns="0" bIns="0"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56032"/>
            <a:ext cx="11155680" cy="274320"/>
          </a:xfrm>
          <a:prstGeom prst="rect">
            <a:avLst/>
          </a:prstGeom>
          <a:noFill/>
          <a:ln/>
        </p:spPr>
        <p:txBody>
          <a:bodyPr wrap="square" lIns="0" tIns="0" rIns="0" bIns="0" rtlCol="0" anchor="ctr"/>
          <a:lstStyle/>
          <a:p>
            <a:pPr indent="0" marL="0">
              <a:buNone/>
            </a:pPr>
            <a:r>
              <a:rPr lang="en-US" sz="1050" b="1" spc="200" kern="0" dirty="0">
                <a:solidFill>
                  <a:srgbClr val="667085"/>
                </a:solidFill>
                <a:latin typeface="Calibri" pitchFamily="34" charset="0"/>
                <a:ea typeface="Calibri" pitchFamily="34" charset="-122"/>
                <a:cs typeface="Calibri" pitchFamily="34" charset="-120"/>
              </a:rPr>
              <a:t>RESULTS III — FLAVOR &amp; PANOPTIC (QUICK TOUR)</a:t>
            </a:r>
            <a:endParaRPr lang="en-US" sz="1050" dirty="0"/>
          </a:p>
        </p:txBody>
      </p:sp>
      <p:sp>
        <p:nvSpPr>
          <p:cNvPr id="3" name="Text 1"/>
          <p:cNvSpPr/>
          <p:nvPr/>
        </p:nvSpPr>
        <p:spPr>
          <a:xfrm>
            <a:off x="502920" y="475488"/>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One model for flavors — one head for tagging + calibration</a:t>
            </a:r>
            <a:endParaRPr lang="en-US" sz="2700" dirty="0"/>
          </a:p>
        </p:txBody>
      </p:sp>
      <p:sp>
        <p:nvSpPr>
          <p:cNvPr id="4" name="Text 2"/>
          <p:cNvSpPr/>
          <p:nvPr/>
        </p:nvSpPr>
        <p:spPr>
          <a:xfrm>
            <a:off x="502920" y="1188720"/>
            <a:ext cx="5760720" cy="2743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T1 — flavor-aware calibration (Note 02)</a:t>
            </a:r>
            <a:endParaRPr lang="en-US" sz="1400" dirty="0"/>
          </a:p>
        </p:txBody>
      </p:sp>
      <p:sp>
        <p:nvSpPr>
          <p:cNvPr id="5" name="Text 3"/>
          <p:cNvSpPr/>
          <p:nvPr/>
        </p:nvSpPr>
        <p:spPr>
          <a:xfrm>
            <a:off x="502920" y="1536192"/>
            <a:ext cx="5760720" cy="2011680"/>
          </a:xfrm>
          <a:prstGeom prst="rect">
            <a:avLst/>
          </a:prstGeom>
          <a:noFill/>
          <a:ln/>
        </p:spPr>
        <p:txBody>
          <a:bodyPr wrap="square" lIns="0" tIns="0" rIns="0" bIns="0" rtlCol="0" anchor="t"/>
          <a:lstStyle/>
          <a:p>
            <a:pPr marL="127000" indent="-127000">
              <a:lnSpc>
                <a:spcPct val="106000"/>
              </a:lnSpc>
              <a:spcAft>
                <a:spcPts val="600"/>
              </a:spcAft>
              <a:buSzPct val="100000"/>
              <a:buChar char="•"/>
            </a:pPr>
            <a:r>
              <a:rPr lang="en-US" sz="1200" dirty="0">
                <a:solidFill>
                  <a:srgbClr val="232833"/>
                </a:solidFill>
                <a:latin typeface="Calibri" pitchFamily="34" charset="0"/>
                <a:ea typeface="Calibri" pitchFamily="34" charset="-122"/>
                <a:cs typeface="Calibri" pitchFamily="34" charset="-120"/>
              </a:rPr>
              <a:t>Dedicated per-flavor models lose to one shared model — JER c: 0.154 → 0.131, b: 0.138 → 0.128: cross-flavor statistics beat specialization at 10⁶ jets</a:t>
            </a:r>
            <a:endParaRPr lang="en-US" sz="1200" dirty="0"/>
          </a:p>
          <a:p>
            <a:pPr marL="127000" indent="-127000">
              <a:lnSpc>
                <a:spcPct val="106000"/>
              </a:lnSpc>
              <a:spcAft>
                <a:spcPts val="600"/>
              </a:spcAft>
              <a:buSzPct val="100000"/>
              <a:buChar char="•"/>
            </a:pPr>
            <a:r>
              <a:rPr lang="en-US" sz="1200" dirty="0">
                <a:solidFill>
                  <a:srgbClr val="232833"/>
                </a:solidFill>
                <a:latin typeface="Calibri" pitchFamily="34" charset="0"/>
                <a:ea typeface="Calibri" pitchFamily="34" charset="-122"/>
                <a:cs typeface="Calibri" pitchFamily="34" charset="-120"/>
              </a:rPr>
              <a:t>Flavor-conditioned shared model is best overall (closure 3.9%)</a:t>
            </a:r>
            <a:endParaRPr lang="en-US" sz="1200" dirty="0"/>
          </a:p>
          <a:p>
            <a:pPr marL="127000" indent="-127000">
              <a:lnSpc>
                <a:spcPct val="106000"/>
              </a:lnSpc>
              <a:spcAft>
                <a:spcPts val="600"/>
              </a:spcAft>
              <a:buSzPct val="100000"/>
              <a:buChar char="•"/>
            </a:pPr>
            <a:r>
              <a:rPr lang="en-US" sz="1200" dirty="0">
                <a:solidFill>
                  <a:srgbClr val="232833"/>
                </a:solidFill>
                <a:latin typeface="Calibri" pitchFamily="34" charset="0"/>
                <a:ea typeface="Calibri" pitchFamily="34" charset="-122"/>
                <a:cs typeface="Calibri" pitchFamily="34" charset="-120"/>
              </a:rPr>
              <a:t>b-response shoulder = semileptonic decays (physics, not a model artifact) → motivates mixture-density heads</a:t>
            </a:r>
            <a:endParaRPr lang="en-US" sz="1200" dirty="0"/>
          </a:p>
        </p:txBody>
      </p:sp>
      <p:sp>
        <p:nvSpPr>
          <p:cNvPr id="6" name="Text 4"/>
          <p:cNvSpPr/>
          <p:nvPr/>
        </p:nvSpPr>
        <p:spPr>
          <a:xfrm>
            <a:off x="502920" y="3703320"/>
            <a:ext cx="5760720" cy="2743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T2 — panoptic reconstruction (Note 03)</a:t>
            </a:r>
            <a:endParaRPr lang="en-US" sz="1400" dirty="0"/>
          </a:p>
        </p:txBody>
      </p:sp>
      <p:sp>
        <p:nvSpPr>
          <p:cNvPr id="7" name="Text 5"/>
          <p:cNvSpPr/>
          <p:nvPr/>
        </p:nvSpPr>
        <p:spPr>
          <a:xfrm>
            <a:off x="502920" y="4050792"/>
            <a:ext cx="5760720" cy="2194560"/>
          </a:xfrm>
          <a:prstGeom prst="rect">
            <a:avLst/>
          </a:prstGeom>
          <a:noFill/>
          <a:ln/>
        </p:spPr>
        <p:txBody>
          <a:bodyPr wrap="square" lIns="0" tIns="0" rIns="0" bIns="0" rtlCol="0" anchor="t"/>
          <a:lstStyle/>
          <a:p>
            <a:pPr marL="127000" indent="-127000">
              <a:lnSpc>
                <a:spcPct val="106000"/>
              </a:lnSpc>
              <a:spcAft>
                <a:spcPts val="600"/>
              </a:spcAft>
              <a:buSzPct val="100000"/>
              <a:buChar char="•"/>
            </a:pPr>
            <a:r>
              <a:rPr lang="en-US" sz="1200" dirty="0">
                <a:solidFill>
                  <a:srgbClr val="232833"/>
                </a:solidFill>
                <a:latin typeface="Calibri" pitchFamily="34" charset="0"/>
                <a:ea typeface="Calibri" pitchFamily="34" charset="-122"/>
                <a:cs typeface="Calibri" pitchFamily="34" charset="-120"/>
              </a:rPr>
              <a:t>One head outputs (p_b, p_c, p_light, μ, σ) — tagging and calibration jointly</a:t>
            </a:r>
            <a:endParaRPr lang="en-US" sz="1200" dirty="0"/>
          </a:p>
          <a:p>
            <a:pPr marL="127000" indent="-127000">
              <a:lnSpc>
                <a:spcPct val="106000"/>
              </a:lnSpc>
              <a:spcAft>
                <a:spcPts val="600"/>
              </a:spcAft>
              <a:buSzPct val="100000"/>
              <a:buChar char="•"/>
            </a:pPr>
            <a:r>
              <a:rPr lang="en-US" sz="1200" dirty="0">
                <a:solidFill>
                  <a:srgbClr val="232833"/>
                </a:solidFill>
                <a:latin typeface="Calibri" pitchFamily="34" charset="0"/>
                <a:ea typeface="Calibri" pitchFamily="34" charset="-122"/>
                <a:cs typeface="Calibri" pitchFamily="34" charset="-120"/>
              </a:rPr>
              <a:t>AUC(b) 0.941 ± 0.001 vs 0.939 for an identical dedicated tagger; light rejection 117 ± 5 at the 70% WP; c-rejection consistently better</a:t>
            </a:r>
            <a:endParaRPr lang="en-US" sz="1200" dirty="0"/>
          </a:p>
          <a:p>
            <a:pPr marL="127000" indent="-127000">
              <a:lnSpc>
                <a:spcPct val="106000"/>
              </a:lnSpc>
              <a:spcAft>
                <a:spcPts val="600"/>
              </a:spcAft>
              <a:buSzPct val="100000"/>
              <a:buChar char="•"/>
            </a:pPr>
            <a:r>
              <a:rPr lang="en-US" sz="1200" dirty="0">
                <a:solidFill>
                  <a:srgbClr val="232833"/>
                </a:solidFill>
                <a:latin typeface="Calibri" pitchFamily="34" charset="0"/>
                <a:ea typeface="Calibri" pitchFamily="34" charset="-122"/>
                <a:cs typeface="Calibri" pitchFamily="34" charset="-120"/>
              </a:rPr>
              <a:t>Calibration within ~2% of the truth-conditioned optimum (JER 0.126 vs 0.123) — the model supplies its own conditioning signal</a:t>
            </a:r>
            <a:endParaRPr lang="en-US" sz="1200" dirty="0"/>
          </a:p>
        </p:txBody>
      </p:sp>
      <p:pic>
        <p:nvPicPr>
          <p:cNvPr id="8" name="Image 0" descr="/Users/afarbin/CaloGNN/CaloGraphNet/notes/DFM-NOTE-2026-02-flavor-calibration/figures/FP4_b_bimodality.png">    </p:cNvPr>
          <p:cNvPicPr>
            <a:picLocks noChangeAspect="1"/>
          </p:cNvPicPr>
          <p:nvPr/>
        </p:nvPicPr>
        <p:blipFill>
          <a:blip r:embed="rId1"/>
          <a:stretch>
            <a:fillRect/>
          </a:stretch>
        </p:blipFill>
        <p:spPr>
          <a:xfrm>
            <a:off x="7223760" y="1188720"/>
            <a:ext cx="3246120" cy="2448238"/>
          </a:xfrm>
          <a:prstGeom prst="rect">
            <a:avLst/>
          </a:prstGeom>
        </p:spPr>
      </p:pic>
      <p:sp>
        <p:nvSpPr>
          <p:cNvPr id="9" name="Text 6"/>
          <p:cNvSpPr/>
          <p:nvPr/>
        </p:nvSpPr>
        <p:spPr>
          <a:xfrm>
            <a:off x="7223760" y="3657600"/>
            <a:ext cx="3840480" cy="292608"/>
          </a:xfrm>
          <a:prstGeom prst="rect">
            <a:avLst/>
          </a:prstGeom>
          <a:noFill/>
          <a:ln/>
        </p:spPr>
        <p:txBody>
          <a:bodyPr wrap="square" lIns="0" tIns="0" rIns="0" bIns="0" rtlCol="0" anchor="ctr"/>
          <a:lstStyle/>
          <a:p>
            <a:pPr indent="0" marL="0">
              <a:buNone/>
            </a:pPr>
            <a:r>
              <a:rPr lang="en-US" sz="1000" i="1" dirty="0">
                <a:solidFill>
                  <a:srgbClr val="667085"/>
                </a:solidFill>
                <a:latin typeface="Calibri" pitchFamily="34" charset="0"/>
                <a:ea typeface="Calibri" pitchFamily="34" charset="-122"/>
                <a:cs typeface="Calibri" pitchFamily="34" charset="-120"/>
              </a:rPr>
              <a:t>b-jet response: the semileptonic shoulder.</a:t>
            </a:r>
            <a:endParaRPr lang="en-US" sz="1000" dirty="0"/>
          </a:p>
        </p:txBody>
      </p:sp>
      <p:pic>
        <p:nvPicPr>
          <p:cNvPr id="10" name="Image 1" descr="/Users/afarbin/CaloGNN/CaloGraphNet/notes/DFM-NOTE-2026-03-panoptic-tagging-calibration/figures/T2A_rejection_curves.png">    </p:cNvPr>
          <p:cNvPicPr>
            <a:picLocks noChangeAspect="1"/>
          </p:cNvPicPr>
          <p:nvPr/>
        </p:nvPicPr>
        <p:blipFill>
          <a:blip r:embed="rId2"/>
          <a:stretch>
            <a:fillRect/>
          </a:stretch>
        </p:blipFill>
        <p:spPr>
          <a:xfrm>
            <a:off x="6675120" y="4023360"/>
            <a:ext cx="4892040" cy="2216470"/>
          </a:xfrm>
          <a:prstGeom prst="rect">
            <a:avLst/>
          </a:prstGeom>
        </p:spPr>
      </p:pic>
      <p:sp>
        <p:nvSpPr>
          <p:cNvPr id="11" name="Text 7"/>
          <p:cNvSpPr/>
          <p:nvPr/>
        </p:nvSpPr>
        <p:spPr>
          <a:xfrm>
            <a:off x="6675120" y="6272784"/>
            <a:ext cx="5120640" cy="292608"/>
          </a:xfrm>
          <a:prstGeom prst="rect">
            <a:avLst/>
          </a:prstGeom>
          <a:noFill/>
          <a:ln/>
        </p:spPr>
        <p:txBody>
          <a:bodyPr wrap="square" lIns="0" tIns="0" rIns="0" bIns="0" rtlCol="0" anchor="ctr"/>
          <a:lstStyle/>
          <a:p>
            <a:pPr indent="0" marL="0">
              <a:buNone/>
            </a:pPr>
            <a:r>
              <a:rPr lang="en-US" sz="1000" i="1" dirty="0">
                <a:solidFill>
                  <a:srgbClr val="667085"/>
                </a:solidFill>
                <a:latin typeface="Calibri" pitchFamily="34" charset="0"/>
                <a:ea typeface="Calibri" pitchFamily="34" charset="-122"/>
                <a:cs typeface="Calibri" pitchFamily="34" charset="-120"/>
              </a:rPr>
              <a:t>Background rejection vs b-efficiency: panoptic = dedicated tagger.</a:t>
            </a:r>
            <a:endParaRPr lang="en-US" sz="1000" dirty="0"/>
          </a:p>
        </p:txBody>
      </p:sp>
      <p:sp>
        <p:nvSpPr>
          <p:cNvPr id="12" name="Text 8"/>
          <p:cNvSpPr/>
          <p:nvPr/>
        </p:nvSpPr>
        <p:spPr>
          <a:xfrm>
            <a:off x="502920" y="6510528"/>
            <a:ext cx="4114800" cy="27432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DFM feasibility — UT Arlington · Aug 2026</a:t>
            </a:r>
            <a:endParaRPr lang="en-US" sz="900" dirty="0"/>
          </a:p>
        </p:txBody>
      </p:sp>
      <p:sp>
        <p:nvSpPr>
          <p:cNvPr id="13" name="Text 9"/>
          <p:cNvSpPr/>
          <p:nvPr/>
        </p:nvSpPr>
        <p:spPr>
          <a:xfrm>
            <a:off x="11430000" y="6510528"/>
            <a:ext cx="365760" cy="274320"/>
          </a:xfrm>
          <a:prstGeom prst="rect">
            <a:avLst/>
          </a:prstGeom>
          <a:noFill/>
          <a:ln/>
        </p:spPr>
        <p:txBody>
          <a:bodyPr wrap="square" lIns="0" tIns="0" rIns="0" bIns="0"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02920" y="256032"/>
            <a:ext cx="11155680" cy="274320"/>
          </a:xfrm>
          <a:prstGeom prst="rect">
            <a:avLst/>
          </a:prstGeom>
          <a:noFill/>
          <a:ln/>
        </p:spPr>
        <p:txBody>
          <a:bodyPr wrap="square" lIns="0" tIns="0" rIns="0" bIns="0" rtlCol="0" anchor="ctr"/>
          <a:lstStyle/>
          <a:p>
            <a:pPr indent="0" marL="0">
              <a:buNone/>
            </a:pPr>
            <a:r>
              <a:rPr lang="en-US" sz="1050" b="1" spc="200" kern="0" dirty="0">
                <a:solidFill>
                  <a:srgbClr val="8FA3C8"/>
                </a:solidFill>
                <a:latin typeface="Calibri" pitchFamily="34" charset="0"/>
                <a:ea typeface="Calibri" pitchFamily="34" charset="-122"/>
                <a:cs typeface="Calibri" pitchFamily="34" charset="-120"/>
              </a:rPr>
              <a:t>WRAP-UP</a:t>
            </a:r>
            <a:endParaRPr lang="en-US" sz="1050" dirty="0"/>
          </a:p>
        </p:txBody>
      </p:sp>
      <p:sp>
        <p:nvSpPr>
          <p:cNvPr id="3" name="Text 1"/>
          <p:cNvSpPr/>
          <p:nvPr/>
        </p:nvSpPr>
        <p:spPr>
          <a:xfrm>
            <a:off x="502920" y="475488"/>
            <a:ext cx="11155680" cy="566928"/>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Lessons learned — and where this goes</a:t>
            </a:r>
            <a:endParaRPr lang="en-US" sz="2700" dirty="0"/>
          </a:p>
        </p:txBody>
      </p:sp>
      <p:sp>
        <p:nvSpPr>
          <p:cNvPr id="4" name="Shape 2"/>
          <p:cNvSpPr/>
          <p:nvPr/>
        </p:nvSpPr>
        <p:spPr>
          <a:xfrm>
            <a:off x="502920" y="1252728"/>
            <a:ext cx="310896" cy="310896"/>
          </a:xfrm>
          <a:prstGeom prst="ellipse">
            <a:avLst/>
          </a:prstGeom>
          <a:solidFill>
            <a:srgbClr val="E8A33D"/>
          </a:solidFill>
          <a:ln w="12700">
            <a:solidFill>
              <a:srgbClr val="E8A33D"/>
            </a:solidFill>
            <a:prstDash val="solid"/>
          </a:ln>
        </p:spPr>
      </p:sp>
      <p:sp>
        <p:nvSpPr>
          <p:cNvPr id="5" name="Text 3"/>
          <p:cNvSpPr/>
          <p:nvPr/>
        </p:nvSpPr>
        <p:spPr>
          <a:xfrm>
            <a:off x="502920" y="1252728"/>
            <a:ext cx="310896" cy="310896"/>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960120" y="1234440"/>
            <a:ext cx="5577840" cy="777240"/>
          </a:xfrm>
          <a:prstGeom prst="rect">
            <a:avLst/>
          </a:prstGeom>
          <a:noFill/>
          <a:ln/>
        </p:spPr>
        <p:txBody>
          <a:bodyPr wrap="square" lIns="0" tIns="0" rIns="0" bIns="0"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Geometry bridges formats exactly — </a:t>
            </a:r>
            <a:pPr indent="0" marL="0">
              <a:lnSpc>
                <a:spcPct val="105000"/>
              </a:lnSpc>
              <a:buNone/>
            </a:pPr>
            <a:r>
              <a:rPr lang="en-US" sz="1250" dirty="0">
                <a:solidFill>
                  <a:srgbClr val="CADCFC"/>
                </a:solidFill>
                <a:latin typeface="Calibri" pitchFamily="34" charset="0"/>
                <a:ea typeface="Calibri" pitchFamily="34" charset="-122"/>
                <a:cs typeface="Calibri" pitchFamily="34" charset="-120"/>
              </a:rPr>
              <a:t>the neighbor graph transfers; two codebases now share one encoder.</a:t>
            </a:r>
            <a:endParaRPr lang="en-US" sz="1250" dirty="0"/>
          </a:p>
        </p:txBody>
      </p:sp>
      <p:sp>
        <p:nvSpPr>
          <p:cNvPr id="7" name="Shape 5"/>
          <p:cNvSpPr/>
          <p:nvPr/>
        </p:nvSpPr>
        <p:spPr>
          <a:xfrm>
            <a:off x="502920" y="2093976"/>
            <a:ext cx="310896" cy="310896"/>
          </a:xfrm>
          <a:prstGeom prst="ellipse">
            <a:avLst/>
          </a:prstGeom>
          <a:solidFill>
            <a:srgbClr val="E8A33D"/>
          </a:solidFill>
          <a:ln w="12700">
            <a:solidFill>
              <a:srgbClr val="E8A33D"/>
            </a:solidFill>
            <a:prstDash val="solid"/>
          </a:ln>
        </p:spPr>
      </p:sp>
      <p:sp>
        <p:nvSpPr>
          <p:cNvPr id="8" name="Text 6"/>
          <p:cNvSpPr/>
          <p:nvPr/>
        </p:nvSpPr>
        <p:spPr>
          <a:xfrm>
            <a:off x="502920" y="2093976"/>
            <a:ext cx="310896" cy="310896"/>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960120" y="2075688"/>
            <a:ext cx="5577840" cy="777240"/>
          </a:xfrm>
          <a:prstGeom prst="rect">
            <a:avLst/>
          </a:prstGeom>
          <a:noFill/>
          <a:ln/>
        </p:spPr>
        <p:txBody>
          <a:bodyPr wrap="square" lIns="0" tIns="0" rIns="0" bIns="0"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ML calibration halves JER — </a:t>
            </a:r>
            <a:pPr indent="0" marL="0">
              <a:lnSpc>
                <a:spcPct val="105000"/>
              </a:lnSpc>
              <a:buNone/>
            </a:pPr>
            <a:r>
              <a:rPr lang="en-US" sz="1250" dirty="0">
                <a:solidFill>
                  <a:srgbClr val="CADCFC"/>
                </a:solidFill>
                <a:latin typeface="Calibri" pitchFamily="34" charset="0"/>
                <a:ea typeface="Calibri" pitchFamily="34" charset="-122"/>
                <a:cs typeface="Calibri" pitchFamily="34" charset="-120"/>
              </a:rPr>
              <a:t>0.115 vs 0.230 at 65–90 GeV against the stored calibrated jets (indicative comparison).</a:t>
            </a:r>
            <a:endParaRPr lang="en-US" sz="1250" dirty="0"/>
          </a:p>
        </p:txBody>
      </p:sp>
      <p:sp>
        <p:nvSpPr>
          <p:cNvPr id="10" name="Shape 8"/>
          <p:cNvSpPr/>
          <p:nvPr/>
        </p:nvSpPr>
        <p:spPr>
          <a:xfrm>
            <a:off x="502920" y="2935224"/>
            <a:ext cx="310896" cy="310896"/>
          </a:xfrm>
          <a:prstGeom prst="ellipse">
            <a:avLst/>
          </a:prstGeom>
          <a:solidFill>
            <a:srgbClr val="E8A33D"/>
          </a:solidFill>
          <a:ln w="12700">
            <a:solidFill>
              <a:srgbClr val="E8A33D"/>
            </a:solidFill>
            <a:prstDash val="solid"/>
          </a:ln>
        </p:spPr>
      </p:sp>
      <p:sp>
        <p:nvSpPr>
          <p:cNvPr id="11" name="Text 9"/>
          <p:cNvSpPr/>
          <p:nvPr/>
        </p:nvSpPr>
        <p:spPr>
          <a:xfrm>
            <a:off x="502920" y="2935224"/>
            <a:ext cx="310896" cy="310896"/>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960120" y="2916936"/>
            <a:ext cx="5577840" cy="777240"/>
          </a:xfrm>
          <a:prstGeom prst="rect">
            <a:avLst/>
          </a:prstGeom>
          <a:noFill/>
          <a:ln/>
        </p:spPr>
        <p:txBody>
          <a:bodyPr wrap="square" lIns="0" tIns="0" rIns="0" bIns="0"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Ablations are scale-dependent — </a:t>
            </a:r>
            <a:pPr indent="0" marL="0">
              <a:lnSpc>
                <a:spcPct val="105000"/>
              </a:lnSpc>
              <a:buNone/>
            </a:pPr>
            <a:r>
              <a:rPr lang="en-US" sz="1250" dirty="0">
                <a:solidFill>
                  <a:srgbClr val="CADCFC"/>
                </a:solidFill>
                <a:latin typeface="Calibri" pitchFamily="34" charset="0"/>
                <a:ea typeface="Calibri" pitchFamily="34" charset="-122"/>
                <a:cs typeface="Calibri" pitchFamily="34" charset="-120"/>
              </a:rPr>
              <a:t>cells looked useless at 4 files, essential at 17 — beware small-sample conclusions.</a:t>
            </a:r>
            <a:endParaRPr lang="en-US" sz="1250" dirty="0"/>
          </a:p>
        </p:txBody>
      </p:sp>
      <p:sp>
        <p:nvSpPr>
          <p:cNvPr id="13" name="Shape 11"/>
          <p:cNvSpPr/>
          <p:nvPr/>
        </p:nvSpPr>
        <p:spPr>
          <a:xfrm>
            <a:off x="502920" y="3776472"/>
            <a:ext cx="310896" cy="310896"/>
          </a:xfrm>
          <a:prstGeom prst="ellipse">
            <a:avLst/>
          </a:prstGeom>
          <a:solidFill>
            <a:srgbClr val="E8A33D"/>
          </a:solidFill>
          <a:ln w="12700">
            <a:solidFill>
              <a:srgbClr val="E8A33D"/>
            </a:solidFill>
            <a:prstDash val="solid"/>
          </a:ln>
        </p:spPr>
      </p:sp>
      <p:sp>
        <p:nvSpPr>
          <p:cNvPr id="14" name="Text 12"/>
          <p:cNvSpPr/>
          <p:nvPr/>
        </p:nvSpPr>
        <p:spPr>
          <a:xfrm>
            <a:off x="502920" y="3776472"/>
            <a:ext cx="310896" cy="310896"/>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960120" y="3758184"/>
            <a:ext cx="5577840" cy="777240"/>
          </a:xfrm>
          <a:prstGeom prst="rect">
            <a:avLst/>
          </a:prstGeom>
          <a:noFill/>
          <a:ln/>
        </p:spPr>
        <p:txBody>
          <a:bodyPr wrap="square" lIns="0" tIns="0" rIns="0" bIns="0"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Pretraining transfers — </a:t>
            </a:r>
            <a:pPr indent="0" marL="0">
              <a:lnSpc>
                <a:spcPct val="105000"/>
              </a:lnSpc>
              <a:buNone/>
            </a:pPr>
            <a:r>
              <a:rPr lang="en-US" sz="1250" dirty="0">
                <a:solidFill>
                  <a:srgbClr val="CADCFC"/>
                </a:solidFill>
                <a:latin typeface="Calibri" pitchFamily="34" charset="0"/>
                <a:ea typeface="Calibri" pitchFamily="34" charset="-122"/>
                <a:cs typeface="Calibri" pitchFamily="34" charset="-120"/>
              </a:rPr>
              <a:t>a linear probe matches full training; corpus diversity helps; gains modest so far.</a:t>
            </a:r>
            <a:endParaRPr lang="en-US" sz="1250" dirty="0"/>
          </a:p>
        </p:txBody>
      </p:sp>
      <p:sp>
        <p:nvSpPr>
          <p:cNvPr id="16" name="Shape 14"/>
          <p:cNvSpPr/>
          <p:nvPr/>
        </p:nvSpPr>
        <p:spPr>
          <a:xfrm>
            <a:off x="502920" y="4617720"/>
            <a:ext cx="310896" cy="310896"/>
          </a:xfrm>
          <a:prstGeom prst="ellipse">
            <a:avLst/>
          </a:prstGeom>
          <a:solidFill>
            <a:srgbClr val="E8A33D"/>
          </a:solidFill>
          <a:ln w="12700">
            <a:solidFill>
              <a:srgbClr val="E8A33D"/>
            </a:solidFill>
            <a:prstDash val="solid"/>
          </a:ln>
        </p:spPr>
      </p:sp>
      <p:sp>
        <p:nvSpPr>
          <p:cNvPr id="17" name="Text 15"/>
          <p:cNvSpPr/>
          <p:nvPr/>
        </p:nvSpPr>
        <p:spPr>
          <a:xfrm>
            <a:off x="502920" y="4617720"/>
            <a:ext cx="310896" cy="310896"/>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5</a:t>
            </a:r>
            <a:endParaRPr lang="en-US" sz="1300" dirty="0"/>
          </a:p>
        </p:txBody>
      </p:sp>
      <p:sp>
        <p:nvSpPr>
          <p:cNvPr id="18" name="Text 16"/>
          <p:cNvSpPr/>
          <p:nvPr/>
        </p:nvSpPr>
        <p:spPr>
          <a:xfrm>
            <a:off x="960120" y="4599432"/>
            <a:ext cx="5577840" cy="777240"/>
          </a:xfrm>
          <a:prstGeom prst="rect">
            <a:avLst/>
          </a:prstGeom>
          <a:noFill/>
          <a:ln/>
        </p:spPr>
        <p:txBody>
          <a:bodyPr wrap="square" lIns="0" tIns="0" rIns="0" bIns="0"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Sharing beats specializing — </a:t>
            </a:r>
            <a:pPr indent="0" marL="0">
              <a:lnSpc>
                <a:spcPct val="105000"/>
              </a:lnSpc>
              <a:buNone/>
            </a:pPr>
            <a:r>
              <a:rPr lang="en-US" sz="1250" dirty="0">
                <a:solidFill>
                  <a:srgbClr val="CADCFC"/>
                </a:solidFill>
                <a:latin typeface="Calibri" pitchFamily="34" charset="0"/>
                <a:ea typeface="Calibri" pitchFamily="34" charset="-122"/>
                <a:cs typeface="Calibri" pitchFamily="34" charset="-120"/>
              </a:rPr>
              <a:t>one model for all flavors, one head for tagging + calibration, at no cost.</a:t>
            </a:r>
            <a:endParaRPr lang="en-US" sz="1250" dirty="0"/>
          </a:p>
        </p:txBody>
      </p:sp>
      <p:sp>
        <p:nvSpPr>
          <p:cNvPr id="19" name="Shape 17"/>
          <p:cNvSpPr/>
          <p:nvPr/>
        </p:nvSpPr>
        <p:spPr>
          <a:xfrm>
            <a:off x="502920" y="5458968"/>
            <a:ext cx="310896" cy="310896"/>
          </a:xfrm>
          <a:prstGeom prst="ellipse">
            <a:avLst/>
          </a:prstGeom>
          <a:solidFill>
            <a:srgbClr val="E8A33D"/>
          </a:solidFill>
          <a:ln w="12700">
            <a:solidFill>
              <a:srgbClr val="E8A33D"/>
            </a:solidFill>
            <a:prstDash val="solid"/>
          </a:ln>
        </p:spPr>
      </p:sp>
      <p:sp>
        <p:nvSpPr>
          <p:cNvPr id="20" name="Text 18"/>
          <p:cNvSpPr/>
          <p:nvPr/>
        </p:nvSpPr>
        <p:spPr>
          <a:xfrm>
            <a:off x="502920" y="5458968"/>
            <a:ext cx="310896" cy="310896"/>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6</a:t>
            </a:r>
            <a:endParaRPr lang="en-US" sz="1300" dirty="0"/>
          </a:p>
        </p:txBody>
      </p:sp>
      <p:sp>
        <p:nvSpPr>
          <p:cNvPr id="21" name="Text 19"/>
          <p:cNvSpPr/>
          <p:nvPr/>
        </p:nvSpPr>
        <p:spPr>
          <a:xfrm>
            <a:off x="960120" y="5440680"/>
            <a:ext cx="5577840" cy="777240"/>
          </a:xfrm>
          <a:prstGeom prst="rect">
            <a:avLst/>
          </a:prstGeom>
          <a:noFill/>
          <a:ln/>
        </p:spPr>
        <p:txBody>
          <a:bodyPr wrap="square" lIns="0" tIns="0" rIns="0" bIns="0"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Shared-node ops need engineering — </a:t>
            </a:r>
            <a:pPr indent="0" marL="0">
              <a:lnSpc>
                <a:spcPct val="105000"/>
              </a:lnSpc>
              <a:buNone/>
            </a:pPr>
            <a:r>
              <a:rPr lang="en-US" sz="1250" dirty="0">
                <a:solidFill>
                  <a:srgbClr val="CADCFC"/>
                </a:solidFill>
                <a:latin typeface="Calibri" pitchFamily="34" charset="0"/>
                <a:ea typeface="Calibri" pitchFamily="34" charset="-122"/>
                <a:cs typeface="Calibri" pitchFamily="34" charset="-120"/>
              </a:rPr>
              <a:t>thread caps + watchdogs; ~100 trainings without further incident.</a:t>
            </a:r>
            <a:endParaRPr lang="en-US" sz="1250" dirty="0"/>
          </a:p>
        </p:txBody>
      </p:sp>
      <p:sp>
        <p:nvSpPr>
          <p:cNvPr id="22" name="Shape 20"/>
          <p:cNvSpPr/>
          <p:nvPr/>
        </p:nvSpPr>
        <p:spPr>
          <a:xfrm>
            <a:off x="6858000" y="1234440"/>
            <a:ext cx="4846320" cy="2651760"/>
          </a:xfrm>
          <a:prstGeom prst="roundRect">
            <a:avLst>
              <a:gd name="adj" fmla="val 2414"/>
            </a:avLst>
          </a:prstGeom>
          <a:solidFill>
            <a:srgbClr val="2A3572"/>
          </a:solidFill>
          <a:ln w="12700">
            <a:solidFill>
              <a:srgbClr val="3D4A8C"/>
            </a:solidFill>
            <a:prstDash val="solid"/>
          </a:ln>
        </p:spPr>
      </p:sp>
      <p:sp>
        <p:nvSpPr>
          <p:cNvPr id="23" name="Text 21"/>
          <p:cNvSpPr/>
          <p:nvPr/>
        </p:nvSpPr>
        <p:spPr>
          <a:xfrm>
            <a:off x="7132320" y="1389888"/>
            <a:ext cx="438912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rest of the program</a:t>
            </a:r>
            <a:endParaRPr lang="en-US" sz="1400" dirty="0"/>
          </a:p>
        </p:txBody>
      </p:sp>
      <p:sp>
        <p:nvSpPr>
          <p:cNvPr id="24" name="Text 22"/>
          <p:cNvSpPr/>
          <p:nvPr/>
        </p:nvSpPr>
        <p:spPr>
          <a:xfrm>
            <a:off x="7132320" y="1783080"/>
            <a:ext cx="4389120" cy="2011680"/>
          </a:xfrm>
          <a:prstGeom prst="rect">
            <a:avLst/>
          </a:prstGeom>
          <a:noFill/>
          <a:ln/>
        </p:spPr>
        <p:txBody>
          <a:bodyPr wrap="square" lIns="0" tIns="0" rIns="0" bIns="0" rtlCol="0" anchor="t"/>
          <a:lstStyle/>
          <a:p>
            <a:pPr marL="127000" indent="-127000">
              <a:lnSpc>
                <a:spcPct val="106000"/>
              </a:lnSpc>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Done: cell-selection bias study · masking-pretraining QA · Notes 01–03 in LaTeX, in the repo</a:t>
            </a:r>
            <a:endParaRPr lang="en-US" sz="1150" dirty="0"/>
          </a:p>
          <a:p>
            <a:pPr marL="127000" indent="-127000">
              <a:lnSpc>
                <a:spcPct val="106000"/>
              </a:lnSpc>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New: learned MET beats classical estimates by 37% (T3); one-shot DETR jet finding demonstrated (T4) — backup slides</a:t>
            </a:r>
            <a:endParaRPr lang="en-US" sz="1150" dirty="0"/>
          </a:p>
          <a:p>
            <a:pPr marL="127000" indent="-127000">
              <a:lnSpc>
                <a:spcPct val="106000"/>
              </a:lnSpc>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Next: close the gap to ATLAS-PUB depth — mixture-density heads, coverage/pull validation, 10 seeds, HPO, provenance (phased, gated plan in repo)</a:t>
            </a:r>
            <a:endParaRPr lang="en-US" sz="1150" dirty="0"/>
          </a:p>
        </p:txBody>
      </p:sp>
      <p:sp>
        <p:nvSpPr>
          <p:cNvPr id="25" name="Shape 23"/>
          <p:cNvSpPr/>
          <p:nvPr/>
        </p:nvSpPr>
        <p:spPr>
          <a:xfrm>
            <a:off x="6858000" y="4069080"/>
            <a:ext cx="4846320" cy="2057400"/>
          </a:xfrm>
          <a:prstGeom prst="roundRect">
            <a:avLst>
              <a:gd name="adj" fmla="val 3111"/>
            </a:avLst>
          </a:prstGeom>
          <a:solidFill>
            <a:srgbClr val="2A3572"/>
          </a:solidFill>
          <a:ln w="12700">
            <a:solidFill>
              <a:srgbClr val="E8A33D"/>
            </a:solidFill>
            <a:prstDash val="solid"/>
          </a:ln>
        </p:spPr>
      </p:sp>
      <p:sp>
        <p:nvSpPr>
          <p:cNvPr id="26" name="Text 24"/>
          <p:cNvSpPr/>
          <p:nvPr/>
        </p:nvSpPr>
        <p:spPr>
          <a:xfrm>
            <a:off x="7132320" y="4224528"/>
            <a:ext cx="4389120" cy="320040"/>
          </a:xfrm>
          <a:prstGeom prst="rect">
            <a:avLst/>
          </a:prstGeom>
          <a:noFill/>
          <a:ln/>
        </p:spPr>
        <p:txBody>
          <a:bodyPr wrap="square" lIns="0" tIns="0" rIns="0" bIns="0" rtlCol="0" anchor="ctr"/>
          <a:lstStyle/>
          <a:p>
            <a:pPr indent="0" marL="0">
              <a:buNone/>
            </a:pPr>
            <a:r>
              <a:rPr lang="en-US" sz="1400" b="1" dirty="0">
                <a:solidFill>
                  <a:srgbClr val="F5C065"/>
                </a:solidFill>
                <a:latin typeface="Calibri" pitchFamily="34" charset="0"/>
                <a:ea typeface="Calibri" pitchFamily="34" charset="-122"/>
                <a:cs typeface="Calibri" pitchFamily="34" charset="-120"/>
              </a:rPr>
              <a:t>Asks</a:t>
            </a:r>
            <a:endParaRPr lang="en-US" sz="1400" dirty="0"/>
          </a:p>
        </p:txBody>
      </p:sp>
      <p:sp>
        <p:nvSpPr>
          <p:cNvPr id="27" name="Text 25"/>
          <p:cNvSpPr/>
          <p:nvPr/>
        </p:nvSpPr>
        <p:spPr>
          <a:xfrm>
            <a:off x="7132320" y="4572000"/>
            <a:ext cx="4389120" cy="1463040"/>
          </a:xfrm>
          <a:prstGeom prst="rect">
            <a:avLst/>
          </a:prstGeom>
          <a:noFill/>
          <a:ln/>
        </p:spPr>
        <p:txBody>
          <a:bodyPr wrap="square" lIns="0" tIns="0" rIns="0" bIns="0" rtlCol="0" anchor="t"/>
          <a:lstStyle/>
          <a:p>
            <a:pPr marL="127000" indent="-127000">
              <a:lnSpc>
                <a:spcPct val="106000"/>
              </a:lnSpc>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Sample provenance metadata from both productions</a:t>
            </a:r>
            <a:endParaRPr lang="en-US" sz="1150" dirty="0"/>
          </a:p>
          <a:p>
            <a:pPr marL="127000" indent="-127000">
              <a:lnSpc>
                <a:spcPct val="106000"/>
              </a:lnSpc>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A larger + second-process track-level (5D) production</a:t>
            </a:r>
            <a:endParaRPr lang="en-US" sz="1150" dirty="0"/>
          </a:p>
          <a:p>
            <a:pPr marL="127000" indent="-127000">
              <a:lnSpc>
                <a:spcPct val="106000"/>
              </a:lnSpc>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A same-event track + cell corpus for matched pretraining</a:t>
            </a:r>
            <a:endParaRPr lang="en-US" sz="1150" dirty="0"/>
          </a:p>
        </p:txBody>
      </p:sp>
      <p:sp>
        <p:nvSpPr>
          <p:cNvPr id="28" name="Text 26"/>
          <p:cNvSpPr/>
          <p:nvPr/>
        </p:nvSpPr>
        <p:spPr>
          <a:xfrm>
            <a:off x="502920" y="6510528"/>
            <a:ext cx="4114800" cy="274320"/>
          </a:xfrm>
          <a:prstGeom prst="rect">
            <a:avLst/>
          </a:prstGeom>
          <a:noFill/>
          <a:ln/>
        </p:spPr>
        <p:txBody>
          <a:bodyPr wrap="square" lIns="0" tIns="0" rIns="0" bIns="0" rtlCol="0" anchor="ctr"/>
          <a:lstStyle/>
          <a:p>
            <a:pPr indent="0" marL="0">
              <a:buNone/>
            </a:pPr>
            <a:r>
              <a:rPr lang="en-US" sz="900" dirty="0">
                <a:solidFill>
                  <a:srgbClr val="8FA3C8"/>
                </a:solidFill>
                <a:latin typeface="Calibri" pitchFamily="34" charset="0"/>
                <a:ea typeface="Calibri" pitchFamily="34" charset="-122"/>
                <a:cs typeface="Calibri" pitchFamily="34" charset="-120"/>
              </a:rPr>
              <a:t>DFM feasibility — UT Arlington · Aug 2026</a:t>
            </a:r>
            <a:endParaRPr lang="en-US" sz="900" dirty="0"/>
          </a:p>
        </p:txBody>
      </p:sp>
      <p:sp>
        <p:nvSpPr>
          <p:cNvPr id="29" name="Text 27"/>
          <p:cNvSpPr/>
          <p:nvPr/>
        </p:nvSpPr>
        <p:spPr>
          <a:xfrm>
            <a:off x="11430000" y="6510528"/>
            <a:ext cx="365760" cy="274320"/>
          </a:xfrm>
          <a:prstGeom prst="rect">
            <a:avLst/>
          </a:prstGeom>
          <a:noFill/>
          <a:ln/>
        </p:spPr>
        <p:txBody>
          <a:bodyPr wrap="square" lIns="0" tIns="0" rIns="0" bIns="0" rtlCol="0" anchor="ctr"/>
          <a:lstStyle/>
          <a:p>
            <a:pPr algn="r" indent="0" marL="0">
              <a:buNone/>
            </a:pPr>
            <a:r>
              <a:rPr lang="en-US" sz="900" dirty="0">
                <a:solidFill>
                  <a:srgbClr val="8FA3C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2651760"/>
            <a:ext cx="1069848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Backup</a:t>
            </a:r>
            <a:endParaRPr lang="en-US" sz="4400" dirty="0"/>
          </a:p>
        </p:txBody>
      </p:sp>
      <p:sp>
        <p:nvSpPr>
          <p:cNvPr id="3" name="Text 1"/>
          <p:cNvSpPr/>
          <p:nvPr/>
        </p:nvSpPr>
        <p:spPr>
          <a:xfrm>
            <a:off x="731520" y="3520440"/>
            <a:ext cx="10698480" cy="45720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Measuring jet energy scale, resolution, and uncertainty honesty · event-level results (T3 MET, T4 jet finding)</a:t>
            </a:r>
            <a:endParaRPr lang="en-US" sz="1700" dirty="0"/>
          </a:p>
        </p:txBody>
      </p:sp>
      <p:sp>
        <p:nvSpPr>
          <p:cNvPr id="4" name="Text 2"/>
          <p:cNvSpPr/>
          <p:nvPr/>
        </p:nvSpPr>
        <p:spPr>
          <a:xfrm>
            <a:off x="502920" y="6510528"/>
            <a:ext cx="4114800" cy="274320"/>
          </a:xfrm>
          <a:prstGeom prst="rect">
            <a:avLst/>
          </a:prstGeom>
          <a:noFill/>
          <a:ln/>
        </p:spPr>
        <p:txBody>
          <a:bodyPr wrap="square" lIns="0" tIns="0" rIns="0" bIns="0" rtlCol="0" anchor="ctr"/>
          <a:lstStyle/>
          <a:p>
            <a:pPr indent="0" marL="0">
              <a:buNone/>
            </a:pPr>
            <a:r>
              <a:rPr lang="en-US" sz="900" dirty="0">
                <a:solidFill>
                  <a:srgbClr val="8FA3C8"/>
                </a:solidFill>
                <a:latin typeface="Calibri" pitchFamily="34" charset="0"/>
                <a:ea typeface="Calibri" pitchFamily="34" charset="-122"/>
                <a:cs typeface="Calibri" pitchFamily="34" charset="-120"/>
              </a:rPr>
              <a:t>DFM feasibility — UT Arlington · Aug 2026</a:t>
            </a:r>
            <a:endParaRPr lang="en-US" sz="900" dirty="0"/>
          </a:p>
        </p:txBody>
      </p:sp>
      <p:sp>
        <p:nvSpPr>
          <p:cNvPr id="5" name="Text 3"/>
          <p:cNvSpPr/>
          <p:nvPr/>
        </p:nvSpPr>
        <p:spPr>
          <a:xfrm>
            <a:off x="11430000" y="6510528"/>
            <a:ext cx="365760" cy="274320"/>
          </a:xfrm>
          <a:prstGeom prst="rect">
            <a:avLst/>
          </a:prstGeom>
          <a:noFill/>
          <a:ln/>
        </p:spPr>
        <p:txBody>
          <a:bodyPr wrap="square" lIns="0" tIns="0" rIns="0" bIns="0" rtlCol="0" anchor="ctr"/>
          <a:lstStyle/>
          <a:p>
            <a:pPr algn="r" indent="0" marL="0">
              <a:buNone/>
            </a:pPr>
            <a:r>
              <a:rPr lang="en-US" sz="900" dirty="0">
                <a:solidFill>
                  <a:srgbClr val="8FA3C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56032"/>
            <a:ext cx="11155680" cy="274320"/>
          </a:xfrm>
          <a:prstGeom prst="rect">
            <a:avLst/>
          </a:prstGeom>
          <a:noFill/>
          <a:ln/>
        </p:spPr>
        <p:txBody>
          <a:bodyPr wrap="square" lIns="0" tIns="0" rIns="0" bIns="0" rtlCol="0" anchor="ctr"/>
          <a:lstStyle/>
          <a:p>
            <a:pPr indent="0" marL="0">
              <a:buNone/>
            </a:pPr>
            <a:r>
              <a:rPr lang="en-US" sz="1050" b="1" spc="200" kern="0" dirty="0">
                <a:solidFill>
                  <a:srgbClr val="667085"/>
                </a:solidFill>
                <a:latin typeface="Calibri" pitchFamily="34" charset="0"/>
                <a:ea typeface="Calibri" pitchFamily="34" charset="-122"/>
                <a:cs typeface="Calibri" pitchFamily="34" charset="-120"/>
              </a:rPr>
              <a:t>BACKUP</a:t>
            </a:r>
            <a:endParaRPr lang="en-US" sz="1050" dirty="0"/>
          </a:p>
        </p:txBody>
      </p:sp>
      <p:sp>
        <p:nvSpPr>
          <p:cNvPr id="3" name="Text 1"/>
          <p:cNvSpPr/>
          <p:nvPr/>
        </p:nvSpPr>
        <p:spPr>
          <a:xfrm>
            <a:off x="502920" y="475488"/>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From per-jet predictions to JES and JER</a:t>
            </a:r>
            <a:endParaRPr lang="en-US" sz="2700" dirty="0"/>
          </a:p>
        </p:txBody>
      </p:sp>
      <p:sp>
        <p:nvSpPr>
          <p:cNvPr id="4" name="Shape 2"/>
          <p:cNvSpPr/>
          <p:nvPr/>
        </p:nvSpPr>
        <p:spPr>
          <a:xfrm>
            <a:off x="502920" y="1261872"/>
            <a:ext cx="310896" cy="310896"/>
          </a:xfrm>
          <a:prstGeom prst="ellipse">
            <a:avLst/>
          </a:prstGeom>
          <a:solidFill>
            <a:srgbClr val="1E2761"/>
          </a:solidFill>
          <a:ln w="12700">
            <a:solidFill>
              <a:srgbClr val="1E2761"/>
            </a:solidFill>
            <a:prstDash val="solid"/>
          </a:ln>
        </p:spPr>
      </p:sp>
      <p:sp>
        <p:nvSpPr>
          <p:cNvPr id="5" name="Text 3"/>
          <p:cNvSpPr/>
          <p:nvPr/>
        </p:nvSpPr>
        <p:spPr>
          <a:xfrm>
            <a:off x="502920" y="12618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960120" y="1234440"/>
            <a:ext cx="5577840" cy="777240"/>
          </a:xfrm>
          <a:prstGeom prst="rect">
            <a:avLst/>
          </a:prstGeom>
          <a:noFill/>
          <a:ln/>
        </p:spPr>
        <p:txBody>
          <a:bodyPr wrap="square" lIns="0" tIns="0" rIns="0" bIns="0" rtlCol="0" anchor="t"/>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Per jet — </a:t>
            </a:r>
            <a:pPr indent="0" marL="0">
              <a:lnSpc>
                <a:spcPct val="105000"/>
              </a:lnSpc>
              <a:buNone/>
            </a:pPr>
            <a:r>
              <a:rPr lang="en-US" sz="1250" dirty="0">
                <a:solidFill>
                  <a:srgbClr val="232833"/>
                </a:solidFill>
                <a:latin typeface="Calibri" pitchFamily="34" charset="0"/>
                <a:ea typeface="Calibri" pitchFamily="34" charset="-122"/>
                <a:cs typeface="Calibri" pitchFamily="34" charset="-120"/>
              </a:rPr>
              <a:t>the model gives (μ, σ) for y = ln(pT_true/pT_reco); corrected pT = pT_reco · e^μ; response r = pT_corr / pT_true.</a:t>
            </a:r>
            <a:endParaRPr lang="en-US" sz="1250" dirty="0"/>
          </a:p>
        </p:txBody>
      </p:sp>
      <p:sp>
        <p:nvSpPr>
          <p:cNvPr id="7" name="Shape 5"/>
          <p:cNvSpPr/>
          <p:nvPr/>
        </p:nvSpPr>
        <p:spPr>
          <a:xfrm>
            <a:off x="502920" y="2148840"/>
            <a:ext cx="310896" cy="310896"/>
          </a:xfrm>
          <a:prstGeom prst="ellipse">
            <a:avLst/>
          </a:prstGeom>
          <a:solidFill>
            <a:srgbClr val="1E2761"/>
          </a:solidFill>
          <a:ln w="12700">
            <a:solidFill>
              <a:srgbClr val="1E2761"/>
            </a:solidFill>
            <a:prstDash val="solid"/>
          </a:ln>
        </p:spPr>
      </p:sp>
      <p:sp>
        <p:nvSpPr>
          <p:cNvPr id="8" name="Text 6"/>
          <p:cNvSpPr/>
          <p:nvPr/>
        </p:nvSpPr>
        <p:spPr>
          <a:xfrm>
            <a:off x="502920" y="21488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960120" y="2121408"/>
            <a:ext cx="5577840" cy="777240"/>
          </a:xfrm>
          <a:prstGeom prst="rect">
            <a:avLst/>
          </a:prstGeom>
          <a:noFill/>
          <a:ln/>
        </p:spPr>
        <p:txBody>
          <a:bodyPr wrap="square" lIns="0" tIns="0" rIns="0" bIns="0" rtlCol="0" anchor="t"/>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Bin — </a:t>
            </a:r>
            <a:pPr indent="0" marL="0">
              <a:lnSpc>
                <a:spcPct val="105000"/>
              </a:lnSpc>
              <a:buNone/>
            </a:pPr>
            <a:r>
              <a:rPr lang="en-US" sz="1250" dirty="0">
                <a:solidFill>
                  <a:srgbClr val="232833"/>
                </a:solidFill>
                <a:latin typeface="Calibri" pitchFamily="34" charset="0"/>
                <a:ea typeface="Calibri" pitchFamily="34" charset="-122"/>
                <a:cs typeface="Calibri" pitchFamily="34" charset="-120"/>
              </a:rPr>
              <a:t>in pT_true with edges [20, 30, 45, 65, 90, 125, 175, 250, 400] GeV; also vs η (crack region its own bin) and vs φ.</a:t>
            </a:r>
            <a:endParaRPr lang="en-US" sz="1250" dirty="0"/>
          </a:p>
        </p:txBody>
      </p:sp>
      <p:sp>
        <p:nvSpPr>
          <p:cNvPr id="10" name="Shape 8"/>
          <p:cNvSpPr/>
          <p:nvPr/>
        </p:nvSpPr>
        <p:spPr>
          <a:xfrm>
            <a:off x="502920" y="3035808"/>
            <a:ext cx="310896" cy="310896"/>
          </a:xfrm>
          <a:prstGeom prst="ellipse">
            <a:avLst/>
          </a:prstGeom>
          <a:solidFill>
            <a:srgbClr val="1E2761"/>
          </a:solidFill>
          <a:ln w="12700">
            <a:solidFill>
              <a:srgbClr val="1E2761"/>
            </a:solidFill>
            <a:prstDash val="solid"/>
          </a:ln>
        </p:spPr>
      </p:sp>
      <p:sp>
        <p:nvSpPr>
          <p:cNvPr id="11" name="Text 9"/>
          <p:cNvSpPr/>
          <p:nvPr/>
        </p:nvSpPr>
        <p:spPr>
          <a:xfrm>
            <a:off x="502920" y="303580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960120" y="3008376"/>
            <a:ext cx="5577840" cy="548640"/>
          </a:xfrm>
          <a:prstGeom prst="rect">
            <a:avLst/>
          </a:prstGeom>
          <a:noFill/>
          <a:ln/>
        </p:spPr>
        <p:txBody>
          <a:bodyPr wrap="square" lIns="0" tIns="0" rIns="0" bIns="0" rtlCol="0" anchor="t"/>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Scale — </a:t>
            </a:r>
            <a:pPr indent="0" marL="0">
              <a:lnSpc>
                <a:spcPct val="105000"/>
              </a:lnSpc>
              <a:buNone/>
            </a:pPr>
            <a:r>
              <a:rPr lang="en-US" sz="1250" dirty="0">
                <a:solidFill>
                  <a:srgbClr val="232833"/>
                </a:solidFill>
                <a:latin typeface="Calibri" pitchFamily="34" charset="0"/>
                <a:ea typeface="Calibri" pitchFamily="34" charset="-122"/>
                <a:cs typeface="Calibri" pitchFamily="34" charset="-120"/>
              </a:rPr>
              <a:t>JES(bin) = median(r) — robust location.</a:t>
            </a:r>
            <a:endParaRPr lang="en-US" sz="1250" dirty="0"/>
          </a:p>
        </p:txBody>
      </p:sp>
      <p:sp>
        <p:nvSpPr>
          <p:cNvPr id="13" name="Shape 11"/>
          <p:cNvSpPr/>
          <p:nvPr/>
        </p:nvSpPr>
        <p:spPr>
          <a:xfrm>
            <a:off x="502920" y="3694176"/>
            <a:ext cx="310896" cy="310896"/>
          </a:xfrm>
          <a:prstGeom prst="ellipse">
            <a:avLst/>
          </a:prstGeom>
          <a:solidFill>
            <a:srgbClr val="1E2761"/>
          </a:solidFill>
          <a:ln w="12700">
            <a:solidFill>
              <a:srgbClr val="1E2761"/>
            </a:solidFill>
            <a:prstDash val="solid"/>
          </a:ln>
        </p:spPr>
      </p:sp>
      <p:sp>
        <p:nvSpPr>
          <p:cNvPr id="14" name="Text 12"/>
          <p:cNvSpPr/>
          <p:nvPr/>
        </p:nvSpPr>
        <p:spPr>
          <a:xfrm>
            <a:off x="502920" y="369417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960120" y="3666744"/>
            <a:ext cx="5577840" cy="777240"/>
          </a:xfrm>
          <a:prstGeom prst="rect">
            <a:avLst/>
          </a:prstGeom>
          <a:noFill/>
          <a:ln/>
        </p:spPr>
        <p:txBody>
          <a:bodyPr wrap="square" lIns="0" tIns="0" rIns="0" bIns="0" rtlCol="0" anchor="t"/>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Resolution — </a:t>
            </a:r>
            <a:pPr indent="0" marL="0">
              <a:lnSpc>
                <a:spcPct val="105000"/>
              </a:lnSpc>
              <a:buNone/>
            </a:pPr>
            <a:r>
              <a:rPr lang="en-US" sz="1250" dirty="0">
                <a:solidFill>
                  <a:srgbClr val="232833"/>
                </a:solidFill>
                <a:latin typeface="Calibri" pitchFamily="34" charset="0"/>
                <a:ea typeface="Calibri" pitchFamily="34" charset="-122"/>
                <a:cs typeface="Calibri" pitchFamily="34" charset="-120"/>
              </a:rPr>
              <a:t>JER(bin) = (q75 − q25)/1.349 ÷ median(r) — Gaussian-equivalent width, made fractional by the scale.</a:t>
            </a:r>
            <a:endParaRPr lang="en-US" sz="1250" dirty="0"/>
          </a:p>
        </p:txBody>
      </p:sp>
      <p:sp>
        <p:nvSpPr>
          <p:cNvPr id="16" name="Shape 14"/>
          <p:cNvSpPr/>
          <p:nvPr/>
        </p:nvSpPr>
        <p:spPr>
          <a:xfrm>
            <a:off x="502920" y="4581144"/>
            <a:ext cx="310896" cy="310896"/>
          </a:xfrm>
          <a:prstGeom prst="ellipse">
            <a:avLst/>
          </a:prstGeom>
          <a:solidFill>
            <a:srgbClr val="1E2761"/>
          </a:solidFill>
          <a:ln w="12700">
            <a:solidFill>
              <a:srgbClr val="1E2761"/>
            </a:solidFill>
            <a:prstDash val="solid"/>
          </a:ln>
        </p:spPr>
      </p:sp>
      <p:sp>
        <p:nvSpPr>
          <p:cNvPr id="17" name="Text 15"/>
          <p:cNvSpPr/>
          <p:nvPr/>
        </p:nvSpPr>
        <p:spPr>
          <a:xfrm>
            <a:off x="502920" y="45811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8" name="Text 16"/>
          <p:cNvSpPr/>
          <p:nvPr/>
        </p:nvSpPr>
        <p:spPr>
          <a:xfrm>
            <a:off x="960120" y="4553712"/>
            <a:ext cx="5577840" cy="548640"/>
          </a:xfrm>
          <a:prstGeom prst="rect">
            <a:avLst/>
          </a:prstGeom>
          <a:noFill/>
          <a:ln/>
        </p:spPr>
        <p:txBody>
          <a:bodyPr wrap="square" lIns="0" tIns="0" rIns="0" bIns="0" rtlCol="0" anchor="t"/>
          <a:lstStyle/>
          <a:p>
            <a:pPr indent="0" marL="0">
              <a:lnSpc>
                <a:spcPct val="105000"/>
              </a:lnSpc>
              <a:buNone/>
            </a:pPr>
            <a:r>
              <a:rPr lang="en-US" sz="1250" b="1" dirty="0">
                <a:solidFill>
                  <a:srgbClr val="1E2761"/>
                </a:solidFill>
                <a:latin typeface="Calibri" pitchFamily="34" charset="0"/>
                <a:ea typeface="Calibri" pitchFamily="34" charset="-122"/>
                <a:cs typeface="Calibri" pitchFamily="34" charset="-120"/>
              </a:rPr>
              <a:t>Uncertainties — </a:t>
            </a:r>
            <a:pPr indent="0" marL="0">
              <a:lnSpc>
                <a:spcPct val="105000"/>
              </a:lnSpc>
              <a:buNone/>
            </a:pPr>
            <a:r>
              <a:rPr lang="en-US" sz="1250" dirty="0">
                <a:solidFill>
                  <a:srgbClr val="232833"/>
                </a:solidFill>
                <a:latin typeface="Calibri" pitchFamily="34" charset="0"/>
                <a:ea typeface="Calibri" pitchFamily="34" charset="-122"/>
                <a:cs typeface="Calibri" pitchFamily="34" charset="-120"/>
              </a:rPr>
              <a:t>spread across 3 training seeds (mean ± std); 10-seed convention planned.</a:t>
            </a:r>
            <a:endParaRPr lang="en-US" sz="1250" dirty="0"/>
          </a:p>
        </p:txBody>
      </p:sp>
      <p:sp>
        <p:nvSpPr>
          <p:cNvPr id="19" name="Shape 17"/>
          <p:cNvSpPr/>
          <p:nvPr/>
        </p:nvSpPr>
        <p:spPr>
          <a:xfrm>
            <a:off x="502920" y="5257800"/>
            <a:ext cx="6035040" cy="1143000"/>
          </a:xfrm>
          <a:prstGeom prst="roundRect">
            <a:avLst>
              <a:gd name="adj" fmla="val 5600"/>
            </a:avLst>
          </a:prstGeom>
          <a:solidFill>
            <a:srgbClr val="EEF3FB"/>
          </a:solidFill>
          <a:ln w="12700">
            <a:solidFill>
              <a:srgbClr val="DCE4F0"/>
            </a:solidFill>
            <a:prstDash val="solid"/>
          </a:ln>
        </p:spPr>
      </p:sp>
      <p:sp>
        <p:nvSpPr>
          <p:cNvPr id="20" name="Text 18"/>
          <p:cNvSpPr/>
          <p:nvPr/>
        </p:nvSpPr>
        <p:spPr>
          <a:xfrm>
            <a:off x="777240" y="5394960"/>
            <a:ext cx="5486400" cy="914400"/>
          </a:xfrm>
          <a:prstGeom prst="rect">
            <a:avLst/>
          </a:prstGeom>
          <a:noFill/>
          <a:ln/>
        </p:spPr>
        <p:txBody>
          <a:bodyPr wrap="square" lIns="0" tIns="0" rIns="0" bIns="0" rtlCol="0" anchor="ctr"/>
          <a:lstStyle/>
          <a:p>
            <a:pPr indent="0" marL="0">
              <a:lnSpc>
                <a:spcPct val="108000"/>
              </a:lnSpc>
              <a:buNone/>
            </a:pPr>
            <a:r>
              <a:rPr lang="en-US" sz="1150" b="1" dirty="0">
                <a:solidFill>
                  <a:srgbClr val="1E2761"/>
                </a:solidFill>
                <a:latin typeface="Calibri" pitchFamily="34" charset="0"/>
                <a:ea typeface="Calibri" pitchFamily="34" charset="-122"/>
                <a:cs typeface="Calibri" pitchFamily="34" charset="-120"/>
              </a:rPr>
              <a:t>Why robust estimators: </a:t>
            </a:r>
            <a:pPr indent="0" marL="0">
              <a:lnSpc>
                <a:spcPct val="108000"/>
              </a:lnSpc>
              <a:buNone/>
            </a:pPr>
            <a:r>
              <a:rPr lang="en-US" sz="1150" dirty="0">
                <a:solidFill>
                  <a:srgbClr val="232833"/>
                </a:solidFill>
                <a:latin typeface="Calibri" pitchFamily="34" charset="0"/>
                <a:ea typeface="Calibri" pitchFamily="34" charset="-122"/>
                <a:cs typeface="Calibri" pitchFamily="34" charset="-120"/>
              </a:rPr>
              <a:t>response tails are non-Gaussian (semileptonic b, pile-up); mean/std would be tail-dominated. A mean-seeking loss variant (MAE study) shifts closure by ~2% — estimator and loss must agree.</a:t>
            </a:r>
            <a:endParaRPr lang="en-US" sz="1150" dirty="0"/>
          </a:p>
        </p:txBody>
      </p:sp>
      <p:pic>
        <p:nvPicPr>
          <p:cNvPr id="21" name="Image 0" descr="/Users/afarbin/CaloGNN/CaloGraphNet/notes/DFM-NOTE-2026-01-jet-pt-calibration/figures/H4_metric_explained.png">    </p:cNvPr>
          <p:cNvPicPr>
            <a:picLocks noChangeAspect="1"/>
          </p:cNvPicPr>
          <p:nvPr/>
        </p:nvPicPr>
        <p:blipFill>
          <a:blip r:embed="rId1"/>
          <a:stretch>
            <a:fillRect/>
          </a:stretch>
        </p:blipFill>
        <p:spPr>
          <a:xfrm>
            <a:off x="6903720" y="1280160"/>
            <a:ext cx="4709160" cy="3907191"/>
          </a:xfrm>
          <a:prstGeom prst="rect">
            <a:avLst/>
          </a:prstGeom>
        </p:spPr>
      </p:pic>
      <p:sp>
        <p:nvSpPr>
          <p:cNvPr id="22" name="Text 19"/>
          <p:cNvSpPr/>
          <p:nvPr/>
        </p:nvSpPr>
        <p:spPr>
          <a:xfrm>
            <a:off x="6903720" y="5285232"/>
            <a:ext cx="4754880" cy="292608"/>
          </a:xfrm>
          <a:prstGeom prst="rect">
            <a:avLst/>
          </a:prstGeom>
          <a:noFill/>
          <a:ln/>
        </p:spPr>
        <p:txBody>
          <a:bodyPr wrap="square" lIns="0" tIns="0" rIns="0" bIns="0" rtlCol="0" anchor="ctr"/>
          <a:lstStyle/>
          <a:p>
            <a:pPr indent="0" marL="0">
              <a:buNone/>
            </a:pPr>
            <a:r>
              <a:rPr lang="en-US" sz="1000" i="1" dirty="0">
                <a:solidFill>
                  <a:srgbClr val="667085"/>
                </a:solidFill>
                <a:latin typeface="Calibri" pitchFamily="34" charset="0"/>
                <a:ea typeface="Calibri" pitchFamily="34" charset="-122"/>
                <a:cs typeface="Calibri" pitchFamily="34" charset="-120"/>
              </a:rPr>
              <a:t>Metric construction, step by step, on the test sample.</a:t>
            </a:r>
            <a:endParaRPr lang="en-US" sz="1000" dirty="0"/>
          </a:p>
        </p:txBody>
      </p:sp>
      <p:sp>
        <p:nvSpPr>
          <p:cNvPr id="23" name="Text 20"/>
          <p:cNvSpPr/>
          <p:nvPr/>
        </p:nvSpPr>
        <p:spPr>
          <a:xfrm>
            <a:off x="502920" y="6510528"/>
            <a:ext cx="4114800" cy="27432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DFM feasibility — UT Arlington · Aug 2026</a:t>
            </a:r>
            <a:endParaRPr lang="en-US" sz="900" dirty="0"/>
          </a:p>
        </p:txBody>
      </p:sp>
      <p:sp>
        <p:nvSpPr>
          <p:cNvPr id="24" name="Text 21"/>
          <p:cNvSpPr/>
          <p:nvPr/>
        </p:nvSpPr>
        <p:spPr>
          <a:xfrm>
            <a:off x="11430000" y="6510528"/>
            <a:ext cx="365760" cy="274320"/>
          </a:xfrm>
          <a:prstGeom prst="rect">
            <a:avLst/>
          </a:prstGeom>
          <a:noFill/>
          <a:ln/>
        </p:spPr>
        <p:txBody>
          <a:bodyPr wrap="square" lIns="0" tIns="0" rIns="0" bIns="0"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56032"/>
            <a:ext cx="11155680" cy="274320"/>
          </a:xfrm>
          <a:prstGeom prst="rect">
            <a:avLst/>
          </a:prstGeom>
          <a:noFill/>
          <a:ln/>
        </p:spPr>
        <p:txBody>
          <a:bodyPr wrap="square" lIns="0" tIns="0" rIns="0" bIns="0" rtlCol="0" anchor="ctr"/>
          <a:lstStyle/>
          <a:p>
            <a:pPr indent="0" marL="0">
              <a:buNone/>
            </a:pPr>
            <a:r>
              <a:rPr lang="en-US" sz="1050" b="1" spc="200" kern="0" dirty="0">
                <a:solidFill>
                  <a:srgbClr val="667085"/>
                </a:solidFill>
                <a:latin typeface="Calibri" pitchFamily="34" charset="0"/>
                <a:ea typeface="Calibri" pitchFamily="34" charset="-122"/>
                <a:cs typeface="Calibri" pitchFamily="34" charset="-120"/>
              </a:rPr>
              <a:t>BACKUP</a:t>
            </a:r>
            <a:endParaRPr lang="en-US" sz="1050" dirty="0"/>
          </a:p>
        </p:txBody>
      </p:sp>
      <p:sp>
        <p:nvSpPr>
          <p:cNvPr id="3" name="Text 1"/>
          <p:cNvSpPr/>
          <p:nvPr/>
        </p:nvSpPr>
        <p:spPr>
          <a:xfrm>
            <a:off x="502920" y="475488"/>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Uncertainty honesty and closure</a:t>
            </a:r>
            <a:endParaRPr lang="en-US" sz="2700" dirty="0"/>
          </a:p>
        </p:txBody>
      </p:sp>
      <p:sp>
        <p:nvSpPr>
          <p:cNvPr id="4" name="Text 2"/>
          <p:cNvSpPr/>
          <p:nvPr/>
        </p:nvSpPr>
        <p:spPr>
          <a:xfrm>
            <a:off x="502920" y="1280160"/>
            <a:ext cx="5943600" cy="4754880"/>
          </a:xfrm>
          <a:prstGeom prst="rect">
            <a:avLst/>
          </a:prstGeom>
          <a:noFill/>
          <a:ln/>
        </p:spPr>
        <p:txBody>
          <a:bodyPr wrap="square" lIns="0" tIns="0" rIns="0" bIns="0" rtlCol="0" anchor="t"/>
          <a:lstStyle/>
          <a:p>
            <a:pPr marL="127000" indent="-127000">
              <a:lnSpc>
                <a:spcPct val="107000"/>
              </a:lnSpc>
              <a:buSzPct val="100000"/>
              <a:buChar char="•"/>
            </a:pPr>
            <a:r>
              <a:rPr lang="en-US" sz="1250" b="1" dirty="0">
                <a:solidFill>
                  <a:srgbClr val="1E2761"/>
                </a:solidFill>
                <a:latin typeface="Calibri" pitchFamily="34" charset="0"/>
                <a:ea typeface="Calibri" pitchFamily="34" charset="-122"/>
                <a:cs typeface="Calibri" pitchFamily="34" charset="-120"/>
              </a:rPr>
              <a:t>Pull:</a:t>
            </a:r>
            <a:pPr indent="0" marL="0">
              <a:lnSpc>
                <a:spcPct val="107000"/>
              </a:lnSpc>
              <a:spcAft>
                <a:spcPts val="1200"/>
              </a:spcAft>
              <a:buNone/>
            </a:pPr>
            <a:r>
              <a:rPr lang="en-US" sz="1250" dirty="0">
                <a:solidFill>
                  <a:srgbClr val="232833"/>
                </a:solidFill>
                <a:latin typeface="Calibri" pitchFamily="34" charset="0"/>
                <a:ea typeface="Calibri" pitchFamily="34" charset="-122"/>
                <a:cs typeface="Calibri" pitchFamily="34" charset="-120"/>
              </a:rPr>
              <a:t> z = (y − μ)/σ per jet. If the predicted σ is honest, z has unit width. Measured pull std: 1.00–1.05 across configurations.</a:t>
            </a:r>
            <a:endParaRPr lang="en-US" sz="1250" dirty="0"/>
          </a:p>
          <a:p>
            <a:pPr marL="127000" indent="-127000">
              <a:lnSpc>
                <a:spcPct val="107000"/>
              </a:lnSpc>
              <a:buSzPct val="100000"/>
              <a:buChar char="•"/>
            </a:pPr>
            <a:r>
              <a:rPr lang="en-US" sz="1250" b="1" dirty="0">
                <a:solidFill>
                  <a:srgbClr val="1E2761"/>
                </a:solidFill>
                <a:latin typeface="Calibri" pitchFamily="34" charset="0"/>
                <a:ea typeface="Calibri" pitchFamily="34" charset="-122"/>
                <a:cs typeface="Calibri" pitchFamily="34" charset="-120"/>
              </a:rPr>
              <a:t>Closure:</a:t>
            </a:r>
            <a:pPr indent="0" marL="0">
              <a:lnSpc>
                <a:spcPct val="107000"/>
              </a:lnSpc>
              <a:spcAft>
                <a:spcPts val="1200"/>
              </a:spcAft>
              <a:buNone/>
            </a:pPr>
            <a:r>
              <a:rPr lang="en-US" sz="1250" dirty="0">
                <a:solidFill>
                  <a:srgbClr val="232833"/>
                </a:solidFill>
                <a:latin typeface="Calibri" pitchFamily="34" charset="0"/>
                <a:ea typeface="Calibri" pitchFamily="34" charset="-122"/>
                <a:cs typeface="Calibri" pitchFamily="34" charset="-120"/>
              </a:rPr>
              <a:t> RMS over pT bins of (JES − 1). Best configurations reach 3.9–4.4%; a known low-pT non-closure (20–30 GeV) remains — numerical inversion planned.</a:t>
            </a:r>
            <a:endParaRPr lang="en-US" sz="1250" dirty="0"/>
          </a:p>
          <a:p>
            <a:pPr marL="127000" indent="-127000">
              <a:lnSpc>
                <a:spcPct val="107000"/>
              </a:lnSpc>
              <a:buSzPct val="100000"/>
              <a:buChar char="•"/>
            </a:pPr>
            <a:r>
              <a:rPr lang="en-US" sz="1250" b="1" dirty="0">
                <a:solidFill>
                  <a:srgbClr val="1E2761"/>
                </a:solidFill>
                <a:latin typeface="Calibri" pitchFamily="34" charset="0"/>
                <a:ea typeface="Calibri" pitchFamily="34" charset="-122"/>
                <a:cs typeface="Calibri" pitchFamily="34" charset="-120"/>
              </a:rPr>
              <a:t>What this does not yet show:</a:t>
            </a:r>
            <a:pPr indent="0" marL="0">
              <a:lnSpc>
                <a:spcPct val="107000"/>
              </a:lnSpc>
              <a:spcAft>
                <a:spcPts val="1200"/>
              </a:spcAft>
              <a:buNone/>
            </a:pPr>
            <a:r>
              <a:rPr lang="en-US" sz="1250" dirty="0">
                <a:solidFill>
                  <a:srgbClr val="232833"/>
                </a:solidFill>
                <a:latin typeface="Calibri" pitchFamily="34" charset="0"/>
                <a:ea typeface="Calibri" pitchFamily="34" charset="-122"/>
                <a:cs typeface="Calibri" pitchFamily="34" charset="-120"/>
              </a:rPr>
              <a:t> coverage diagrams, per-bin χ², and tail fractions P(|z| &gt; k) — the PUB-note-grade validation suite. Scheduled in the gap-closure plan; it runs on archived predictions, no retraining needed.</a:t>
            </a:r>
            <a:endParaRPr lang="en-US" sz="1250" dirty="0"/>
          </a:p>
          <a:p>
            <a:pPr marL="127000" indent="-127000">
              <a:lnSpc>
                <a:spcPct val="107000"/>
              </a:lnSpc>
              <a:buSzPct val="100000"/>
              <a:buChar char="•"/>
            </a:pPr>
            <a:r>
              <a:rPr lang="en-US" sz="1250" b="1" dirty="0">
                <a:solidFill>
                  <a:srgbClr val="1E2761"/>
                </a:solidFill>
                <a:latin typeface="Calibri" pitchFamily="34" charset="0"/>
                <a:ea typeface="Calibri" pitchFamily="34" charset="-122"/>
                <a:cs typeface="Calibri" pitchFamily="34" charset="-120"/>
              </a:rPr>
              <a:t>Fit/apply hygiene:</a:t>
            </a:r>
            <a:pPr indent="0" marL="0">
              <a:lnSpc>
                <a:spcPct val="107000"/>
              </a:lnSpc>
              <a:spcAft>
                <a:spcPts val="1200"/>
              </a:spcAft>
              <a:buNone/>
            </a:pPr>
            <a:r>
              <a:rPr lang="en-US" sz="1250" dirty="0">
                <a:solidFill>
                  <a:srgbClr val="232833"/>
                </a:solidFill>
                <a:latin typeface="Calibri" pitchFamily="34" charset="0"/>
                <a:ea typeface="Calibri" pitchFamily="34" charset="-122"/>
                <a:cs typeface="Calibri" pitchFamily="34" charset="-120"/>
              </a:rPr>
              <a:t> all normalizations, weights, and any rescaling are fit on training or validation files and applied frozen to test files.</a:t>
            </a:r>
            <a:endParaRPr lang="en-US" sz="1250" dirty="0"/>
          </a:p>
        </p:txBody>
      </p:sp>
      <p:pic>
        <p:nvPicPr>
          <p:cNvPr id="5" name="Image 0" descr="/Users/afarbin/CaloGNN/CaloGraphNet/notes/DFM-NOTE-2026-01-jet-pt-calibration/figures/H5_pulls.png">    </p:cNvPr>
          <p:cNvPicPr>
            <a:picLocks noChangeAspect="1"/>
          </p:cNvPicPr>
          <p:nvPr/>
        </p:nvPicPr>
        <p:blipFill>
          <a:blip r:embed="rId1"/>
          <a:stretch>
            <a:fillRect/>
          </a:stretch>
        </p:blipFill>
        <p:spPr>
          <a:xfrm>
            <a:off x="6995160" y="1371600"/>
            <a:ext cx="4480560" cy="3442828"/>
          </a:xfrm>
          <a:prstGeom prst="rect">
            <a:avLst/>
          </a:prstGeom>
        </p:spPr>
      </p:pic>
      <p:sp>
        <p:nvSpPr>
          <p:cNvPr id="6" name="Text 3"/>
          <p:cNvSpPr/>
          <p:nvPr/>
        </p:nvSpPr>
        <p:spPr>
          <a:xfrm>
            <a:off x="6995160" y="4983480"/>
            <a:ext cx="4572000" cy="292608"/>
          </a:xfrm>
          <a:prstGeom prst="rect">
            <a:avLst/>
          </a:prstGeom>
          <a:noFill/>
          <a:ln/>
        </p:spPr>
        <p:txBody>
          <a:bodyPr wrap="square" lIns="0" tIns="0" rIns="0" bIns="0" rtlCol="0" anchor="ctr"/>
          <a:lstStyle/>
          <a:p>
            <a:pPr indent="0" marL="0">
              <a:buNone/>
            </a:pPr>
            <a:r>
              <a:rPr lang="en-US" sz="1000" i="1" dirty="0">
                <a:solidFill>
                  <a:srgbClr val="667085"/>
                </a:solidFill>
                <a:latin typeface="Calibri" pitchFamily="34" charset="0"/>
                <a:ea typeface="Calibri" pitchFamily="34" charset="-122"/>
                <a:cs typeface="Calibri" pitchFamily="34" charset="-120"/>
              </a:rPr>
              <a:t>Pull distributions vs a unit Gaussian, per configuration.</a:t>
            </a:r>
            <a:endParaRPr lang="en-US" sz="1000" dirty="0"/>
          </a:p>
        </p:txBody>
      </p:sp>
      <p:sp>
        <p:nvSpPr>
          <p:cNvPr id="7" name="Text 4"/>
          <p:cNvSpPr/>
          <p:nvPr/>
        </p:nvSpPr>
        <p:spPr>
          <a:xfrm>
            <a:off x="502920" y="6510528"/>
            <a:ext cx="4114800" cy="27432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DFM feasibility — UT Arlington · Aug 2026</a:t>
            </a:r>
            <a:endParaRPr lang="en-US" sz="900" dirty="0"/>
          </a:p>
        </p:txBody>
      </p:sp>
      <p:sp>
        <p:nvSpPr>
          <p:cNvPr id="8" name="Text 5"/>
          <p:cNvSpPr/>
          <p:nvPr/>
        </p:nvSpPr>
        <p:spPr>
          <a:xfrm>
            <a:off x="11430000" y="6510528"/>
            <a:ext cx="365760" cy="274320"/>
          </a:xfrm>
          <a:prstGeom prst="rect">
            <a:avLst/>
          </a:prstGeom>
          <a:noFill/>
          <a:ln/>
        </p:spPr>
        <p:txBody>
          <a:bodyPr wrap="square" lIns="0" tIns="0" rIns="0" bIns="0"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56032"/>
            <a:ext cx="11155680" cy="274320"/>
          </a:xfrm>
          <a:prstGeom prst="rect">
            <a:avLst/>
          </a:prstGeom>
          <a:noFill/>
          <a:ln/>
        </p:spPr>
        <p:txBody>
          <a:bodyPr wrap="square" lIns="0" tIns="0" rIns="0" bIns="0" rtlCol="0" anchor="ctr"/>
          <a:lstStyle/>
          <a:p>
            <a:pPr indent="0" marL="0">
              <a:buNone/>
            </a:pPr>
            <a:r>
              <a:rPr lang="en-US" sz="1050" b="1" spc="200" kern="0" dirty="0">
                <a:solidFill>
                  <a:srgbClr val="667085"/>
                </a:solidFill>
                <a:latin typeface="Calibri" pitchFamily="34" charset="0"/>
                <a:ea typeface="Calibri" pitchFamily="34" charset="-122"/>
                <a:cs typeface="Calibri" pitchFamily="34" charset="-120"/>
              </a:rPr>
              <a:t>BACKUP</a:t>
            </a:r>
            <a:endParaRPr lang="en-US" sz="1050" dirty="0"/>
          </a:p>
        </p:txBody>
      </p:sp>
      <p:sp>
        <p:nvSpPr>
          <p:cNvPr id="3" name="Text 1"/>
          <p:cNvSpPr/>
          <p:nvPr/>
        </p:nvSpPr>
        <p:spPr>
          <a:xfrm>
            <a:off x="502920" y="475488"/>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The B0 baseline and fair-comparison caveats</a:t>
            </a:r>
            <a:endParaRPr lang="en-US" sz="2700" dirty="0"/>
          </a:p>
        </p:txBody>
      </p:sp>
      <p:pic>
        <p:nvPicPr>
          <p:cNvPr id="4" name="Image 0" descr="/Users/afarbin/CaloGNN/CaloGraphNet/notes/DFM-NOTE-2026-01-jet-pt-calibration/figures/H3_b0_profiles.png">    </p:cNvPr>
          <p:cNvPicPr>
            <a:picLocks noChangeAspect="1"/>
          </p:cNvPicPr>
          <p:nvPr/>
        </p:nvPicPr>
        <p:blipFill>
          <a:blip r:embed="rId1"/>
          <a:stretch>
            <a:fillRect/>
          </a:stretch>
        </p:blipFill>
        <p:spPr>
          <a:xfrm>
            <a:off x="822960" y="1234440"/>
            <a:ext cx="10515600" cy="3732551"/>
          </a:xfrm>
          <a:prstGeom prst="rect">
            <a:avLst/>
          </a:prstGeom>
        </p:spPr>
      </p:pic>
      <p:sp>
        <p:nvSpPr>
          <p:cNvPr id="5" name="Text 2"/>
          <p:cNvSpPr/>
          <p:nvPr/>
        </p:nvSpPr>
        <p:spPr>
          <a:xfrm>
            <a:off x="822960" y="5029200"/>
            <a:ext cx="10515600" cy="292608"/>
          </a:xfrm>
          <a:prstGeom prst="rect">
            <a:avLst/>
          </a:prstGeom>
          <a:noFill/>
          <a:ln/>
        </p:spPr>
        <p:txBody>
          <a:bodyPr wrap="square" lIns="0" tIns="0" rIns="0" bIns="0" rtlCol="0" anchor="ctr"/>
          <a:lstStyle/>
          <a:p>
            <a:pPr indent="0" marL="0">
              <a:buNone/>
            </a:pPr>
            <a:r>
              <a:rPr lang="en-US" sz="1000" i="1" dirty="0">
                <a:solidFill>
                  <a:srgbClr val="667085"/>
                </a:solidFill>
                <a:latin typeface="Calibri" pitchFamily="34" charset="0"/>
                <a:ea typeface="Calibri" pitchFamily="34" charset="-122"/>
                <a:cs typeface="Calibri" pitchFamily="34" charset="-120"/>
              </a:rPr>
              <a:t>JES and JER profiles vs pT, η, φ — model vs the stored calibrated jets (B0), identical test jets and estimators.</a:t>
            </a:r>
            <a:endParaRPr lang="en-US" sz="1000" dirty="0"/>
          </a:p>
        </p:txBody>
      </p:sp>
      <p:sp>
        <p:nvSpPr>
          <p:cNvPr id="6" name="Text 3"/>
          <p:cNvSpPr/>
          <p:nvPr/>
        </p:nvSpPr>
        <p:spPr>
          <a:xfrm>
            <a:off x="822960" y="5440680"/>
            <a:ext cx="10515600" cy="1188720"/>
          </a:xfrm>
          <a:prstGeom prst="rect">
            <a:avLst/>
          </a:prstGeom>
          <a:noFill/>
          <a:ln/>
        </p:spPr>
        <p:txBody>
          <a:bodyPr wrap="square" lIns="0" tIns="0" rIns="0" bIns="0" rtlCol="0" anchor="t"/>
          <a:lstStyle/>
          <a:p>
            <a:pPr marL="127000" indent="-127000">
              <a:lnSpc>
                <a:spcPct val="107000"/>
              </a:lnSpc>
              <a:buSzPct val="100000"/>
              <a:buChar char="•"/>
            </a:pPr>
            <a:r>
              <a:rPr lang="en-US" sz="1150" b="1" dirty="0">
                <a:solidFill>
                  <a:srgbClr val="1E2761"/>
                </a:solidFill>
                <a:latin typeface="Calibri" pitchFamily="34" charset="0"/>
                <a:ea typeface="Calibri" pitchFamily="34" charset="-122"/>
                <a:cs typeface="Calibri" pitchFamily="34" charset="-120"/>
              </a:rPr>
              <a:t>B0</a:t>
            </a:r>
            <a:pPr indent="0" marL="0">
              <a:lnSpc>
                <a:spcPct val="107000"/>
              </a:lnSpc>
              <a:spcAft>
                <a:spcPts val="600"/>
              </a:spcAft>
              <a:buNone/>
            </a:pPr>
            <a:r>
              <a:rPr lang="en-US" sz="1150" dirty="0">
                <a:solidFill>
                  <a:srgbClr val="232833"/>
                </a:solidFill>
                <a:latin typeface="Calibri" pitchFamily="34" charset="0"/>
                <a:ea typeface="Calibri" pitchFamily="34" charset="-122"/>
                <a:cs typeface="Calibri" pitchFamily="34" charset="-120"/>
              </a:rPr>
              <a:t> = the calibrated jet pT already stored in the ntuple, evaluated with the identical binning and estimators on the identical test jets.</a:t>
            </a:r>
            <a:endParaRPr lang="en-US" sz="1150" dirty="0"/>
          </a:p>
          <a:p>
            <a:pPr marL="127000" indent="-127000">
              <a:lnSpc>
                <a:spcPct val="107000"/>
              </a:lnSpc>
              <a:buSzPct val="100000"/>
              <a:buChar char="•"/>
            </a:pPr>
            <a:r>
              <a:rPr lang="en-US" sz="1150" b="1" dirty="0">
                <a:solidFill>
                  <a:srgbClr val="1E2761"/>
                </a:solidFill>
                <a:latin typeface="Calibri" pitchFamily="34" charset="0"/>
                <a:ea typeface="Calibri" pitchFamily="34" charset="-122"/>
                <a:cs typeface="Calibri" pitchFamily="34" charset="-120"/>
              </a:rPr>
              <a:t>Caveats:</a:t>
            </a:r>
            <a:pPr indent="0" marL="0">
              <a:lnSpc>
                <a:spcPct val="107000"/>
              </a:lnSpc>
              <a:spcAft>
                <a:spcPts val="600"/>
              </a:spcAft>
              <a:buNone/>
            </a:pPr>
            <a:r>
              <a:rPr lang="en-US" sz="1150" dirty="0">
                <a:solidFill>
                  <a:srgbClr val="232833"/>
                </a:solidFill>
                <a:latin typeface="Calibri" pitchFamily="34" charset="0"/>
                <a:ea typeface="Calibri" pitchFamily="34" charset="-122"/>
                <a:cs typeface="Calibri" pitchFamily="34" charset="-120"/>
              </a:rPr>
              <a:t> that calibration was derived elsewhere (different target, samples, estimator conventions); our sample is t̄t-only and, for the headline, light-quark isolated jets; aggregation is jet-weighted.</a:t>
            </a:r>
            <a:endParaRPr lang="en-US" sz="1150" dirty="0"/>
          </a:p>
          <a:p>
            <a:pPr marL="127000" indent="-127000">
              <a:lnSpc>
                <a:spcPct val="107000"/>
              </a:lnSpc>
              <a:buSzPct val="100000"/>
              <a:buChar char="•"/>
            </a:pPr>
            <a:r>
              <a:rPr lang="en-US" sz="1150" b="1" dirty="0">
                <a:solidFill>
                  <a:srgbClr val="1E2761"/>
                </a:solidFill>
                <a:latin typeface="Calibri" pitchFamily="34" charset="0"/>
                <a:ea typeface="Calibri" pitchFamily="34" charset="-122"/>
                <a:cs typeface="Calibri" pitchFamily="34" charset="-120"/>
              </a:rPr>
              <a:t>Therefore</a:t>
            </a:r>
            <a:pPr indent="0" marL="0">
              <a:lnSpc>
                <a:spcPct val="107000"/>
              </a:lnSpc>
              <a:spcAft>
                <a:spcPts val="600"/>
              </a:spcAft>
              <a:buNone/>
            </a:pPr>
            <a:r>
              <a:rPr lang="en-US" sz="1150" dirty="0">
                <a:solidFill>
                  <a:srgbClr val="232833"/>
                </a:solidFill>
                <a:latin typeface="Calibri" pitchFamily="34" charset="0"/>
                <a:ea typeface="Calibri" pitchFamily="34" charset="-122"/>
                <a:cs typeface="Calibri" pitchFamily="34" charset="-120"/>
              </a:rPr>
              <a:t> “JER × 0.50” is an internally consistent, indicative comparison — not a claim against the official in-situ calibration chain.</a:t>
            </a:r>
            <a:endParaRPr lang="en-US" sz="1150" dirty="0"/>
          </a:p>
        </p:txBody>
      </p:sp>
      <p:sp>
        <p:nvSpPr>
          <p:cNvPr id="7" name="Text 4"/>
          <p:cNvSpPr/>
          <p:nvPr/>
        </p:nvSpPr>
        <p:spPr>
          <a:xfrm>
            <a:off x="502920" y="6510528"/>
            <a:ext cx="4114800" cy="27432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DFM feasibility — UT Arlington · Aug 2026</a:t>
            </a:r>
            <a:endParaRPr lang="en-US" sz="900" dirty="0"/>
          </a:p>
        </p:txBody>
      </p:sp>
      <p:sp>
        <p:nvSpPr>
          <p:cNvPr id="8" name="Text 5"/>
          <p:cNvSpPr/>
          <p:nvPr/>
        </p:nvSpPr>
        <p:spPr>
          <a:xfrm>
            <a:off x="11430000" y="6510528"/>
            <a:ext cx="365760" cy="274320"/>
          </a:xfrm>
          <a:prstGeom prst="rect">
            <a:avLst/>
          </a:prstGeom>
          <a:noFill/>
          <a:ln/>
        </p:spPr>
        <p:txBody>
          <a:bodyPr wrap="square" lIns="0" tIns="0" rIns="0" bIns="0"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56032"/>
            <a:ext cx="11155680" cy="274320"/>
          </a:xfrm>
          <a:prstGeom prst="rect">
            <a:avLst/>
          </a:prstGeom>
          <a:noFill/>
          <a:ln/>
        </p:spPr>
        <p:txBody>
          <a:bodyPr wrap="square" lIns="0" tIns="0" rIns="0" bIns="0" rtlCol="0" anchor="ctr"/>
          <a:lstStyle/>
          <a:p>
            <a:pPr indent="0" marL="0">
              <a:buNone/>
            </a:pPr>
            <a:r>
              <a:rPr lang="en-US" sz="1050" b="1" spc="200" kern="0" dirty="0">
                <a:solidFill>
                  <a:srgbClr val="667085"/>
                </a:solidFill>
                <a:latin typeface="Calibri" pitchFamily="34" charset="0"/>
                <a:ea typeface="Calibri" pitchFamily="34" charset="-122"/>
                <a:cs typeface="Calibri" pitchFamily="34" charset="-120"/>
              </a:rPr>
              <a:t>BACKUP — EVENT-LEVEL TASKS</a:t>
            </a:r>
            <a:endParaRPr lang="en-US" sz="1050" dirty="0"/>
          </a:p>
        </p:txBody>
      </p:sp>
      <p:sp>
        <p:nvSpPr>
          <p:cNvPr id="3" name="Text 1"/>
          <p:cNvSpPr/>
          <p:nvPr/>
        </p:nvSpPr>
        <p:spPr>
          <a:xfrm>
            <a:off x="502920" y="475488"/>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T3: MET estimation from tracks + cells</a:t>
            </a:r>
            <a:endParaRPr lang="en-US" sz="2700" dirty="0"/>
          </a:p>
        </p:txBody>
      </p:sp>
      <p:sp>
        <p:nvSpPr>
          <p:cNvPr id="4" name="Text 2"/>
          <p:cNvSpPr/>
          <p:nvPr/>
        </p:nvSpPr>
        <p:spPr>
          <a:xfrm>
            <a:off x="502920" y="1234440"/>
            <a:ext cx="5806440" cy="2286000"/>
          </a:xfrm>
          <a:prstGeom prst="rect">
            <a:avLst/>
          </a:prstGeom>
          <a:noFill/>
          <a:ln/>
        </p:spPr>
        <p:txBody>
          <a:bodyPr wrap="square" lIns="0" tIns="0" rIns="0" bIns="0" rtlCol="0" anchor="t"/>
          <a:lstStyle/>
          <a:p>
            <a:pPr marL="127000" indent="-127000">
              <a:lnSpc>
                <a:spcPct val="107000"/>
              </a:lnSpc>
              <a:buSzPct val="100000"/>
              <a:buChar char="•"/>
            </a:pPr>
            <a:r>
              <a:rPr lang="en-US" sz="1200" b="1" dirty="0">
                <a:solidFill>
                  <a:srgbClr val="1E2761"/>
                </a:solidFill>
                <a:latin typeface="Calibri" pitchFamily="34" charset="0"/>
                <a:ea typeface="Calibri" pitchFamily="34" charset="-122"/>
                <a:cs typeface="Calibri" pitchFamily="34" charset="-120"/>
              </a:rPr>
              <a:t>Target:</a:t>
            </a:r>
            <a:pPr indent="0" marL="0">
              <a:lnSpc>
                <a:spcPct val="107000"/>
              </a:lnSpc>
              <a:spcAft>
                <a:spcPts val="800"/>
              </a:spcAft>
              <a:buNone/>
            </a:pPr>
            <a:r>
              <a:rPr lang="en-US" sz="1200" dirty="0">
                <a:solidFill>
                  <a:srgbClr val="232833"/>
                </a:solidFill>
                <a:latin typeface="Calibri" pitchFamily="34" charset="0"/>
                <a:ea typeface="Calibri" pitchFamily="34" charset="-122"/>
                <a:cs typeface="Calibri" pitchFamily="34" charset="-120"/>
              </a:rPr>
              <a:t> truth MET = vector sum of truth-record neutrinos. One sample = one event: all PV/unassociated tracks (pT &gt; 0.5 GeV, ≤500) and all matched cells with the transferred event neighbor subgraph.</a:t>
            </a:r>
            <a:endParaRPr lang="en-US" sz="1200" dirty="0"/>
          </a:p>
          <a:p>
            <a:pPr marL="127000" indent="-127000">
              <a:lnSpc>
                <a:spcPct val="107000"/>
              </a:lnSpc>
              <a:buSzPct val="100000"/>
              <a:buChar char="•"/>
            </a:pPr>
            <a:r>
              <a:rPr lang="en-US" sz="1200" b="1" dirty="0">
                <a:solidFill>
                  <a:srgbClr val="1E2761"/>
                </a:solidFill>
                <a:latin typeface="Calibri" pitchFamily="34" charset="0"/>
                <a:ea typeface="Calibri" pitchFamily="34" charset="-122"/>
                <a:cs typeface="Calibri" pitchFamily="34" charset="-120"/>
              </a:rPr>
              <a:t>Head:</a:t>
            </a:r>
            <a:pPr indent="0" marL="0">
              <a:lnSpc>
                <a:spcPct val="107000"/>
              </a:lnSpc>
              <a:spcAft>
                <a:spcPts val="800"/>
              </a:spcAft>
              <a:buNone/>
            </a:pPr>
            <a:r>
              <a:rPr lang="en-US" sz="1200" dirty="0">
                <a:solidFill>
                  <a:srgbClr val="232833"/>
                </a:solidFill>
                <a:latin typeface="Calibri" pitchFamily="34" charset="0"/>
                <a:ea typeface="Calibri" pitchFamily="34" charset="-122"/>
                <a:cs typeface="Calibri" pitchFamily="34" charset="-120"/>
              </a:rPr>
              <a:t> pooled global token → (MET_x, MET_y); Huber loss on MET/100 GeV.</a:t>
            </a:r>
            <a:endParaRPr lang="en-US" sz="1200" dirty="0"/>
          </a:p>
          <a:p>
            <a:pPr marL="127000" indent="-127000">
              <a:lnSpc>
                <a:spcPct val="107000"/>
              </a:lnSpc>
              <a:buSzPct val="100000"/>
              <a:buChar char="•"/>
            </a:pPr>
            <a:r>
              <a:rPr lang="en-US" sz="1200" b="1" dirty="0">
                <a:solidFill>
                  <a:srgbClr val="1E2761"/>
                </a:solidFill>
                <a:latin typeface="Calibri" pitchFamily="34" charset="0"/>
                <a:ea typeface="Calibri" pitchFamily="34" charset="-122"/>
                <a:cs typeface="Calibri" pitchFamily="34" charset="-120"/>
              </a:rPr>
              <a:t>Baselines:</a:t>
            </a:r>
            <a:pPr indent="0" marL="0">
              <a:lnSpc>
                <a:spcPct val="107000"/>
              </a:lnSpc>
              <a:spcAft>
                <a:spcPts val="800"/>
              </a:spcAft>
              <a:buNone/>
            </a:pPr>
            <a:r>
              <a:rPr lang="en-US" sz="1200" dirty="0">
                <a:solidFill>
                  <a:srgbClr val="232833"/>
                </a:solidFill>
                <a:latin typeface="Calibri" pitchFamily="34" charset="0"/>
                <a:ea typeface="Calibri" pitchFamily="34" charset="-122"/>
                <a:cs typeface="Calibri" pitchFamily="34" charset="-120"/>
              </a:rPr>
              <a:t> negative vector sums of tracks / cells / matched jets, computed on the identical test events.</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3657600"/>
          <a:ext cx="5806440" cy="914400"/>
        </p:xfrm>
        <a:graphic>
          <a:graphicData uri="http://schemas.openxmlformats.org/drawingml/2006/table">
            <a:tbl>
              <a:tblPr/>
              <a:tblGrid>
                <a:gridCol w="2103120"/>
                <a:gridCol w="370332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Estimator</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σ68 per component [GeV]</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solidFill>
                      <a:srgbClr val="1E2761"/>
                    </a:solidFill>
                  </a:tcPr>
                </a:tc>
              </a:tr>
              <a:tr h="329184">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track sum</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60.6</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329184">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cell sum</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43.2</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329184">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jet sum</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44.2</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329184">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model, tracks only</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49.5 — collapsed to constant output</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329184">
                <a:tc>
                  <a:txBody>
                    <a:bodyPr/>
                    <a:lstStyle/>
                    <a:p>
                      <a:pPr indent="0" marL="0">
                        <a:buNone/>
                      </a:pPr>
                      <a:r>
                        <a:rPr lang="en-US" sz="1050" b="1" dirty="0">
                          <a:solidFill>
                            <a:srgbClr val="232833"/>
                          </a:solidFill>
                          <a:latin typeface="Calibri" pitchFamily="34" charset="0"/>
                          <a:ea typeface="Calibri" pitchFamily="34" charset="-122"/>
                          <a:cs typeface="Calibri" pitchFamily="34" charset="-120"/>
                        </a:rPr>
                        <a:t>model, tracks + cells</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solidFill>
                      <a:srgbClr val="FDF0DC"/>
                    </a:solidFill>
                  </a:tcPr>
                </a:tc>
                <a:tc>
                  <a:txBody>
                    <a:bodyPr/>
                    <a:lstStyle/>
                    <a:p>
                      <a:pPr indent="0" marL="0">
                        <a:buNone/>
                      </a:pPr>
                      <a:r>
                        <a:rPr lang="en-US" sz="1050" b="1" dirty="0">
                          <a:solidFill>
                            <a:srgbClr val="232833"/>
                          </a:solidFill>
                          <a:latin typeface="Calibri" pitchFamily="34" charset="0"/>
                          <a:ea typeface="Calibri" pitchFamily="34" charset="-122"/>
                          <a:cs typeface="Calibri" pitchFamily="34" charset="-120"/>
                        </a:rPr>
                        <a:t>27.0 ± 0.1  (3 seeds)   −37% vs best classical</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solidFill>
                      <a:srgbClr val="FDF0DC"/>
                    </a:solidFill>
                  </a:tcPr>
                </a:tc>
              </a:tr>
            </a:tbl>
          </a:graphicData>
        </a:graphic>
      </p:graphicFrame>
      <p:sp>
        <p:nvSpPr>
          <p:cNvPr id="6" name="Text 3"/>
          <p:cNvSpPr/>
          <p:nvPr/>
        </p:nvSpPr>
        <p:spPr>
          <a:xfrm>
            <a:off x="502920" y="5806440"/>
            <a:ext cx="5806440" cy="640080"/>
          </a:xfrm>
          <a:prstGeom prst="rect">
            <a:avLst/>
          </a:prstGeom>
          <a:noFill/>
          <a:ln/>
        </p:spPr>
        <p:txBody>
          <a:bodyPr wrap="square" lIns="0" tIns="0" rIns="0" bIns="0" rtlCol="0" anchor="ctr"/>
          <a:lstStyle/>
          <a:p>
            <a:pPr indent="0" marL="0">
              <a:lnSpc>
                <a:spcPct val="105000"/>
              </a:lnSpc>
              <a:buNone/>
            </a:pPr>
            <a:r>
              <a:rPr lang="en-US" sz="1150" i="1" dirty="0">
                <a:solidFill>
                  <a:srgbClr val="667085"/>
                </a:solidFill>
                <a:latin typeface="Calibri" pitchFamily="34" charset="0"/>
                <a:ea typeface="Calibri" pitchFamily="34" charset="-122"/>
                <a:cs typeface="Calibri" pitchFamily="34" charset="-120"/>
              </a:rPr>
              <a:t>Improvement is uniform over the full MET range; the cell-sum baseline degrades steeply once true MET is large.</a:t>
            </a:r>
            <a:endParaRPr lang="en-US" sz="1150" dirty="0"/>
          </a:p>
        </p:txBody>
      </p:sp>
      <p:pic>
        <p:nvPicPr>
          <p:cNvPr id="7" name="Image 0" descr="/private/tmp/claude-503/-Users-afarbin-CaloGNN-CaloGraphNet/641347a1-f97c-4347-b083-6ec9af739b1e/scratchpad/t34/T3B_resolution_vs_met.png">    </p:cNvPr>
          <p:cNvPicPr>
            <a:picLocks noChangeAspect="1"/>
          </p:cNvPicPr>
          <p:nvPr/>
        </p:nvPicPr>
        <p:blipFill>
          <a:blip r:embed="rId1"/>
          <a:stretch>
            <a:fillRect/>
          </a:stretch>
        </p:blipFill>
        <p:spPr>
          <a:xfrm>
            <a:off x="6675120" y="1325880"/>
            <a:ext cx="4846320" cy="3634740"/>
          </a:xfrm>
          <a:prstGeom prst="rect">
            <a:avLst/>
          </a:prstGeom>
        </p:spPr>
      </p:pic>
      <p:sp>
        <p:nvSpPr>
          <p:cNvPr id="8" name="Text 4"/>
          <p:cNvSpPr/>
          <p:nvPr/>
        </p:nvSpPr>
        <p:spPr>
          <a:xfrm>
            <a:off x="6675120" y="5029200"/>
            <a:ext cx="4937760" cy="292608"/>
          </a:xfrm>
          <a:prstGeom prst="rect">
            <a:avLst/>
          </a:prstGeom>
          <a:noFill/>
          <a:ln/>
        </p:spPr>
        <p:txBody>
          <a:bodyPr wrap="square" lIns="0" tIns="0" rIns="0" bIns="0" rtlCol="0" anchor="ctr"/>
          <a:lstStyle/>
          <a:p>
            <a:pPr indent="0" marL="0">
              <a:buNone/>
            </a:pPr>
            <a:r>
              <a:rPr lang="en-US" sz="1000" i="1" dirty="0">
                <a:solidFill>
                  <a:srgbClr val="667085"/>
                </a:solidFill>
                <a:latin typeface="Calibri" pitchFamily="34" charset="0"/>
                <a:ea typeface="Calibri" pitchFamily="34" charset="-122"/>
                <a:cs typeface="Calibri" pitchFamily="34" charset="-120"/>
              </a:rPr>
              <a:t>Resolution vs true |MET|: learned estimate vs classical vector sums, identical test events.</a:t>
            </a:r>
            <a:endParaRPr lang="en-US" sz="1000" dirty="0"/>
          </a:p>
        </p:txBody>
      </p:sp>
      <p:sp>
        <p:nvSpPr>
          <p:cNvPr id="9" name="Text 5"/>
          <p:cNvSpPr/>
          <p:nvPr/>
        </p:nvSpPr>
        <p:spPr>
          <a:xfrm>
            <a:off x="502920" y="6510528"/>
            <a:ext cx="4114800" cy="27432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DFM feasibility — UT Arlington · Aug 2026</a:t>
            </a:r>
            <a:endParaRPr lang="en-US" sz="900" dirty="0"/>
          </a:p>
        </p:txBody>
      </p:sp>
      <p:sp>
        <p:nvSpPr>
          <p:cNvPr id="10" name="Text 6"/>
          <p:cNvSpPr/>
          <p:nvPr/>
        </p:nvSpPr>
        <p:spPr>
          <a:xfrm>
            <a:off x="11430000" y="6510528"/>
            <a:ext cx="365760" cy="274320"/>
          </a:xfrm>
          <a:prstGeom prst="rect">
            <a:avLst/>
          </a:prstGeom>
          <a:noFill/>
          <a:ln/>
        </p:spPr>
        <p:txBody>
          <a:bodyPr wrap="square" lIns="0" tIns="0" rIns="0" bIns="0"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56032"/>
            <a:ext cx="11155680" cy="274320"/>
          </a:xfrm>
          <a:prstGeom prst="rect">
            <a:avLst/>
          </a:prstGeom>
          <a:noFill/>
          <a:ln/>
        </p:spPr>
        <p:txBody>
          <a:bodyPr wrap="square" lIns="0" tIns="0" rIns="0" bIns="0" rtlCol="0" anchor="ctr"/>
          <a:lstStyle/>
          <a:p>
            <a:pPr indent="0" marL="0">
              <a:buNone/>
            </a:pPr>
            <a:r>
              <a:rPr lang="en-US" sz="1050" b="1" spc="200" kern="0" dirty="0">
                <a:solidFill>
                  <a:srgbClr val="667085"/>
                </a:solidFill>
                <a:latin typeface="Calibri" pitchFamily="34" charset="0"/>
                <a:ea typeface="Calibri" pitchFamily="34" charset="-122"/>
                <a:cs typeface="Calibri" pitchFamily="34" charset="-120"/>
              </a:rPr>
              <a:t>BACKUP — EVENT-LEVEL TASKS</a:t>
            </a:r>
            <a:endParaRPr lang="en-US" sz="1050" dirty="0"/>
          </a:p>
        </p:txBody>
      </p:sp>
      <p:sp>
        <p:nvSpPr>
          <p:cNvPr id="3" name="Text 1"/>
          <p:cNvSpPr/>
          <p:nvPr/>
        </p:nvSpPr>
        <p:spPr>
          <a:xfrm>
            <a:off x="502920" y="475488"/>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T3: where the MET information lives</a:t>
            </a:r>
            <a:endParaRPr lang="en-US" sz="2700" dirty="0"/>
          </a:p>
        </p:txBody>
      </p:sp>
      <p:pic>
        <p:nvPicPr>
          <p:cNvPr id="4" name="Image 0" descr="/private/tmp/claude-503/-Users-afarbin-CaloGNN-CaloGraphNet/641347a1-f97c-4347-b083-6ec9af739b1e/scratchpad/t34/T3C_correlation.png">    </p:cNvPr>
          <p:cNvPicPr>
            <a:picLocks noChangeAspect="1"/>
          </p:cNvPicPr>
          <p:nvPr/>
        </p:nvPicPr>
        <p:blipFill>
          <a:blip r:embed="rId1"/>
          <a:stretch>
            <a:fillRect/>
          </a:stretch>
        </p:blipFill>
        <p:spPr>
          <a:xfrm>
            <a:off x="1920240" y="1234440"/>
            <a:ext cx="8321040" cy="3870251"/>
          </a:xfrm>
          <a:prstGeom prst="rect">
            <a:avLst/>
          </a:prstGeom>
        </p:spPr>
      </p:pic>
      <p:sp>
        <p:nvSpPr>
          <p:cNvPr id="5" name="Text 2"/>
          <p:cNvSpPr/>
          <p:nvPr/>
        </p:nvSpPr>
        <p:spPr>
          <a:xfrm>
            <a:off x="1920240" y="5257800"/>
            <a:ext cx="8321040" cy="292608"/>
          </a:xfrm>
          <a:prstGeom prst="rect">
            <a:avLst/>
          </a:prstGeom>
          <a:noFill/>
          <a:ln/>
        </p:spPr>
        <p:txBody>
          <a:bodyPr wrap="square" lIns="0" tIns="0" rIns="0" bIns="0" rtlCol="0" anchor="ctr"/>
          <a:lstStyle/>
          <a:p>
            <a:pPr indent="0" marL="0">
              <a:buNone/>
            </a:pPr>
            <a:r>
              <a:rPr lang="en-US" sz="1000" i="1" dirty="0">
                <a:solidFill>
                  <a:srgbClr val="667085"/>
                </a:solidFill>
                <a:latin typeface="Calibri" pitchFamily="34" charset="0"/>
                <a:ea typeface="Calibri" pitchFamily="34" charset="-122"/>
                <a:cs typeface="Calibri" pitchFamily="34" charset="-120"/>
              </a:rPr>
              <a:t>Predicted vs true |MET|, test events: the same encoder with cells (left) and without (right).</a:t>
            </a:r>
            <a:endParaRPr lang="en-US" sz="1000" dirty="0"/>
          </a:p>
        </p:txBody>
      </p:sp>
      <p:sp>
        <p:nvSpPr>
          <p:cNvPr id="6" name="Text 3"/>
          <p:cNvSpPr/>
          <p:nvPr/>
        </p:nvSpPr>
        <p:spPr>
          <a:xfrm>
            <a:off x="822960" y="5669280"/>
            <a:ext cx="10515600" cy="1051560"/>
          </a:xfrm>
          <a:prstGeom prst="rect">
            <a:avLst/>
          </a:prstGeom>
          <a:noFill/>
          <a:ln/>
        </p:spPr>
        <p:txBody>
          <a:bodyPr wrap="square" lIns="0" tIns="0" rIns="0" bIns="0" rtlCol="0" anchor="t"/>
          <a:lstStyle/>
          <a:p>
            <a:pPr marL="127000" indent="-127000">
              <a:lnSpc>
                <a:spcPct val="107000"/>
              </a:lnSpc>
              <a:buSzPct val="100000"/>
              <a:buChar char="•"/>
            </a:pPr>
            <a:r>
              <a:rPr lang="en-US" sz="1150" b="1" dirty="0">
                <a:solidFill>
                  <a:srgbClr val="1E2761"/>
                </a:solidFill>
                <a:latin typeface="Calibri" pitchFamily="34" charset="0"/>
                <a:ea typeface="Calibri" pitchFamily="34" charset="-122"/>
                <a:cs typeface="Calibri" pitchFamily="34" charset="-120"/>
              </a:rPr>
              <a:t>Tracks alone collapse:</a:t>
            </a:r>
            <a:pPr indent="0" marL="0">
              <a:lnSpc>
                <a:spcPct val="107000"/>
              </a:lnSpc>
              <a:spcAft>
                <a:spcPts val="600"/>
              </a:spcAft>
              <a:buNone/>
            </a:pPr>
            <a:r>
              <a:rPr lang="en-US" sz="1150" dirty="0">
                <a:solidFill>
                  <a:srgbClr val="232833"/>
                </a:solidFill>
                <a:latin typeface="Calibri" pitchFamily="34" charset="0"/>
                <a:ea typeface="Calibri" pitchFamily="34" charset="-122"/>
                <a:cs typeface="Calibri" pitchFamily="34" charset="-120"/>
              </a:rPr>
              <a:t> every seed converges to a near-constant output (prediction spread ≈ 0, correlation ≈ 0) — charged recoil carries almost no extractable neutrino information at this scale, and the optimizer finds the trivial minimum.</a:t>
            </a:r>
            <a:endParaRPr lang="en-US" sz="1150" dirty="0"/>
          </a:p>
          <a:p>
            <a:pPr marL="127000" indent="-127000">
              <a:lnSpc>
                <a:spcPct val="107000"/>
              </a:lnSpc>
              <a:buSzPct val="100000"/>
              <a:buChar char="•"/>
            </a:pPr>
            <a:r>
              <a:rPr lang="en-US" sz="1150" b="1" dirty="0">
                <a:solidFill>
                  <a:srgbClr val="1E2761"/>
                </a:solidFill>
                <a:latin typeface="Calibri" pitchFamily="34" charset="0"/>
                <a:ea typeface="Calibri" pitchFamily="34" charset="-122"/>
                <a:cs typeface="Calibri" pitchFamily="34" charset="-120"/>
              </a:rPr>
              <a:t>Cells flip the outcome:</a:t>
            </a:r>
            <a:pPr indent="0" marL="0">
              <a:lnSpc>
                <a:spcPct val="107000"/>
              </a:lnSpc>
              <a:spcAft>
                <a:spcPts val="600"/>
              </a:spcAft>
              <a:buNone/>
            </a:pPr>
            <a:r>
              <a:rPr lang="en-US" sz="1150" dirty="0">
                <a:solidFill>
                  <a:srgbClr val="232833"/>
                </a:solidFill>
                <a:latin typeface="Calibri" pitchFamily="34" charset="0"/>
                <a:ea typeface="Calibri" pitchFamily="34" charset="-122"/>
                <a:cs typeface="Calibri" pitchFamily="34" charset="-120"/>
              </a:rPr>
              <a:t> the identical encoder, given the matched cells and their transferred neighbor graph, correlates strongly with truth — MET is a calorimeter measurement, and the event-level graph the cell-matching bridge enables is doing real work.</a:t>
            </a:r>
            <a:endParaRPr lang="en-US" sz="1150" dirty="0"/>
          </a:p>
        </p:txBody>
      </p:sp>
      <p:sp>
        <p:nvSpPr>
          <p:cNvPr id="7" name="Text 4"/>
          <p:cNvSpPr/>
          <p:nvPr/>
        </p:nvSpPr>
        <p:spPr>
          <a:xfrm>
            <a:off x="502920" y="6510528"/>
            <a:ext cx="4114800" cy="27432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DFM feasibility — UT Arlington · Aug 2026</a:t>
            </a:r>
            <a:endParaRPr lang="en-US" sz="900" dirty="0"/>
          </a:p>
        </p:txBody>
      </p:sp>
      <p:sp>
        <p:nvSpPr>
          <p:cNvPr id="8" name="Text 5"/>
          <p:cNvSpPr/>
          <p:nvPr/>
        </p:nvSpPr>
        <p:spPr>
          <a:xfrm>
            <a:off x="11430000" y="6510528"/>
            <a:ext cx="365760" cy="274320"/>
          </a:xfrm>
          <a:prstGeom prst="rect">
            <a:avLst/>
          </a:prstGeom>
          <a:noFill/>
          <a:ln/>
        </p:spPr>
        <p:txBody>
          <a:bodyPr wrap="square" lIns="0" tIns="0" rIns="0" bIns="0"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56032"/>
            <a:ext cx="11155680" cy="274320"/>
          </a:xfrm>
          <a:prstGeom prst="rect">
            <a:avLst/>
          </a:prstGeom>
          <a:noFill/>
          <a:ln/>
        </p:spPr>
        <p:txBody>
          <a:bodyPr wrap="square" lIns="0" tIns="0" rIns="0" bIns="0" rtlCol="0" anchor="ctr"/>
          <a:lstStyle/>
          <a:p>
            <a:pPr indent="0" marL="0">
              <a:buNone/>
            </a:pPr>
            <a:r>
              <a:rPr lang="en-US" sz="1050" b="1" spc="200" kern="0" dirty="0">
                <a:solidFill>
                  <a:srgbClr val="667085"/>
                </a:solidFill>
                <a:latin typeface="Calibri" pitchFamily="34" charset="0"/>
                <a:ea typeface="Calibri" pitchFamily="34" charset="-122"/>
                <a:cs typeface="Calibri" pitchFamily="34" charset="-120"/>
              </a:rPr>
              <a:t>BACKUP — EVENT-LEVEL TASKS</a:t>
            </a:r>
            <a:endParaRPr lang="en-US" sz="1050" dirty="0"/>
          </a:p>
        </p:txBody>
      </p:sp>
      <p:sp>
        <p:nvSpPr>
          <p:cNvPr id="3" name="Text 1"/>
          <p:cNvSpPr/>
          <p:nvPr/>
        </p:nvSpPr>
        <p:spPr>
          <a:xfrm>
            <a:off x="502920" y="475488"/>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T4: one-shot jet finding via set prediction</a:t>
            </a:r>
            <a:endParaRPr lang="en-US" sz="2700" dirty="0"/>
          </a:p>
        </p:txBody>
      </p:sp>
      <p:sp>
        <p:nvSpPr>
          <p:cNvPr id="4" name="Text 2"/>
          <p:cNvSpPr/>
          <p:nvPr/>
        </p:nvSpPr>
        <p:spPr>
          <a:xfrm>
            <a:off x="502920" y="1234440"/>
            <a:ext cx="5943600" cy="1234440"/>
          </a:xfrm>
          <a:prstGeom prst="rect">
            <a:avLst/>
          </a:prstGeom>
          <a:noFill/>
          <a:ln/>
        </p:spPr>
        <p:txBody>
          <a:bodyPr wrap="square" lIns="0" tIns="0" rIns="0" bIns="0" rtlCol="0" anchor="t"/>
          <a:lstStyle/>
          <a:p>
            <a:pPr marL="127000" indent="-127000">
              <a:lnSpc>
                <a:spcPct val="107000"/>
              </a:lnSpc>
              <a:buSzPct val="100000"/>
              <a:buChar char="•"/>
            </a:pPr>
            <a:r>
              <a:rPr lang="en-US" sz="1200" b="1" dirty="0">
                <a:solidFill>
                  <a:srgbClr val="1E2761"/>
                </a:solidFill>
                <a:latin typeface="Calibri" pitchFamily="34" charset="0"/>
                <a:ea typeface="Calibri" pitchFamily="34" charset="-122"/>
                <a:cs typeface="Calibri" pitchFamily="34" charset="-120"/>
              </a:rPr>
              <a:t>Method (DETR-style):</a:t>
            </a:r>
            <a:pPr indent="0" marL="0">
              <a:lnSpc>
                <a:spcPct val="107000"/>
              </a:lnSpc>
              <a:spcAft>
                <a:spcPts val="600"/>
              </a:spcAft>
              <a:buNone/>
            </a:pPr>
            <a:r>
              <a:rPr lang="en-US" sz="1200" dirty="0">
                <a:solidFill>
                  <a:srgbClr val="232833"/>
                </a:solidFill>
                <a:latin typeface="Calibri" pitchFamily="34" charset="0"/>
                <a:ea typeface="Calibri" pitchFamily="34" charset="-122"/>
                <a:cs typeface="Calibri" pitchFamily="34" charset="-120"/>
              </a:rPr>
              <a:t> 12 learned queries cross-attend to the event tokens; per query (existence, log pT, η, φ). Hungarian-matched set loss: existence BCE + kinematic L1 on matched pairs. Truth: hard-scatter jets, pT &gt; 20 GeV.</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2560320"/>
          <a:ext cx="5943600" cy="914400"/>
        </p:xfrm>
        <a:graphic>
          <a:graphicData uri="http://schemas.openxmlformats.org/drawingml/2006/table">
            <a:tbl>
              <a:tblPr/>
              <a:tblGrid>
                <a:gridCol w="2468880"/>
                <a:gridCol w="1737360"/>
                <a:gridCol w="173736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Metric (3 seeds)</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tracks</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tracks + cells</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solidFill>
                      <a:srgbClr val="1E2761"/>
                    </a:solidFill>
                  </a:tcPr>
                </a:tc>
              </a:tr>
              <a:tr h="329184">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efficiency (pT &gt; 20)</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0.789 ± 0.010</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0.759 ± 0.052</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329184">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fake rate</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0.125 ± 0.021</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0.110 ± 0.016</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r h="329184">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log-pT MAE (found)</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0.293 ± 0.010</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c>
                  <a:txBody>
                    <a:bodyPr/>
                    <a:lstStyle/>
                    <a:p>
                      <a:pPr indent="0" marL="0">
                        <a:buNone/>
                      </a:pPr>
                      <a:r>
                        <a:rPr lang="en-US" sz="1050" dirty="0">
                          <a:solidFill>
                            <a:srgbClr val="232833"/>
                          </a:solidFill>
                          <a:latin typeface="Calibri" pitchFamily="34" charset="0"/>
                          <a:ea typeface="Calibri" pitchFamily="34" charset="-122"/>
                          <a:cs typeface="Calibri" pitchFamily="34" charset="-120"/>
                        </a:rPr>
                        <a:t>0.238 ± 0.015</a:t>
                      </a:r>
                      <a:endParaRPr lang="en-US" sz="1050" dirty="0">
                        <a:latin typeface="Calibri" charset="0"/>
                        <a:ea typeface="Calibri" charset="0"/>
                        <a:cs typeface="Calibri" charset="0"/>
                      </a:endParaRPr>
                    </a:p>
                  </a:txBody>
                  <a:tcPr marL="45720" marR="45720" marT="45720" marB="45720" anchor="ctr">
                    <a:lnL w="12700" cap="flat" cmpd="sng" algn="ctr">
                      <a:solidFill>
                        <a:srgbClr val="DCE4F0"/>
                      </a:solidFill>
                      <a:prstDash val="solid"/>
                      <a:round/>
                      <a:headEnd type="none" w="med" len="med"/>
                      <a:tailEnd type="none" w="med" len="med"/>
                    </a:lnL>
                    <a:lnR w="12700" cap="flat" cmpd="sng" algn="ctr">
                      <a:solidFill>
                        <a:srgbClr val="DCE4F0"/>
                      </a:solidFill>
                      <a:prstDash val="solid"/>
                      <a:round/>
                      <a:headEnd type="none" w="med" len="med"/>
                      <a:tailEnd type="none" w="med" len="med"/>
                    </a:lnR>
                    <a:lnT w="12700" cap="flat" cmpd="sng" algn="ctr">
                      <a:solidFill>
                        <a:srgbClr val="DCE4F0"/>
                      </a:solidFill>
                      <a:prstDash val="solid"/>
                      <a:round/>
                      <a:headEnd type="none" w="med" len="med"/>
                      <a:tailEnd type="none" w="med" len="med"/>
                    </a:lnT>
                    <a:lnB w="12700" cap="flat" cmpd="sng" algn="ctr">
                      <a:solidFill>
                        <a:srgbClr val="DCE4F0"/>
                      </a:solidFill>
                      <a:prstDash val="solid"/>
                      <a:round/>
                      <a:headEnd type="none" w="med" len="med"/>
                      <a:tailEnd type="none" w="med" len="med"/>
                    </a:lnB>
                  </a:tcPr>
                </a:tc>
              </a:tr>
            </a:tbl>
          </a:graphicData>
        </a:graphic>
      </p:graphicFrame>
      <p:sp>
        <p:nvSpPr>
          <p:cNvPr id="6" name="Text 3"/>
          <p:cNvSpPr/>
          <p:nvPr/>
        </p:nvSpPr>
        <p:spPr>
          <a:xfrm>
            <a:off x="502920" y="4206240"/>
            <a:ext cx="5943600" cy="1737360"/>
          </a:xfrm>
          <a:prstGeom prst="rect">
            <a:avLst/>
          </a:prstGeom>
          <a:noFill/>
          <a:ln/>
        </p:spPr>
        <p:txBody>
          <a:bodyPr wrap="square" lIns="0" tIns="0" rIns="0" bIns="0" rtlCol="0" anchor="t"/>
          <a:lstStyle/>
          <a:p>
            <a:pPr marL="127000" indent="-127000">
              <a:lnSpc>
                <a:spcPct val="107000"/>
              </a:lnSpc>
              <a:buSzPct val="100000"/>
              <a:buChar char="•"/>
            </a:pPr>
            <a:r>
              <a:rPr lang="en-US" sz="1200" b="1" dirty="0">
                <a:solidFill>
                  <a:srgbClr val="1E2761"/>
                </a:solidFill>
                <a:latin typeface="Calibri" pitchFamily="34" charset="0"/>
                <a:ea typeface="Calibri" pitchFamily="34" charset="-122"/>
                <a:cs typeface="Calibri" pitchFamily="34" charset="-120"/>
              </a:rPr>
              <a:t>Read the profile, not the integral:</a:t>
            </a:r>
            <a:pPr indent="0" marL="0">
              <a:lnSpc>
                <a:spcPct val="107000"/>
              </a:lnSpc>
              <a:spcAft>
                <a:spcPts val="800"/>
              </a:spcAft>
              <a:buNone/>
            </a:pPr>
            <a:r>
              <a:rPr lang="en-US" sz="1200" dirty="0">
                <a:solidFill>
                  <a:srgbClr val="232833"/>
                </a:solidFill>
                <a:latin typeface="Calibri" pitchFamily="34" charset="0"/>
                <a:ea typeface="Calibri" pitchFamily="34" charset="-122"/>
                <a:cs typeface="Calibri" pitchFamily="34" charset="-120"/>
              </a:rPr>
              <a:t> the scalar efficiency is dominated by the 20–30 GeV turn-on; at plateau (&gt; 80 GeV) the best seed reaches 0.99 with cells vs 0.95 without, and cells sharpen the found-jet kinematics.</a:t>
            </a:r>
            <a:endParaRPr lang="en-US" sz="1200" dirty="0"/>
          </a:p>
          <a:p>
            <a:pPr marL="127000" indent="-127000">
              <a:lnSpc>
                <a:spcPct val="107000"/>
              </a:lnSpc>
              <a:buSzPct val="100000"/>
              <a:buChar char="•"/>
            </a:pPr>
            <a:r>
              <a:rPr lang="en-US" sz="1200" b="1" dirty="0">
                <a:solidFill>
                  <a:srgbClr val="1E2761"/>
                </a:solidFill>
                <a:latin typeface="Calibri" pitchFamily="34" charset="0"/>
                <a:ea typeface="Calibri" pitchFamily="34" charset="-122"/>
                <a:cs typeface="Calibri" pitchFamily="34" charset="-120"/>
              </a:rPr>
              <a:t>DETR instability is real:</a:t>
            </a:r>
            <a:pPr indent="0" marL="0">
              <a:lnSpc>
                <a:spcPct val="107000"/>
              </a:lnSpc>
              <a:spcAft>
                <a:spcPts val="800"/>
              </a:spcAft>
              <a:buNone/>
            </a:pPr>
            <a:r>
              <a:rPr lang="en-US" sz="1200" dirty="0">
                <a:solidFill>
                  <a:srgbClr val="232833"/>
                </a:solidFill>
                <a:latin typeface="Calibri" pitchFamily="34" charset="0"/>
                <a:ea typeface="Calibri" pitchFamily="34" charset="-122"/>
                <a:cs typeface="Calibri" pitchFamily="34" charset="-120"/>
              </a:rPr>
              <a:t> large seed variance with cells (best-seed val 1.31 vs 1.71) — matching-stabilization techniques are the known fix and the obvious next step.</a:t>
            </a:r>
            <a:endParaRPr lang="en-US" sz="1200" dirty="0"/>
          </a:p>
        </p:txBody>
      </p:sp>
      <p:sp>
        <p:nvSpPr>
          <p:cNvPr id="7" name="Text 4"/>
          <p:cNvSpPr/>
          <p:nvPr/>
        </p:nvSpPr>
        <p:spPr>
          <a:xfrm>
            <a:off x="502920" y="6035040"/>
            <a:ext cx="5943600" cy="411480"/>
          </a:xfrm>
          <a:prstGeom prst="rect">
            <a:avLst/>
          </a:prstGeom>
          <a:noFill/>
          <a:ln/>
        </p:spPr>
        <p:txBody>
          <a:bodyPr wrap="square" lIns="0" tIns="0" rIns="0" bIns="0" rtlCol="0" anchor="ctr"/>
          <a:lstStyle/>
          <a:p>
            <a:pPr indent="0" marL="0">
              <a:buNone/>
            </a:pPr>
            <a:r>
              <a:rPr lang="en-US" sz="950" i="1" dirty="0">
                <a:solidFill>
                  <a:srgbClr val="667085"/>
                </a:solidFill>
                <a:latin typeface="Calibri" pitchFamily="34" charset="0"/>
                <a:ea typeface="Calibri" pitchFamily="34" charset="-122"/>
                <a:cs typeface="Calibri" pitchFamily="34" charset="-120"/>
              </a:rPr>
              <a:t>Rerun note: TC seeds trained under torch 2.13 after the reboot-forced venv rebuild; no checkpoints cross versions.</a:t>
            </a:r>
            <a:endParaRPr lang="en-US" sz="950" dirty="0"/>
          </a:p>
        </p:txBody>
      </p:sp>
      <p:pic>
        <p:nvPicPr>
          <p:cNvPr id="8" name="Image 0" descr="/private/tmp/claude-503/-Users-afarbin-CaloGNN-CaloGraphNet/641347a1-f97c-4347-b083-6ec9af739b1e/scratchpad/t34/T4A_efficiency.png">    </p:cNvPr>
          <p:cNvPicPr>
            <a:picLocks noChangeAspect="1"/>
          </p:cNvPicPr>
          <p:nvPr/>
        </p:nvPicPr>
        <p:blipFill>
          <a:blip r:embed="rId1"/>
          <a:stretch>
            <a:fillRect/>
          </a:stretch>
        </p:blipFill>
        <p:spPr>
          <a:xfrm>
            <a:off x="6903720" y="1207008"/>
            <a:ext cx="3291840" cy="2468880"/>
          </a:xfrm>
          <a:prstGeom prst="rect">
            <a:avLst/>
          </a:prstGeom>
        </p:spPr>
      </p:pic>
      <p:pic>
        <p:nvPicPr>
          <p:cNvPr id="9" name="Image 1" descr="/private/tmp/claude-503/-Users-afarbin-CaloGNN-CaloGraphNet/641347a1-f97c-4347-b083-6ec9af739b1e/scratchpad/t34/T4B_residuals.png">    </p:cNvPr>
          <p:cNvPicPr>
            <a:picLocks noChangeAspect="1"/>
          </p:cNvPicPr>
          <p:nvPr/>
        </p:nvPicPr>
        <p:blipFill>
          <a:blip r:embed="rId2"/>
          <a:stretch>
            <a:fillRect/>
          </a:stretch>
        </p:blipFill>
        <p:spPr>
          <a:xfrm>
            <a:off x="6903720" y="3822192"/>
            <a:ext cx="3291840" cy="2468880"/>
          </a:xfrm>
          <a:prstGeom prst="rect">
            <a:avLst/>
          </a:prstGeom>
        </p:spPr>
      </p:pic>
      <p:sp>
        <p:nvSpPr>
          <p:cNvPr id="10" name="Text 5"/>
          <p:cNvSpPr/>
          <p:nvPr/>
        </p:nvSpPr>
        <p:spPr>
          <a:xfrm>
            <a:off x="6675120" y="6355080"/>
            <a:ext cx="5120640" cy="292608"/>
          </a:xfrm>
          <a:prstGeom prst="rect">
            <a:avLst/>
          </a:prstGeom>
          <a:noFill/>
          <a:ln/>
        </p:spPr>
        <p:txBody>
          <a:bodyPr wrap="square" lIns="0" tIns="0" rIns="0" bIns="0" rtlCol="0" anchor="ctr"/>
          <a:lstStyle/>
          <a:p>
            <a:pPr indent="0" marL="0">
              <a:buNone/>
            </a:pPr>
            <a:r>
              <a:rPr lang="en-US" sz="1000" i="1" dirty="0">
                <a:solidFill>
                  <a:srgbClr val="667085"/>
                </a:solidFill>
                <a:latin typeface="Calibri" pitchFamily="34" charset="0"/>
                <a:ea typeface="Calibri" pitchFamily="34" charset="-122"/>
                <a:cs typeface="Calibri" pitchFamily="34" charset="-120"/>
              </a:rPr>
              <a:t>Top: finding efficiency vs truth pT (best seed). Bottom: log-pT residual of found jets.</a:t>
            </a:r>
            <a:endParaRPr lang="en-US" sz="1000" dirty="0"/>
          </a:p>
        </p:txBody>
      </p:sp>
      <p:sp>
        <p:nvSpPr>
          <p:cNvPr id="11" name="Text 6"/>
          <p:cNvSpPr/>
          <p:nvPr/>
        </p:nvSpPr>
        <p:spPr>
          <a:xfrm>
            <a:off x="502920" y="6510528"/>
            <a:ext cx="4114800" cy="274320"/>
          </a:xfrm>
          <a:prstGeom prst="rect">
            <a:avLst/>
          </a:prstGeom>
          <a:noFill/>
          <a:ln/>
        </p:spPr>
        <p:txBody>
          <a:bodyPr wrap="square" lIns="0" tIns="0" rIns="0" bIns="0" rtlCol="0" anchor="ctr"/>
          <a:lstStyle/>
          <a:p>
            <a:pPr indent="0" marL="0">
              <a:buNone/>
            </a:pPr>
            <a:r>
              <a:rPr lang="en-US" sz="900" dirty="0">
                <a:solidFill>
                  <a:srgbClr val="667085"/>
                </a:solidFill>
                <a:latin typeface="Calibri" pitchFamily="34" charset="0"/>
                <a:ea typeface="Calibri" pitchFamily="34" charset="-122"/>
                <a:cs typeface="Calibri" pitchFamily="34" charset="-120"/>
              </a:rPr>
              <a:t>DFM feasibility — UT Arlington · Aug 2026</a:t>
            </a:r>
            <a:endParaRPr lang="en-US" sz="900" dirty="0"/>
          </a:p>
        </p:txBody>
      </p:sp>
      <p:sp>
        <p:nvSpPr>
          <p:cNvPr id="12" name="Text 7"/>
          <p:cNvSpPr/>
          <p:nvPr/>
        </p:nvSpPr>
        <p:spPr>
          <a:xfrm>
            <a:off x="11430000" y="6510528"/>
            <a:ext cx="365760" cy="274320"/>
          </a:xfrm>
          <a:prstGeom prst="rect">
            <a:avLst/>
          </a:prstGeom>
          <a:noFill/>
          <a:ln/>
        </p:spPr>
        <p:txBody>
          <a:bodyPr wrap="square" lIns="0" tIns="0" rIns="0" bIns="0"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2026-08-14T13:49:54Z</dcterms:created>
  <dcterms:modified xsi:type="dcterms:W3CDTF">2026-08-14T13:49:54Z</dcterms:modified>
</cp:coreProperties>
</file>