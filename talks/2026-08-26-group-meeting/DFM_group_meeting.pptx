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7212C"/>
                </a:solidFill>
                <a:latin typeface="Georgia"/>
              </a:rPr>
              <a:t>Jet reconstruction as a global correction</a:t>
            </a:r>
          </a:p>
          <a:p>
            <a:r>
              <a:rPr sz="3000">
                <a:solidFill>
                  <a:srgbClr val="0E7C8C"/>
                </a:solidFill>
                <a:latin typeface="Georgia"/>
              </a:rPr>
              <a:t>one detector backbone, many tasks</a:t>
            </a:r>
          </a:p>
          <a:p>
            <a:r>
              <a:t> </a:t>
            </a:r>
          </a:p>
          <a:p>
            <a:r>
              <a:rPr sz="2000">
                <a:solidFill>
                  <a:srgbClr val="5C6975"/>
                </a:solidFill>
              </a:rPr>
              <a:t>Jet energy · flavor · joint tagging + calibration · missing ET · jet finding</a:t>
            </a:r>
          </a:p>
          <a:p>
            <a:r>
              <a:rPr sz="2000">
                <a:solidFill>
                  <a:srgbClr val="5C6975"/>
                </a:solidFill>
              </a:rPr>
              <a:t>HL-LHC full simulation — with the evidence for each claim</a:t>
            </a:r>
          </a:p>
          <a:p>
            <a:r>
              <a:t> </a:t>
            </a:r>
          </a:p>
          <a:p>
            <a:r>
              <a:rPr sz="1600">
                <a:solidFill>
                  <a:srgbClr val="5C6975"/>
                </a:solidFill>
              </a:rPr>
              <a:t>UTA · SLAC — DFM working group ·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8C"/>
                </a:solidFill>
                <a:latin typeface="Courier New"/>
              </a:rP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7212C"/>
                </a:solidFill>
                <a:latin typeface="Georgia"/>
              </a:rPr>
              <a:t>Compensate hadronic shower fluctuations, globally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11155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JER is limited by per-jet fluctuations: charged fraction, shower composition, out-of-cluster losses, pileup.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Networks see the jet's own constituents → per-jet multiplicative correction:  y = ln(pT_truth / pT_reco),  with a (μ, σ) head — an uncertainty per jet.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GLOBAL correction: all effects at once — no per-constituent confusion term. The modern extension of GSC; complementary to particle-flow.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Targets are particle-level (matched truth jets). Out-of-cone / parton effects are physics, not calibration.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9A6A00"/>
                </a:solidFill>
              </a:rPr>
              <a:t>Read every result with this in mind: the target is a correction ON TOP of the calorimeter jet.
"Tracks only" = tracks correcting the calo jet. Every table starts from the uncorrected calo-jet row.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8C"/>
                </a:solidFill>
                <a:latin typeface="Courier New"/>
              </a:rPr>
              <a:t>DATA &amp; MECHANICS ·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7212C"/>
                </a:solidFill>
                <a:latin typeface="Georgia"/>
              </a:rPr>
              <a:t>Sample: HL-LHC Run-4 full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11155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mc21_14TeV.601229 — Powheg+Pythia8 A14 ttbar (hdamp 1.5 mt), single-lepton filter.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AOD e8481_s4446_r16176: full Geant4, geometry ATLAS-P2-RUN4-03-01-00 (ITk tracker).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Provenance traced through the PanDA production record (task 50733453).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In hand: 17 ntuple files = 340k events → 1.24M selected jets.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17212C"/>
                </a:solidFill>
              </a:rPr>
              <a:t>– 0.6% of a 44.7M-event production — a 10× extension is in transfer.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8C"/>
                </a:solidFill>
                <a:latin typeface="Courier New"/>
              </a:rPr>
              <a:t>DATA &amp; MECHANICS ·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7212C"/>
                </a:solidFill>
                <a:latin typeface="Georgia"/>
              </a:rPr>
              <a:t>What the model sees, per 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7212C"/>
                </a:solidFill>
              </a:rPr>
              <a:t>• Cells: cone ΔR&lt;0.4, significance selection |E/σ_noise| &gt; 2 (physics-motivated, topocluster-threshold-like), with their calo-geometry neighbor graph.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7212C"/>
                </a:solidFill>
              </a:rPr>
              <a:t>• Tracks: ghost-associated; 18 features — kinematics, impact parameters + significances (from covariances), hit counts, fit quality.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7212C"/>
                </a:solidFill>
              </a:rPr>
              <a:t>• Jet features (J): η, sin φ, cos φ, log pT, log m, log(1 + n_constituents).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7212C"/>
                </a:solidFill>
              </a:rPr>
              <a:t>• Selection: truth-matched, pT_true &gt; 20 GeV, ΔR(reco,truth) &lt; 0.3, |η| &lt; 2.5, duplicate-truth guard. Cutflows archived per file.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7212C"/>
                </a:solidFill>
              </a:rPr>
              <a:t>• Isolation (training population): no other reco jet pT &gt; 15 GeV within ΔR &lt; 0.8; no other matched truth jet within ΔR &lt; 1.0.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8C"/>
                </a:solidFill>
                <a:latin typeface="Courier New"/>
              </a:rPr>
              <a:t>DATA &amp; MECHANICS ·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7212C"/>
                </a:solidFill>
                <a:latin typeface="Georgia"/>
              </a:rPr>
              <a:t>One shared encoder; inputs are the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7212C"/>
                </a:solidFill>
              </a:rPr>
              <a:t>• SharedEventEncoder: constituents as typed tokens → local mixing per modality → global mask-aware attention (ISAB), cross-modality → jet queries pool → (μ, log σ²), Gaussian NLL.  dim 128, ~1M params.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7212C"/>
                </a:solidFill>
              </a:rPr>
              <a:t>• Config grammar = input ablation: subsets of {T, J, C}. Same encoder, same training — only the inputs differ.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7212C"/>
                </a:solidFill>
              </a:rPr>
              <a:t>• C-graph vs C-set — the topology test: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17212C"/>
                </a:solidFill>
              </a:rPr>
              <a:t>– graph: cells first mix locally over the fixed calo-neighbor edges (SAGE-style), then global attention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17212C"/>
                </a:solidFill>
              </a:rPr>
              <a:t>– set: cells go straight to global attention, no geometric edges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17212C"/>
                </a:solidFill>
              </a:rPr>
              <a:t>– the pair asks: does calorimeter topology add information beyond per-cell features?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8C"/>
                </a:solidFill>
                <a:latin typeface="Courier New"/>
              </a:rPr>
              <a:t>DATA &amp; MECHANICS ·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7212C"/>
                </a:solidFill>
                <a:latin typeface="Georgia"/>
              </a:rPr>
              <a:t>Training and evaluation conventions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7212C"/>
                </a:solidFill>
              </a:rPr>
              <a:t>• AdamW; flat-pT reweighting on train; normalization fit on train only; train on isolated jets, evaluate both populations.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7212C"/>
                </a:solidFill>
              </a:rPr>
              <a:t>• 3 seeds per config — every number shown is mean ± sd over seeds.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7212C"/>
                </a:solidFill>
              </a:rPr>
              <a:t>• Estimators, both reported: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17212C"/>
                </a:solidFill>
              </a:rPr>
              <a:t>– robust JER = IQR / 1.349 / median, in truth-pT bins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17212C"/>
                </a:solidFill>
              </a:rPr>
              <a:t>– ATLAS-convention iterative Gaussian-core fits as cross-check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7212C"/>
                </a:solidFill>
              </a:rPr>
              <a:t>• Closure = RMS of (median corrected response − 1) over 20–250 GeV.  Pull std tests the σ's.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7212C"/>
                </a:solidFill>
              </a:rPr>
              <a:t>• Honesty budget: 3 seeds is thin — 10-seed re-runs under a pre-registered protocol are in progress.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8C"/>
                </a:solidFill>
                <a:latin typeface="Courier New"/>
              </a:rPr>
              <a:t>RESULT 1 · JET ENERGY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7212C"/>
                </a:solidFill>
                <a:latin typeface="Georgia"/>
              </a:rPr>
              <a:t>The input ladder — core configs (light jets, 620k)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600200"/>
          <a:ext cx="111556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828800"/>
                <a:gridCol w="1828800"/>
                <a:gridCol w="2011680"/>
                <a:gridCol w="164592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7212C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7212C"/>
                          </a:solidFill>
                        </a:rPr>
                        <a:t>JER@65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7212C"/>
                          </a:solidFill>
                        </a:rPr>
                        <a:t>NLL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7212C"/>
                          </a:solidFill>
                        </a:rPr>
                        <a:t>closure RMS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7212C"/>
                          </a:solidFill>
                        </a:rPr>
                        <a:t>pull std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uncorrected calo jet</a:t>
                      </a:r>
                    </a:p>
                  </a:txBody>
                  <a:tcPr>
                    <a:solidFill>
                      <a:srgbClr val="F8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0.2298</a:t>
                      </a:r>
                    </a:p>
                  </a:txBody>
                  <a:tcPr>
                    <a:solidFill>
                      <a:srgbClr val="F8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8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0.0877</a:t>
                      </a:r>
                    </a:p>
                  </a:txBody>
                  <a:tcPr>
                    <a:solidFill>
                      <a:srgbClr val="F8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8F1D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C-graph  (cells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0.1584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−1.086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0.0687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T  (tracks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0.1504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−1.058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0.0298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1.010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TC-graph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0.1304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−1.241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0.0442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1.012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TJ  (tracks + jet kin.)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0.1254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−1.364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0.0454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1.028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TJC-graph   ◀ best</a:t>
                      </a:r>
                    </a:p>
                  </a:txBody>
                  <a:tcPr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0.1150</a:t>
                      </a:r>
                    </a:p>
                  </a:txBody>
                  <a:tcPr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−1.422</a:t>
                      </a:r>
                    </a:p>
                  </a:txBody>
                  <a:tcPr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0.0395</a:t>
                      </a:r>
                    </a:p>
                  </a:txBody>
                  <a:tcPr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1.036</a:t>
                      </a:r>
                    </a:p>
                  </a:txBody>
                  <a:tcPr>
                    <a:solidFill>
                      <a:srgbClr val="EAF4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TJC-set  (no cell graph)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0.1162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−1.416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0.0424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1.029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57784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C6975"/>
                </a:solidFill>
              </a:rPr>
              <a:t>Mean of 3 seeds; JER@65 seed spread ≤ ±0.003 for every config (per-seed files archived).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8C"/>
                </a:solidFill>
                <a:latin typeface="Courier New"/>
              </a:rPr>
              <a:t>RESULT 1 · JET ENERGY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7212C"/>
                </a:solidFill>
                <a:latin typeface="Georgia"/>
              </a:rPr>
              <a:t>Pretraining and label efficiency (TC-graph family)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600200"/>
          <a:ext cx="111556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194560"/>
                <a:gridCol w="329184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7212C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7212C"/>
                          </a:solidFill>
                        </a:rPr>
                        <a:t>JER@65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7212C"/>
                          </a:solidFill>
                        </a:rPr>
                        <a:t>vs no pretraining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TC-graph  (100% labels)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0.1304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TC-graph-pre  (100% labels)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0.1311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neutral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TC-graph  @10% labels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0.1451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TC-graph-pre  @10% labels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0.1424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better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TC-graph  @1% labels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0.1559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TC-graph-pre  @1% labels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0.1536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better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C-graph-pre-probe  (frozen encoder + probe)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0.1566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≈ full finetune (0.1580)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57784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C6975"/>
                </a:solidFill>
              </a:rPr>
              <a:t>"@N% labels" = trained on a random N% of the labeled jets — does masked pretraining help when labels are scarce?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8C"/>
                </a:solidFill>
                <a:latin typeface="Courier New"/>
              </a:rPr>
              <a:t>RESULT 1 · OBSERVATIONS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7212C"/>
                </a:solidFill>
                <a:latin typeface="Georgia"/>
              </a:rPr>
              <a:t>Inputs and topology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Every input adds:  C 0.158 → T 0.150 → TC 0.130 → TJ 0.125 → TJC 0.115   (uncorrected: 0.230).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Tracks and cells are complementary — tracks resolve the low-pT charged-fraction fluctuation; cells keep improving where tracking saturates.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Graph ≈ set:  0.1150 vs 0.1162, overlapping spreads.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17212C"/>
                </a:solidFill>
              </a:rPr>
              <a:t>– Explicit calo topology adds little beyond per-cell features — for significance-selected cells, per-jet scope.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17212C"/>
                </a:solidFill>
              </a:rPr>
              <a:t>– Untested where it should matter most: full granularity, event scope (clustering).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The learned correction closes the response to 2–4% with no explicit closure term (uncorrected: 9%).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8C"/>
                </a:solidFill>
                <a:latin typeface="Courier New"/>
              </a:rPr>
              <a:t>RESULT 1 · OBSERVATIONS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7212C"/>
                </a:solidFill>
                <a:latin typeface="Georgia"/>
              </a:rPr>
              <a:t>Pretraining and uncertainties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Masked pretraining is neutral at full labels (0.1304 vs 0.1311).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It helps when labels are scarce:  +1.5% relative at 1% labels, +1.9% at 10%.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A frozen pretrained encoder with a linear probe nearly matches full finetuning (0.1566 vs 0.1580) — the representations transfer.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17212C"/>
                </a:solidFill>
              </a:rPr>
              <a:t>– The foundation-model value case lives in the low-label / transfer regime — being staked there with pre-registered margins.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Per-jet σ's are honest to first order: pull std 1.00–1.05 across all configs.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17212C"/>
                </a:solidFill>
              </a:rPr>
              <a:t>– Deeper validation (coverage, tails) later in the talk — with a measured surprise.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8C"/>
                </a:solidFill>
                <a:latin typeface="Courier New"/>
              </a:rPr>
              <a:t>RESULT 1 · EVIDENCE VS 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7212C"/>
                </a:solidFill>
                <a:latin typeface="Georgia"/>
              </a:rPr>
              <a:t>Where each input contributes</a:t>
            </a:r>
          </a:p>
        </p:txBody>
      </p:sp>
      <p:pic>
        <p:nvPicPr>
          <p:cNvPr id="4" name="Picture 3" descr="ladder_jer_vs_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54480"/>
            <a:ext cx="5760720" cy="4455903"/>
          </a:xfrm>
          <a:prstGeom prst="rect">
            <a:avLst/>
          </a:prstGeom>
        </p:spPr>
      </p:pic>
      <p:pic>
        <p:nvPicPr>
          <p:cNvPr id="5" name="Picture 4" descr="ladder_closure_vs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554480"/>
            <a:ext cx="5760720" cy="40740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8978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C6975"/>
                </a:solidFill>
              </a:rPr>
              <a:t>Left: JER vs truth pT (seed spread as bars) — tracks dominate below ~100 GeV; cells extend gains to high pT. First bin is clipped by the 20 GeV reco floor: diagnostic only.  Right: uncorrected response is 3–20% high; all configs close to 2–4%.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8C"/>
                </a:solidFill>
                <a:latin typeface="Courier New"/>
              </a:rPr>
              <a:t>RESULT 1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7212C"/>
                </a:solidFill>
                <a:latin typeface="Georgia"/>
              </a:rPr>
              <a:t>Independently replicated at SLAC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645920"/>
          <a:ext cx="658368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011680"/>
                <a:gridCol w="2011680"/>
              </a:tblGrid>
              <a:tr h="50292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7212C"/>
                          </a:solidFill>
                        </a:rPr>
                        <a:t>inputs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7212C"/>
                          </a:solidFill>
                        </a:rPr>
                        <a:t>SLAC pipeline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7212C"/>
                          </a:solidFill>
                        </a:rPr>
                        <a:t>this work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7212C"/>
                          </a:solidFill>
                        </a:rPr>
                        <a:t>tracks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7212C"/>
                          </a:solidFill>
                        </a:rPr>
                        <a:t>34.0%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7212C"/>
                          </a:solidFill>
                        </a:rPr>
                        <a:t>34.5%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7212C"/>
                          </a:solidFill>
                        </a:rPr>
                        <a:t>tracks + cells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7212C"/>
                          </a:solidFill>
                        </a:rPr>
                        <a:t>42.7%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7212C"/>
                          </a:solidFill>
                        </a:rPr>
                        <a:t>43.3%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383280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C6975"/>
                </a:solidFill>
              </a:rPr>
              <a:t>Relative JER improvement over the same-jets uncorrected default — the one directly comparable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64592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7212C"/>
                </a:solidFill>
              </a:rPr>
              <a:t>• Fully independent pipeline: cone (not ghost) constituents, 26 track / 25 cell features, two-stream transformer, Huber loss, Gaussian-core estimator.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7212C"/>
                </a:solidFill>
              </a:rPr>
              <a:t>• Same pT structure found: track gains fade above ~100 GeV; cell gains persist (N/S/C: cells fix stochastic + constant terms).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7212C"/>
                </a:solidFill>
              </a:rPr>
              <a:t>• Estimator reconciliation: 13.5% vs 13.1% inclusive Gaussian-core.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8C"/>
                </a:solidFill>
                <a:latin typeface="Courier New"/>
              </a:rPr>
              <a:t>RESULT 2 · FLAVOR (1.2M ALL-FLAVOR JETS)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7212C"/>
                </a:solidFill>
                <a:latin typeface="Georgia"/>
              </a:rPr>
              <a:t>Shared training beats dedicated per-flavor models</a:t>
            </a:r>
          </a:p>
        </p:txBody>
      </p:sp>
      <p:pic>
        <p:nvPicPr>
          <p:cNvPr id="4" name="Picture 3" descr="t1_flavor_j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00200"/>
            <a:ext cx="5669280" cy="4300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6916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7212C"/>
                </a:solidFill>
              </a:rPr>
              <a:t>• Shared model beats dedicated models where statistics are limited: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17212C"/>
                </a:solidFill>
              </a:rPr>
              <a:t>– b:  12.8 ± 0.1  vs  13.9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17212C"/>
                </a:solidFill>
              </a:rPr>
              <a:t>– c:  13.3 ± 0.2  vs  15.4 ± 0.7  (dedicated c-model starves on 150k jets)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7212C"/>
                </a:solidFill>
              </a:rPr>
              <a:t>• Explicit flavor conditioning ≈ flavor-blind — the encoder infers flavor structure from the constituents.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7212C"/>
                </a:solidFill>
              </a:rPr>
              <a:t>• Ordering light &lt; b &lt; c matches expectation (semileptonic decays, shower composition).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8C"/>
                </a:solidFill>
                <a:latin typeface="Courier New"/>
              </a:rPr>
              <a:t>RESULT 3 · JOINT TAGGING +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7212C"/>
                </a:solidFill>
                <a:latin typeface="Georgia"/>
              </a:rPr>
              <a:t>One head, both tasks, no degradation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600200"/>
          <a:ext cx="111556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920240"/>
                <a:gridCol w="1920240"/>
                <a:gridCol w="2194560"/>
                <a:gridCol w="1828800"/>
              </a:tblGrid>
              <a:tr h="47548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7212C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7212C"/>
                          </a:solidFill>
                        </a:rPr>
                        <a:t>calib NLL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7212C"/>
                          </a:solidFill>
                        </a:rPr>
                        <a:t>JER@65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7212C"/>
                          </a:solidFill>
                        </a:rPr>
                        <a:t>b-AUC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7212C"/>
                          </a:solidFill>
                        </a:rPr>
                        <a:t>light rej @70%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calibration-only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−1.421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0.1244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joint (panoptic)</a:t>
                      </a:r>
                    </a:p>
                  </a:txBody>
                  <a:tcPr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−1.406</a:t>
                      </a:r>
                    </a:p>
                  </a:txBody>
                  <a:tcPr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0.1264</a:t>
                      </a:r>
                    </a:p>
                  </a:txBody>
                  <a:tcPr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0.941 ± 0.001</a:t>
                      </a:r>
                    </a:p>
                  </a:txBody>
                  <a:tcPr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117 ± 5</a:t>
                      </a:r>
                    </a:p>
                  </a:txBody>
                  <a:tcPr>
                    <a:solidFill>
                      <a:srgbClr val="EAF4E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tagging-only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+0.154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0.4728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0.939 ±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122 ±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84048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7212C"/>
                </a:solidFill>
              </a:rPr>
              <a:t>• Calibration intact (ΔNLL 0.015 ≈ 1 seed sd) and tagging intact (rejections indistinguishable, also at 77/85% WPs).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7212C"/>
                </a:solidFill>
              </a:rPr>
              <a:t>• The tagging-only control (JER 0.47) shows calibration is earned by the NLL term, not free.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39496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9A6A00"/>
                </a:solidFill>
              </a:rPr>
              <a:t>Internal comparison only — production taggers reach light rej O(400)–O(10³) at 70% on Run-2 samples [2211.16345, 2505.19689]; not comparable (Run-4 detector, selected cells, no FTAG features). Like-for-like anchor = GN2 on these ntuples: branches exist, unfilled — rerun requested.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8C"/>
                </a:solidFill>
                <a:latin typeface="Courier New"/>
              </a:rPr>
              <a:t>RESULT 4 · EVENT-LEVEL MISSING 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7212C"/>
                </a:solidFill>
                <a:latin typeface="Georgia"/>
              </a:rPr>
              <a:t>MET from available detector subsets</a:t>
            </a:r>
          </a:p>
        </p:txBody>
      </p:sp>
      <p:pic>
        <p:nvPicPr>
          <p:cNvPr id="4" name="Picture 3" descr="T3B_resolution_vs_m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00200"/>
            <a:ext cx="4937760" cy="37033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60720" y="1691640"/>
          <a:ext cx="58521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37744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7212C"/>
                          </a:solidFill>
                        </a:rPr>
                        <a:t>estimator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7212C"/>
                          </a:solidFill>
                        </a:rPr>
                        <a:t>resolution [GeV]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−Σ tracks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60.6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−Σ jets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44.2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−Σ cells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43.2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model, tracks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49.5 ± 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model, tracks + cells</a:t>
                      </a:r>
                    </a:p>
                  </a:txBody>
                  <a:tcPr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7212C"/>
                          </a:solidFill>
                        </a:rPr>
                        <a:t>27.0 ± 0.1</a:t>
                      </a:r>
                    </a:p>
                  </a:txBody>
                  <a:tcPr>
                    <a:solidFill>
                      <a:srgbClr val="EAF4E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760720" y="4663440"/>
            <a:ext cx="5852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C6975"/>
                </a:solidFill>
              </a:rPr>
              <a:t>First event-level model: all tracks + selected cells → truth MET (ν vector sum; validated). No reco soft term exists — "MET from what we have" vs baselines with the same information. Tracks-only model collapses toward a constant.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8C"/>
                </a:solidFill>
                <a:latin typeface="Courier New"/>
              </a:rPr>
              <a:t>RESULT 5 · SET-PREDICTION JET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7212C"/>
                </a:solidFill>
                <a:latin typeface="Georgia"/>
              </a:rPr>
              <a:t>Learned finder vs the ATLAS reco baseline</a:t>
            </a:r>
          </a:p>
        </p:txBody>
      </p:sp>
      <p:pic>
        <p:nvPicPr>
          <p:cNvPr id="4" name="Picture 3" descr="t4_efficiency_with_anti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00200"/>
            <a:ext cx="5852160" cy="4473651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691640"/>
          <a:ext cx="51206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463040"/>
                <a:gridCol w="100584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7212C"/>
                          </a:solidFill>
                        </a:rPr>
                        <a:t>finder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7212C"/>
                          </a:solidFill>
                        </a:rPr>
                        <a:t>overall eff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7212C"/>
                          </a:solidFill>
                        </a:rPr>
                        <a:t>plateau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7212C"/>
                          </a:solidFill>
                        </a:rPr>
                        <a:t>anti-kT EMTopo (reco)</a:t>
                      </a:r>
                    </a:p>
                  </a:txBody>
                  <a:tcPr>
                    <a:solidFill>
                      <a:srgbClr val="F8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7212C"/>
                          </a:solidFill>
                        </a:rPr>
                        <a:t>0.892</a:t>
                      </a:r>
                    </a:p>
                  </a:txBody>
                  <a:tcPr>
                    <a:solidFill>
                      <a:srgbClr val="F8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7212C"/>
                          </a:solidFill>
                        </a:rPr>
                        <a:t>≈0.999</a:t>
                      </a:r>
                    </a:p>
                  </a:txBody>
                  <a:tcPr>
                    <a:solidFill>
                      <a:srgbClr val="F8F1D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7212C"/>
                          </a:solidFill>
                        </a:rPr>
                        <a:t>learned, tracks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7212C"/>
                          </a:solidFill>
                        </a:rPr>
                        <a:t>0.789 ± 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7212C"/>
                          </a:solidFill>
                        </a:rPr>
                        <a:t>≈0.95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7212C"/>
                          </a:solidFill>
                        </a:rPr>
                        <a:t>learned, tracks+cells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7212C"/>
                          </a:solidFill>
                        </a:rPr>
                        <a:t>0.759 ± 0.042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7212C"/>
                          </a:solidFill>
                        </a:rPr>
                        <a:t>≈0.99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0" y="393192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C6975"/>
                </a:solidFill>
              </a:rPr>
              <a:t>Learned queries + existence head + Hungarian matching to truth HS jets (pT&gt;20, ≤10/event). Cells sharpen kinematics: log-pT MAE 0.238 ± 0.012 vs 0.293 ± 0.008.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8C"/>
                </a:solidFill>
                <a:latin typeface="Courier New"/>
              </a:rPr>
              <a:t>RESULT 5 · HONEST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7212C"/>
                </a:solidFill>
                <a:latin typeface="Georgia"/>
              </a:rPr>
              <a:t>Not yet competitive — and where the gap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Overall: anti-kT 0.892 vs learned 0.76–0.79 — the gap is entirely low-pT.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At the plateau the learned finder comes within a few % (0.99 with cells vs 0.999).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Tracks+cells has real, unresolved seed variance (±0.04) — a stability study (more seeds, matching diagnostics) is queued before stronger claims.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Fake rates are NOT compared: 57% of reco jets are pileup jets at μ=200 — anti-kT "fakes" are PU, learned-finder fakes are algorithmic. Different things.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Why it matters anyway: constituents-in → jet-set-out removes the seeding assumption every per-jet result above inherits.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8C"/>
                </a:solidFill>
                <a:latin typeface="Courier New"/>
              </a:rPr>
              <a:t>THE WIDER TASK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7212C"/>
                </a:solidFill>
                <a:latin typeface="Georgia"/>
              </a:rPr>
              <a:t>Other tasks on the same backbone: honest status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54480"/>
          <a:ext cx="11155680" cy="38404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188720"/>
                <a:gridCol w="5760720"/>
              </a:tblGrid>
              <a:tr h="64007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7212C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7212C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7212C"/>
                          </a:solidFill>
                        </a:rPr>
                        <a:t>one-line verdict</a:t>
                      </a:r>
                    </a:p>
                  </a:txBody>
                  <a:tcPr>
                    <a:solidFill>
                      <a:srgbClr val="E6ECE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12C"/>
                          </a:solidFill>
                        </a:rPr>
                        <a:t>Topocluster formation (cell-edge classification, full 187k-cell granularity)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12C"/>
                          </a:solidFill>
                        </a:rPr>
                        <a:t>PARKED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12C"/>
                          </a:solidFill>
                        </a:rPr>
                        <a:t>All GNN variants plateau — cluster membership is long-range reachability, mismatched to fixed-depth message passing. Revisit as set prediction on full-granularity data.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12C"/>
                          </a:solidFill>
                        </a:rPr>
                        <a:t>Masked pretraining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12C"/>
                          </a:solidFill>
                        </a:rPr>
                        <a:t>IN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12C"/>
                          </a:solidFill>
                        </a:rPr>
                        <a:t>The "-pre" rows: neutral at full labels, gains at 1–10%.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12C"/>
                          </a:solidFill>
                        </a:rPr>
                        <a:t>Event-level b-tagging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12C"/>
                          </a:solidFill>
                        </a:rPr>
                        <a:t>EVOLVED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12C"/>
                          </a:solidFill>
                        </a:rPr>
                        <a:t>Its encoder/decoder became the track path + jet-query head here.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12C"/>
                          </a:solidFill>
                        </a:rPr>
                        <a:t>Jet finding &amp; MET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12C"/>
                          </a:solidFill>
                        </a:rPr>
                        <a:t>SHOWN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12C"/>
                          </a:solidFill>
                        </a:rPr>
                        <a:t>Results 4–5.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12C"/>
                          </a:solidFill>
                        </a:rPr>
                        <a:t>Pileup-jet ID; timing-aware reco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12C"/>
                          </a:solidFill>
                        </a:rPr>
                        <a:t>QUEUED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12C"/>
                          </a:solidFill>
                        </a:rPr>
                        <a:t>Enabled by newly verified branches (PU truth jets; cell time/quality).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8C"/>
                </a:solidFill>
                <a:latin typeface="Courier New"/>
              </a:rPr>
              <a:t>UNCERTAINTY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7212C"/>
                </a:solidFill>
                <a:latin typeface="Georgia"/>
              </a:rPr>
              <a:t>The σ's are honest in the core — not in the tails</a:t>
            </a:r>
          </a:p>
        </p:txBody>
      </p:sp>
      <p:pic>
        <p:nvPicPr>
          <p:cNvPr id="4" name="Picture 3" descr="G0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00200"/>
            <a:ext cx="5577840" cy="3028165"/>
          </a:xfrm>
          <a:prstGeom prst="rect">
            <a:avLst/>
          </a:prstGeom>
        </p:spPr>
      </p:pic>
      <p:pic>
        <p:nvPicPr>
          <p:cNvPr id="5" name="Picture 4" descr="G0_pull_tai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00200"/>
            <a:ext cx="5577840" cy="28604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1500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C6975"/>
                </a:solidFill>
              </a:rPr>
              <a:t>Coverage ~67.4% at 68.27% nominal (mildly overconfident). P(|z|&gt;3) ≈ 0.8% vs 0.27% Gaussian — a 3× tail excess, identical across models. Measured motivation for the mixture-density study now starting.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8C"/>
                </a:solidFill>
                <a:latin typeface="Courier New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7212C"/>
                </a:solidFill>
                <a:latin typeface="Georgia"/>
              </a:rPr>
              <a:t>What these results are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All calibrations are corrections to the calo jet — no standalone single-modality measurement claimed.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3 seeds per config (spreads shown); 10-seed pre-registered re-runs in progress.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Single process (ttbar) — sample dependence unmeasured until VBF H→inv (in transfer) and dijet/Z+jets.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5.3% of "light" jets overlap the hard truth electron (measured) — veto in progress.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7212C"/>
                </a:solidFill>
              </a:rPr>
              <a:t>• No production-tagger baseline (GN2 unfilled); no reco-MET soft term — internal comparisons where noted.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8C"/>
                </a:solidFill>
                <a:latin typeface="Courier New"/>
              </a:rPr>
              <a:t>NEXT STEPS &amp; ASKS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7212C"/>
                </a:solidFill>
                <a:latin typeface="Georgia"/>
              </a:rPr>
              <a:t>Validation program, and three requests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7212C"/>
                </a:solidFill>
              </a:rPr>
              <a:t>• In progress: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17212C"/>
                </a:solidFill>
              </a:rPr>
              <a:t>– 10-seed re-runs; frozen splits; test blinding — every number here is a pre-registered hypothesis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17212C"/>
                </a:solidFill>
              </a:rPr>
              <a:t>– Mixture-density heads (the tail evidence)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17212C"/>
                </a:solidFill>
              </a:rPr>
              <a:t>– Feature ladder from jet(pT, η, φ)-only upward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17212C"/>
                </a:solidFill>
              </a:rPr>
              <a:t>– Failure-mode event displays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17212C"/>
                </a:solidFill>
              </a:rPr>
              <a:t>– Classical baselines: numerical inversion, GSC-like MLP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6002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7212C"/>
                </a:solidFill>
              </a:rPr>
              <a:t>• Asks: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17212C"/>
                </a:solidFill>
              </a:rPr>
              <a:t>– SLAC: prediction files (common-jets evaluation); SuperHJD source; gluon labeling; GN2 rerun?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17212C"/>
                </a:solidFill>
              </a:rPr>
              <a:t>– Transfer (script ready): VBF H→inv, then +150 ttbar files (10× stats)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17212C"/>
                </a:solidFill>
              </a:rPr>
              <a:t>– Decisions: |η|&gt;2.5 (defer?); electron veto (yes?); freeze dataset for re-runs, 10× for scaling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