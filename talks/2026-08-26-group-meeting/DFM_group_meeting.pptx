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5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image" Target="../media/image8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2011680"/>
            <a:ext cx="105156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000" b="1">
                <a:solidFill>
                  <a:srgbClr val="17212C"/>
                </a:solidFill>
                <a:latin typeface="Georgia"/>
              </a:rPr>
              <a:t>Jet reconstruction as a global correction:</a:t>
            </a:r>
          </a:p>
          <a:p>
            <a:r>
              <a:rPr sz="4000" b="1">
                <a:solidFill>
                  <a:srgbClr val="17212C"/>
                </a:solidFill>
                <a:latin typeface="Georgia"/>
              </a:rPr>
              <a:t>one detector backbone, many tasks</a:t>
            </a:r>
          </a:p>
          <a:p>
            <a:r>
              <a:rPr sz="1800">
                <a:solidFill>
                  <a:srgbClr val="5C6975"/>
                </a:solidFill>
              </a:rPr>
              <a:t>Jet energy, flavor, joint tagging+calibration, missing ET, and set-prediction jet finding — on HL-LHC full simulation, with the evidence for each claim.</a:t>
            </a:r>
          </a:p>
          <a:p>
            <a:r>
              <a:rPr sz="1400">
                <a:solidFill>
                  <a:srgbClr val="5C6975"/>
                </a:solidFill>
              </a:rPr>
              <a:t>UTA · SLAC — DFM working group · August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155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0E7C8C"/>
                </a:solidFill>
                <a:latin typeface="Courier New"/>
              </a:rPr>
              <a:t>APPROACH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66928"/>
            <a:ext cx="111556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7212C"/>
                </a:solidFill>
                <a:latin typeface="Georgia"/>
              </a:rPr>
              <a:t>Compensate the sources of hadronic shower fluctuations, globally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463040"/>
            <a:ext cx="1115568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400">
                <a:solidFill>
                  <a:srgbClr val="17212C"/>
                </a:solidFill>
              </a:rPr>
              <a:t>• JER is limited by per-jet fluctuations — charged fraction, shower composition, out-of-cluster losses, pileup — that average-based calibration cannot remove.</a:t>
            </a:r>
          </a:p>
          <a:p>
            <a:pPr>
              <a:spcAft>
                <a:spcPts val="500"/>
              </a:spcAft>
            </a:pPr>
            <a:r>
              <a:rPr sz="1400">
                <a:solidFill>
                  <a:srgbClr val="17212C"/>
                </a:solidFill>
              </a:rPr>
              <a:t>• Networks see a jet's own constituents and predict a per-jet multiplicative correction: target y = ln(pT_truth/pT_reco), pT_pred = pT_reco · exp(ŷ). Heteroscedastic heads emit (μ, σ) — an uncertainty per jet.</a:t>
            </a:r>
          </a:p>
          <a:p>
            <a:pPr>
              <a:spcAft>
                <a:spcPts val="500"/>
              </a:spcAft>
            </a:pPr>
            <a:r>
              <a:rPr sz="1400">
                <a:solidFill>
                  <a:srgbClr val="17212C"/>
                </a:solidFill>
              </a:rPr>
              <a:t>• A GLOBAL correction — all effects compensated simultaneously, avoiding particle-flow's per-constituent confusion term. Modern extension of the Global Sequential Calibration; complementary to p-flow.</a:t>
            </a:r>
          </a:p>
          <a:p>
            <a:pPr>
              <a:spcAft>
                <a:spcPts val="500"/>
              </a:spcAft>
            </a:pPr>
            <a:r>
              <a:rPr sz="1400">
                <a:solidFill>
                  <a:srgbClr val="17212C"/>
                </a:solidFill>
              </a:rPr>
              <a:t>• Targets are strictly particle-level (matched truth jets). Parton-level / out-of-cone effects are process physics, not calibration.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5120640"/>
            <a:ext cx="111556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solidFill>
                  <a:srgbClr val="9A6A00"/>
                </a:solidFill>
              </a:rPr>
              <a:t>Read every result with this in mind: the target is a correction ON TOP of the calorimeter jet. "Tracks only" means tracks correcting the calo jet, not a track-based measurement. Every table starts from the uncorrected calo-jet row.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155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0E7C8C"/>
                </a:solidFill>
                <a:latin typeface="Courier New"/>
              </a:rPr>
              <a:t>DATA &amp; MECHANICS 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66928"/>
            <a:ext cx="111556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7212C"/>
                </a:solidFill>
                <a:latin typeface="Georgia"/>
              </a:rPr>
              <a:t>Sample: HL-LHC Run-4 full simulation, provenance pinned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417320"/>
            <a:ext cx="57607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300">
                <a:solidFill>
                  <a:srgbClr val="17212C"/>
                </a:solidFill>
              </a:rPr>
              <a:t>• mc21_14TeV.601229 Powheg+Pythia8 A14 ttbar (hdamp 1.5 mt), single-lepton filter; AOD e8481_s4446_r16176 — full Geant4, geometry ATLAS-P2-RUN4-03-01-00 (ITk). Traced via PanDA task 50733453.</a:t>
            </a:r>
          </a:p>
          <a:p>
            <a:pPr>
              <a:spcAft>
                <a:spcPts val="500"/>
              </a:spcAft>
            </a:pPr>
            <a:r>
              <a:rPr sz="1300">
                <a:solidFill>
                  <a:srgbClr val="17212C"/>
                </a:solidFill>
              </a:rPr>
              <a:t>• 17 ntuple files = 340k events → 1.24M selected jets (0.6% of a 44.7M-event production; more in transfer).</a:t>
            </a:r>
          </a:p>
          <a:p>
            <a:pPr>
              <a:spcAft>
                <a:spcPts val="500"/>
              </a:spcAft>
            </a:pPr>
            <a:r>
              <a:rPr sz="1300">
                <a:solidFill>
                  <a:srgbClr val="17212C"/>
                </a:solidFill>
              </a:rPr>
              <a:t>• Per jet: cone ΔR&lt;0.4 cells passing a physics-motivated significance selection (|E/σ_noise|&gt;2, topocluster-threshold-like) with calo-geometry neighbor graph; ghost-associated tracks (18 features incl. IP significances); jet kinematics; matched truth jet.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92240" y="1417320"/>
            <a:ext cx="521208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300">
                <a:solidFill>
                  <a:srgbClr val="17212C"/>
                </a:solidFill>
              </a:rPr>
              <a:t>• Selection (cutflow archived): truth-matched, pT_true&gt;20 GeV, ΔR(reco,truth)&lt;0.3, |η|&lt;2.5, duplicate-truth guard.</a:t>
            </a:r>
          </a:p>
          <a:p>
            <a:pPr>
              <a:spcAft>
                <a:spcPts val="500"/>
              </a:spcAft>
            </a:pPr>
            <a:r>
              <a:rPr sz="1300">
                <a:solidFill>
                  <a:srgbClr val="17212C"/>
                </a:solidFill>
              </a:rPr>
              <a:t>• Isolation (training population): no other reco jet pT&gt;15 GeV within ΔR&lt;0.8; no other matched truth jet within ΔR&lt;1.0.</a:t>
            </a:r>
          </a:p>
          <a:p>
            <a:pPr>
              <a:spcAft>
                <a:spcPts val="500"/>
              </a:spcAft>
            </a:pPr>
            <a:r>
              <a:rPr sz="1300">
                <a:solidFill>
                  <a:srgbClr val="17212C"/>
                </a:solidFill>
              </a:rPr>
              <a:t>• Measured caveats:</a:t>
            </a:r>
          </a:p>
          <a:p>
            <a:pPr lvl="1">
              <a:spcAft>
                <a:spcPts val="500"/>
              </a:spcAft>
            </a:pPr>
            <a:r>
              <a:rPr sz="1100">
                <a:solidFill>
                  <a:srgbClr val="17212C"/>
                </a:solidFill>
              </a:rPr>
              <a:t>– 5.3% of matched jets overlap a truth electron (pT&gt;10, ΔR&lt;0.2) — the SingleLep lepton; in "light" here, veto planned.</a:t>
            </a:r>
          </a:p>
          <a:p>
            <a:pPr lvl="1">
              <a:spcAft>
                <a:spcPts val="500"/>
              </a:spcAft>
            </a:pPr>
            <a:r>
              <a:rPr sz="1100">
                <a:solidFill>
                  <a:srgbClr val="17212C"/>
                </a:solidFill>
              </a:rPr>
              <a:t>– Truth jets include neutrinos (ν-in-cone jets: stable-sum/truth-pT = 0.966 with ν, 0.731 without).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155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0E7C8C"/>
                </a:solidFill>
                <a:latin typeface="Courier New"/>
              </a:rPr>
              <a:t>DATA &amp; MECHANICS II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66928"/>
            <a:ext cx="111556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7212C"/>
                </a:solidFill>
                <a:latin typeface="Georgia"/>
              </a:rPr>
              <a:t>One shared encoder; inputs are the experiment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417320"/>
            <a:ext cx="576072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300">
                <a:solidFill>
                  <a:srgbClr val="17212C"/>
                </a:solidFill>
              </a:rPr>
              <a:t>• SharedEventEncoder: constituents as typed tokens (per-modality projections + type embeddings); LOCAL mixing per modality; GLOBAL mask-aware ISAB attention, cross-modality; jet queries cross-attend and pool → (μ, log σ²), Gaussian NLL. dim 128, ~1M params.</a:t>
            </a:r>
          </a:p>
          <a:p>
            <a:pPr>
              <a:spcAft>
                <a:spcPts val="500"/>
              </a:spcAft>
            </a:pPr>
            <a:r>
              <a:rPr sz="1300">
                <a:solidFill>
                  <a:srgbClr val="17212C"/>
                </a:solidFill>
              </a:rPr>
              <a:t>• Config grammar = input ablation, same encoder and training throughout:</a:t>
            </a:r>
          </a:p>
          <a:p>
            <a:pPr lvl="1">
              <a:spcAft>
                <a:spcPts val="500"/>
              </a:spcAft>
            </a:pPr>
            <a:r>
              <a:rPr sz="1100">
                <a:solidFill>
                  <a:srgbClr val="17212C"/>
                </a:solidFill>
              </a:rPr>
              <a:t>– T = ghost-associated tracks (kinematics, IPs + significances, hit counts, fit quality)</a:t>
            </a:r>
          </a:p>
          <a:p>
            <a:pPr lvl="1">
              <a:spcAft>
                <a:spcPts val="500"/>
              </a:spcAft>
            </a:pPr>
            <a:r>
              <a:rPr sz="1100">
                <a:solidFill>
                  <a:srgbClr val="17212C"/>
                </a:solidFill>
              </a:rPr>
              <a:t>– J = jet features: η, sin φ, cos φ, log pT, log m, log(1+n_constituents)</a:t>
            </a:r>
          </a:p>
          <a:p>
            <a:pPr lvl="1">
              <a:spcAft>
                <a:spcPts val="500"/>
              </a:spcAft>
            </a:pPr>
            <a:r>
              <a:rPr sz="1100">
                <a:solidFill>
                  <a:srgbClr val="17212C"/>
                </a:solidFill>
              </a:rPr>
              <a:t>– C-graph mixes cells locally over fixed calo-geometry neighbor edges (SAGE-style) before global attention; C-set feeds cells straight to global attention — the pair tests whether calo topology adds information beyond per-cell features.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92240" y="1417320"/>
            <a:ext cx="521208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300">
                <a:solidFill>
                  <a:srgbClr val="17212C"/>
                </a:solidFill>
              </a:rPr>
              <a:t>• Training: AdamW; flat-pT reweighting (train); normalization fit on train only; train on isolated jets, evaluate both populations; 3 seeds per config — all numbers are mean ± sd over seeds.</a:t>
            </a:r>
          </a:p>
          <a:p>
            <a:pPr>
              <a:spcAft>
                <a:spcPts val="500"/>
              </a:spcAft>
            </a:pPr>
            <a:r>
              <a:rPr sz="1300">
                <a:solidFill>
                  <a:srgbClr val="17212C"/>
                </a:solidFill>
              </a:rPr>
              <a:t>• Estimators (both reported): robust JER = IQR/1.349/median in truth-pT bins; ATLAS-convention iterative Gaussian-core fits as cross-check. Closure = RMS of (median corrected response − 1), 20–250 GeV. Pull std tests the σ's.</a:t>
            </a:r>
          </a:p>
          <a:p>
            <a:pPr>
              <a:spcAft>
                <a:spcPts val="500"/>
              </a:spcAft>
            </a:pPr>
            <a:r>
              <a:rPr sz="1300">
                <a:solidFill>
                  <a:srgbClr val="17212C"/>
                </a:solidFill>
              </a:rPr>
              <a:t>• Honesty budget: 3 seeds is thin — spreads shown everywhere; 10-seed re-runs under a pre-registered protocol are in progress.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155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0E7C8C"/>
                </a:solidFill>
                <a:latin typeface="Courier New"/>
              </a:rPr>
              <a:t>RESULT 1 — JET ENERGY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66928"/>
            <a:ext cx="111556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7212C"/>
                </a:solidFill>
                <a:latin typeface="Georgia"/>
              </a:rPr>
              <a:t>The input ladder, complete (13 configs, light jets, 620k)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02920" y="1371600"/>
          <a:ext cx="8778240" cy="3840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08960"/>
                <a:gridCol w="1645920"/>
                <a:gridCol w="1371600"/>
                <a:gridCol w="1463040"/>
                <a:gridCol w="1188720"/>
              </a:tblGrid>
              <a:tr h="274320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17212C"/>
                          </a:solidFill>
                        </a:rPr>
                        <a:t>config</a:t>
                      </a:r>
                    </a:p>
                  </a:txBody>
                  <a:tcPr>
                    <a:solidFill>
                      <a:srgbClr val="E6EC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17212C"/>
                          </a:solidFill>
                        </a:rPr>
                        <a:t>JER@65</a:t>
                      </a:r>
                    </a:p>
                  </a:txBody>
                  <a:tcPr>
                    <a:solidFill>
                      <a:srgbClr val="E6EC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17212C"/>
                          </a:solidFill>
                        </a:rPr>
                        <a:t>NLL</a:t>
                      </a:r>
                    </a:p>
                  </a:txBody>
                  <a:tcPr>
                    <a:solidFill>
                      <a:srgbClr val="E6EC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17212C"/>
                          </a:solidFill>
                        </a:rPr>
                        <a:t>closure RMS</a:t>
                      </a:r>
                    </a:p>
                  </a:txBody>
                  <a:tcPr>
                    <a:solidFill>
                      <a:srgbClr val="E6EC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17212C"/>
                          </a:solidFill>
                        </a:rPr>
                        <a:t>pull std</a:t>
                      </a:r>
                    </a:p>
                  </a:txBody>
                  <a:tcPr>
                    <a:solidFill>
                      <a:srgbClr val="E6ECE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7212C"/>
                          </a:solidFill>
                        </a:rPr>
                        <a:t>uncorrected calo jet</a:t>
                      </a:r>
                    </a:p>
                  </a:txBody>
                  <a:tcPr>
                    <a:solidFill>
                      <a:srgbClr val="F8F1D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7212C"/>
                          </a:solidFill>
                        </a:rPr>
                        <a:t>0.2298</a:t>
                      </a:r>
                    </a:p>
                  </a:txBody>
                  <a:tcPr>
                    <a:solidFill>
                      <a:srgbClr val="F8F1D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7212C"/>
                          </a:solidFill>
                        </a:rPr>
                        <a:t>—</a:t>
                      </a:r>
                    </a:p>
                  </a:txBody>
                  <a:tcPr>
                    <a:solidFill>
                      <a:srgbClr val="F8F1D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7212C"/>
                          </a:solidFill>
                        </a:rPr>
                        <a:t>0.0877</a:t>
                      </a:r>
                    </a:p>
                  </a:txBody>
                  <a:tcPr>
                    <a:solidFill>
                      <a:srgbClr val="F8F1D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7212C"/>
                          </a:solidFill>
                        </a:rPr>
                        <a:t>—</a:t>
                      </a:r>
                    </a:p>
                  </a:txBody>
                  <a:tcPr>
                    <a:solidFill>
                      <a:srgbClr val="F8F1D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7212C"/>
                          </a:solidFill>
                        </a:rPr>
                        <a:t>C-graph (cells only)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7212C"/>
                          </a:solidFill>
                        </a:rPr>
                        <a:t>0.1584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7212C"/>
                          </a:solidFill>
                        </a:rPr>
                        <a:t>−1.086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7212C"/>
                          </a:solidFill>
                        </a:rPr>
                        <a:t>0.0687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7212C"/>
                          </a:solidFill>
                        </a:rPr>
                        <a:t>1.000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7212C"/>
                          </a:solidFill>
                        </a:rPr>
                        <a:t>C-graph-pre (pretrained)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7212C"/>
                          </a:solidFill>
                        </a:rPr>
                        <a:t>0.1580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7212C"/>
                          </a:solidFill>
                        </a:rPr>
                        <a:t>−1.086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7212C"/>
                          </a:solidFill>
                        </a:rPr>
                        <a:t>0.0616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7212C"/>
                          </a:solidFill>
                        </a:rPr>
                        <a:t>1.013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7212C"/>
                          </a:solidFill>
                        </a:rPr>
                        <a:t>C-graph-pre-probe (frozen)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7212C"/>
                          </a:solidFill>
                        </a:rPr>
                        <a:t>0.1566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7212C"/>
                          </a:solidFill>
                        </a:rPr>
                        <a:t>−1.041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7212C"/>
                          </a:solidFill>
                        </a:rPr>
                        <a:t>0.0574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7212C"/>
                          </a:solidFill>
                        </a:rPr>
                        <a:t>1.037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7212C"/>
                          </a:solidFill>
                        </a:rPr>
                        <a:t>T (tracks only)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7212C"/>
                          </a:solidFill>
                        </a:rPr>
                        <a:t>0.1504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7212C"/>
                          </a:solidFill>
                        </a:rPr>
                        <a:t>−1.058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7212C"/>
                          </a:solidFill>
                        </a:rPr>
                        <a:t>0.0298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7212C"/>
                          </a:solidFill>
                        </a:rPr>
                        <a:t>1.010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7212C"/>
                          </a:solidFill>
                        </a:rPr>
                        <a:t>TC-graph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7212C"/>
                          </a:solidFill>
                        </a:rPr>
                        <a:t>0.1304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7212C"/>
                          </a:solidFill>
                        </a:rPr>
                        <a:t>−1.241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7212C"/>
                          </a:solidFill>
                        </a:rPr>
                        <a:t>0.0442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7212C"/>
                          </a:solidFill>
                        </a:rPr>
                        <a:t>1.012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7212C"/>
                          </a:solidFill>
                        </a:rPr>
                        <a:t>TC-graph-pre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7212C"/>
                          </a:solidFill>
                        </a:rPr>
                        <a:t>0.1311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7212C"/>
                          </a:solidFill>
                        </a:rPr>
                        <a:t>−1.235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7212C"/>
                          </a:solidFill>
                        </a:rPr>
                        <a:t>0.0403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7212C"/>
                          </a:solidFill>
                        </a:rPr>
                        <a:t>1.024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7212C"/>
                          </a:solidFill>
                        </a:rPr>
                        <a:t>TC-graph @1% labels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7212C"/>
                          </a:solidFill>
                        </a:rPr>
                        <a:t>0.1559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7212C"/>
                          </a:solidFill>
                        </a:rPr>
                        <a:t>−0.980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7212C"/>
                          </a:solidFill>
                        </a:rPr>
                        <a:t>0.0720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7212C"/>
                          </a:solidFill>
                        </a:rPr>
                        <a:t>1.004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7212C"/>
                          </a:solidFill>
                        </a:rPr>
                        <a:t>TC-graph-pre @1% labels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7212C"/>
                          </a:solidFill>
                        </a:rPr>
                        <a:t>0.1536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7212C"/>
                          </a:solidFill>
                        </a:rPr>
                        <a:t>−0.994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7212C"/>
                          </a:solidFill>
                        </a:rPr>
                        <a:t>0.0644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7212C"/>
                          </a:solidFill>
                        </a:rPr>
                        <a:t>1.025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7212C"/>
                          </a:solidFill>
                        </a:rPr>
                        <a:t>TC @10% / pre @10%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7212C"/>
                          </a:solidFill>
                        </a:rPr>
                        <a:t>0.1451 / 0.1424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7212C"/>
                          </a:solidFill>
                        </a:rPr>
                        <a:t>−1.118 / −1.124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7212C"/>
                          </a:solidFill>
                        </a:rPr>
                        <a:t>0.0506 / 0.0606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7212C"/>
                          </a:solidFill>
                        </a:rPr>
                        <a:t>0.999 / 1.045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7212C"/>
                          </a:solidFill>
                        </a:rPr>
                        <a:t>TJ (tracks + jet kin.)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7212C"/>
                          </a:solidFill>
                        </a:rPr>
                        <a:t>0.1254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7212C"/>
                          </a:solidFill>
                        </a:rPr>
                        <a:t>−1.364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7212C"/>
                          </a:solidFill>
                        </a:rPr>
                        <a:t>0.0454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7212C"/>
                          </a:solidFill>
                        </a:rPr>
                        <a:t>1.028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7212C"/>
                          </a:solidFill>
                        </a:rPr>
                        <a:t>TJC-graph  ◀ best</a:t>
                      </a:r>
                    </a:p>
                  </a:txBody>
                  <a:tcPr>
                    <a:solidFill>
                      <a:srgbClr val="EAF4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7212C"/>
                          </a:solidFill>
                        </a:rPr>
                        <a:t>0.1150</a:t>
                      </a:r>
                    </a:p>
                  </a:txBody>
                  <a:tcPr>
                    <a:solidFill>
                      <a:srgbClr val="EAF4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7212C"/>
                          </a:solidFill>
                        </a:rPr>
                        <a:t>−1.422</a:t>
                      </a:r>
                    </a:p>
                  </a:txBody>
                  <a:tcPr>
                    <a:solidFill>
                      <a:srgbClr val="EAF4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7212C"/>
                          </a:solidFill>
                        </a:rPr>
                        <a:t>0.0395</a:t>
                      </a:r>
                    </a:p>
                  </a:txBody>
                  <a:tcPr>
                    <a:solidFill>
                      <a:srgbClr val="EAF4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7212C"/>
                          </a:solidFill>
                        </a:rPr>
                        <a:t>1.036</a:t>
                      </a:r>
                    </a:p>
                  </a:txBody>
                  <a:tcPr>
                    <a:solidFill>
                      <a:srgbClr val="EAF4EE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7212C"/>
                          </a:solidFill>
                        </a:rPr>
                        <a:t>TJC-set (no cell graph)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7212C"/>
                          </a:solidFill>
                        </a:rPr>
                        <a:t>0.1162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7212C"/>
                          </a:solidFill>
                        </a:rPr>
                        <a:t>−1.416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7212C"/>
                          </a:solidFill>
                        </a:rPr>
                        <a:t>0.0424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7212C"/>
                          </a:solidFill>
                        </a:rPr>
                        <a:t>1.029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9464040" y="1463040"/>
            <a:ext cx="23774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5C6975"/>
                </a:solidFill>
              </a:rPr>
              <a:t>Every row: mean of 3 seeds; JER@65 spread ≤ ±0.003.
"@N% labels": trained on a random N% of labeled jets — the label-efficiency test of whether pretraining helps when labels are scarce.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155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0E7C8C"/>
                </a:solidFill>
                <a:latin typeface="Courier New"/>
              </a:rPr>
              <a:t>RESULT 1 — WHAT THE LADDER SHOWS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66928"/>
            <a:ext cx="111556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7212C"/>
                </a:solidFill>
                <a:latin typeface="Georgia"/>
              </a:rPr>
              <a:t>Observations the table itself supports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463040"/>
            <a:ext cx="1115568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400">
                <a:solidFill>
                  <a:srgbClr val="17212C"/>
                </a:solidFill>
              </a:rPr>
              <a:t>• Every input adds information: C 0.158 → T 0.150 → TC 0.130 → TJ 0.125 → TJC 0.115 (uncorrected 0.230). Tracks and cells are complementary — tracks resolve the low-pT charged-fraction fluctuation; cells keep improving where tracking saturates (next slide).</a:t>
            </a:r>
          </a:p>
          <a:p>
            <a:pPr>
              <a:spcAft>
                <a:spcPts val="500"/>
              </a:spcAft>
            </a:pPr>
            <a:r>
              <a:rPr sz="1400">
                <a:solidFill>
                  <a:srgbClr val="17212C"/>
                </a:solidFill>
              </a:rPr>
              <a:t>• Graph vs set encoding: TJC-graph 0.1150 vs TJC-set 0.1162, overlapping seed spreads → explicit calo-neighbor topology adds LITTLE beyond per-cell features — for significance-selected cells at per-jet scope. Untested at full granularity and event scope, where topology should matter more (clustering).</a:t>
            </a:r>
          </a:p>
          <a:p>
            <a:pPr>
              <a:spcAft>
                <a:spcPts val="500"/>
              </a:spcAft>
            </a:pPr>
            <a:r>
              <a:rPr sz="1400">
                <a:solidFill>
                  <a:srgbClr val="17212C"/>
                </a:solidFill>
              </a:rPr>
              <a:t>• Pretraining (masked-cell): neutral at 100% labels (TC 0.1304 vs pre 0.1311); consistent gains when labels are scarce — 0.1536 vs 0.1559 at 1%, 0.1424 vs 0.1451 at 10%. A frozen pretrained encoder with a linear probe nearly matches full finetuning (0.1566 vs 0.1580, cells-only) → the representations transfer; the foundation-model value case lives in the low-label regime.</a:t>
            </a:r>
          </a:p>
          <a:p>
            <a:pPr>
              <a:spcAft>
                <a:spcPts val="500"/>
              </a:spcAft>
            </a:pPr>
            <a:r>
              <a:rPr sz="1400">
                <a:solidFill>
                  <a:srgbClr val="17212C"/>
                </a:solidFill>
              </a:rPr>
              <a:t>• The learned global correction closes the response to 2–4% across 20–250 GeV without any explicit closure term in the loss (uncorrected: 9% closure RMS).</a:t>
            </a:r>
          </a:p>
          <a:p>
            <a:pPr>
              <a:spcAft>
                <a:spcPts val="500"/>
              </a:spcAft>
            </a:pPr>
            <a:r>
              <a:rPr sz="1400">
                <a:solidFill>
                  <a:srgbClr val="17212C"/>
                </a:solidFill>
              </a:rPr>
              <a:t>• Per-jet uncertainties are honest to first order everywhere (pull std 1.00–1.05) — validation beyond this on the diagnostics slide.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155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0E7C8C"/>
                </a:solidFill>
                <a:latin typeface="Courier New"/>
              </a:rPr>
              <a:t>RESULT 1 — EVIDENCE VS PT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66928"/>
            <a:ext cx="111556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7212C"/>
                </a:solidFill>
                <a:latin typeface="Georgia"/>
              </a:rPr>
              <a:t>Where each input contributes</a:t>
            </a:r>
          </a:p>
        </p:txBody>
      </p:sp>
      <p:pic>
        <p:nvPicPr>
          <p:cNvPr id="4" name="Picture 3" descr="ladder_jer_vs_p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417320"/>
            <a:ext cx="5760720" cy="4455903"/>
          </a:xfrm>
          <a:prstGeom prst="rect">
            <a:avLst/>
          </a:prstGeom>
        </p:spPr>
      </p:pic>
      <p:pic>
        <p:nvPicPr>
          <p:cNvPr id="5" name="Picture 4" descr="ladder_closure_vs_p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55080" y="1417320"/>
            <a:ext cx="5760720" cy="4074023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02920" y="5806440"/>
            <a:ext cx="111556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>
                <a:solidFill>
                  <a:srgbClr val="5C6975"/>
                </a:solidFill>
              </a:rPr>
              <a:t>Left: JER vs truth pT, all core configs + uncorrected; seed spread as error bars. Tracks dominate below ~100 GeV; cells extend gains to high pT. First bin (20–30) is clipped by the 20 GeV reco floor — diagnostic only. Right: median corrected response — uncorrected calo jet is 3–20% high; all configs close to ~2–4%.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155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0E7C8C"/>
                </a:solidFill>
                <a:latin typeface="Courier New"/>
              </a:rPr>
              <a:t>RESULT 1 — ROBUSTNESS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66928"/>
            <a:ext cx="111556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7212C"/>
                </a:solidFill>
                <a:latin typeface="Georgia"/>
              </a:rPr>
              <a:t>Independently replicated at SLAC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417320"/>
            <a:ext cx="60350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300">
                <a:solidFill>
                  <a:srgbClr val="17212C"/>
                </a:solidFill>
              </a:rPr>
              <a:t>• A second, fully independent pipeline at SLAC on the same production: different constituent assignment (cone vs ghost), features (26 track / 25 cell), architecture (two-stream transformer), loss (Huber, no σ), estimator (Gaussian-core, inclusive).</a:t>
            </a:r>
          </a:p>
          <a:p>
            <a:pPr>
              <a:spcAft>
                <a:spcPts val="500"/>
              </a:spcAft>
            </a:pPr>
            <a:r>
              <a:rPr sz="1300">
                <a:solidFill>
                  <a:srgbClr val="17212C"/>
                </a:solidFill>
              </a:rPr>
              <a:t>• Same pT structure found independently: track gains fade above ~100 GeV; cell gains persist (their N/S/C fits: cells improve stochastic + constant terms; tracks alone only the noise term).</a:t>
            </a:r>
          </a:p>
          <a:p>
            <a:pPr>
              <a:spcAft>
                <a:spcPts val="500"/>
              </a:spcAft>
            </a:pPr>
            <a:r>
              <a:rPr sz="1300">
                <a:solidFill>
                  <a:srgbClr val="17212C"/>
                </a:solidFill>
              </a:rPr>
              <a:t>• Estimator reconciliation: our best config's inclusive Gaussian-core resolution 13.5% vs their 13.1% — apparent headline differences are estimator/population, not models.</a:t>
            </a:r>
          </a:p>
          <a:p>
            <a:pPr>
              <a:spcAft>
                <a:spcPts val="500"/>
              </a:spcAft>
            </a:pPr>
            <a:r>
              <a:rPr sz="1300">
                <a:solidFill>
                  <a:srgbClr val="17212C"/>
                </a:solidFill>
              </a:rPr>
              <a:t>• Agreed next step: common-jets, common-estimator joint evaluation.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858000" y="1737360"/>
          <a:ext cx="4754880" cy="82295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37360"/>
                <a:gridCol w="1554480"/>
                <a:gridCol w="1463040"/>
              </a:tblGrid>
              <a:tr h="274319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7212C"/>
                          </a:solidFill>
                        </a:rPr>
                        <a:t>inputs</a:t>
                      </a:r>
                    </a:p>
                  </a:txBody>
                  <a:tcPr>
                    <a:solidFill>
                      <a:srgbClr val="E6EC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7212C"/>
                          </a:solidFill>
                        </a:rPr>
                        <a:t>SLAC pipeline</a:t>
                      </a:r>
                    </a:p>
                  </a:txBody>
                  <a:tcPr>
                    <a:solidFill>
                      <a:srgbClr val="E6EC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7212C"/>
                          </a:solidFill>
                        </a:rPr>
                        <a:t>this work (JER@65)</a:t>
                      </a:r>
                    </a:p>
                  </a:txBody>
                  <a:tcPr>
                    <a:solidFill>
                      <a:srgbClr val="E6ECEF"/>
                    </a:solidFill>
                  </a:tcPr>
                </a:tc>
              </a:tr>
              <a:tr h="274319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7212C"/>
                          </a:solidFill>
                        </a:rPr>
                        <a:t>tracks only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7212C"/>
                          </a:solidFill>
                        </a:rPr>
                        <a:t>34.0%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7212C"/>
                          </a:solidFill>
                        </a:rPr>
                        <a:t>34.5%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74321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7212C"/>
                          </a:solidFill>
                        </a:rPr>
                        <a:t>tracks + cells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7212C"/>
                          </a:solidFill>
                        </a:rPr>
                        <a:t>42.7%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7212C"/>
                          </a:solidFill>
                        </a:rPr>
                        <a:t>43.3%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6858000" y="3017520"/>
            <a:ext cx="47548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>
                <a:solidFill>
                  <a:srgbClr val="5C6975"/>
                </a:solidFill>
              </a:rPr>
              <a:t>Relative JER improvement over the same-jets uncorrected default — the one directly comparable number.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155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0E7C8C"/>
                </a:solidFill>
                <a:latin typeface="Courier New"/>
              </a:rPr>
              <a:t>RESULT 2 — FLAVOR DEPENDENCE (ALL-FLAVOR DATASET, 1.2M JETS)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66928"/>
            <a:ext cx="111556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7212C"/>
                </a:solidFill>
                <a:latin typeface="Georgia"/>
              </a:rPr>
              <a:t>Shared training beats dedicated per-flavor models</a:t>
            </a:r>
          </a:p>
        </p:txBody>
      </p:sp>
      <p:pic>
        <p:nvPicPr>
          <p:cNvPr id="4" name="Picture 3" descr="t1_flavor_j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463040"/>
            <a:ext cx="5394960" cy="4092727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126480" y="1554480"/>
            <a:ext cx="55778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300">
                <a:solidFill>
                  <a:srgbClr val="17212C"/>
                </a:solidFill>
              </a:rPr>
              <a:t>• One shared model beats dedicated per-flavor models where statistics are limited: b 12.8±0.1 vs 13.9; c 13.3±0.2 vs 15.4±0.7 — the dedicated c-model starves on 150k jets.</a:t>
            </a:r>
          </a:p>
          <a:p>
            <a:pPr>
              <a:spcAft>
                <a:spcPts val="500"/>
              </a:spcAft>
            </a:pPr>
            <a:r>
              <a:rPr sz="1300">
                <a:solidFill>
                  <a:srgbClr val="17212C"/>
                </a:solidFill>
              </a:rPr>
              <a:t>• Explicit flavor conditioning adds little over flavor-blind (b 12.8±0.1 vs 13.0±0.03; c consistent within errors) — the encoder infers flavor-relevant structure from the constituents.</a:t>
            </a:r>
          </a:p>
          <a:p>
            <a:pPr>
              <a:spcAft>
                <a:spcPts val="500"/>
              </a:spcAft>
            </a:pPr>
            <a:r>
              <a:rPr sz="1300">
                <a:solidFill>
                  <a:srgbClr val="17212C"/>
                </a:solidFill>
              </a:rPr>
              <a:t>• Flavor ordering light &lt; b &lt; c matches expectation (semileptonic decays, shower composition).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155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0E7C8C"/>
                </a:solidFill>
                <a:latin typeface="Courier New"/>
              </a:rPr>
              <a:t>RESULT 3 — JOINT TAGGING + CALIBRATION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66928"/>
            <a:ext cx="111556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7212C"/>
                </a:solidFill>
                <a:latin typeface="Georgia"/>
              </a:rPr>
              <a:t>One head does both tasks without degrading either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02920" y="1371600"/>
          <a:ext cx="11155680" cy="1097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26080"/>
                <a:gridCol w="1371600"/>
                <a:gridCol w="1280160"/>
                <a:gridCol w="1737360"/>
                <a:gridCol w="1645920"/>
                <a:gridCol w="1097280"/>
                <a:gridCol w="1097280"/>
              </a:tblGrid>
              <a:tr h="27432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17212C"/>
                          </a:solidFill>
                        </a:rPr>
                        <a:t>config</a:t>
                      </a:r>
                    </a:p>
                  </a:txBody>
                  <a:tcPr>
                    <a:solidFill>
                      <a:srgbClr val="E6EC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17212C"/>
                          </a:solidFill>
                        </a:rPr>
                        <a:t>calib NLL</a:t>
                      </a:r>
                    </a:p>
                  </a:txBody>
                  <a:tcPr>
                    <a:solidFill>
                      <a:srgbClr val="E6EC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17212C"/>
                          </a:solidFill>
                        </a:rPr>
                        <a:t>JER@65</a:t>
                      </a:r>
                    </a:p>
                  </a:txBody>
                  <a:tcPr>
                    <a:solidFill>
                      <a:srgbClr val="E6EC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17212C"/>
                          </a:solidFill>
                        </a:rPr>
                        <a:t>b-AUC</a:t>
                      </a:r>
                    </a:p>
                  </a:txBody>
                  <a:tcPr>
                    <a:solidFill>
                      <a:srgbClr val="E6EC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17212C"/>
                          </a:solidFill>
                        </a:rPr>
                        <a:t>light rej @70%</a:t>
                      </a:r>
                    </a:p>
                  </a:txBody>
                  <a:tcPr>
                    <a:solidFill>
                      <a:srgbClr val="E6EC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17212C"/>
                          </a:solidFill>
                        </a:rPr>
                        <a:t>@77%</a:t>
                      </a:r>
                    </a:p>
                  </a:txBody>
                  <a:tcPr>
                    <a:solidFill>
                      <a:srgbClr val="E6EC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17212C"/>
                          </a:solidFill>
                        </a:rPr>
                        <a:t>@85%</a:t>
                      </a:r>
                    </a:p>
                  </a:txBody>
                  <a:tcPr>
                    <a:solidFill>
                      <a:srgbClr val="E6ECE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7212C"/>
                          </a:solidFill>
                        </a:rPr>
                        <a:t>calibration-only (TJC-graph)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7212C"/>
                          </a:solidFill>
                        </a:rPr>
                        <a:t>−1.421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7212C"/>
                          </a:solidFill>
                        </a:rPr>
                        <a:t>0.1244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7212C"/>
                          </a:solidFill>
                        </a:rP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7212C"/>
                          </a:solidFill>
                        </a:rP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7212C"/>
                          </a:solidFill>
                        </a:rP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7212C"/>
                          </a:solidFill>
                        </a:rP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7212C"/>
                          </a:solidFill>
                        </a:rPr>
                        <a:t>joint (panoptic)</a:t>
                      </a:r>
                    </a:p>
                  </a:txBody>
                  <a:tcPr>
                    <a:solidFill>
                      <a:srgbClr val="EAF4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7212C"/>
                          </a:solidFill>
                        </a:rPr>
                        <a:t>−1.406</a:t>
                      </a:r>
                    </a:p>
                  </a:txBody>
                  <a:tcPr>
                    <a:solidFill>
                      <a:srgbClr val="EAF4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7212C"/>
                          </a:solidFill>
                        </a:rPr>
                        <a:t>0.1264</a:t>
                      </a:r>
                    </a:p>
                  </a:txBody>
                  <a:tcPr>
                    <a:solidFill>
                      <a:srgbClr val="EAF4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7212C"/>
                          </a:solidFill>
                        </a:rPr>
                        <a:t>0.941±0.001</a:t>
                      </a:r>
                    </a:p>
                  </a:txBody>
                  <a:tcPr>
                    <a:solidFill>
                      <a:srgbClr val="EAF4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7212C"/>
                          </a:solidFill>
                        </a:rPr>
                        <a:t>117±5</a:t>
                      </a:r>
                    </a:p>
                  </a:txBody>
                  <a:tcPr>
                    <a:solidFill>
                      <a:srgbClr val="EAF4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7212C"/>
                          </a:solidFill>
                        </a:rPr>
                        <a:t>60±2</a:t>
                      </a:r>
                    </a:p>
                  </a:txBody>
                  <a:tcPr>
                    <a:solidFill>
                      <a:srgbClr val="EAF4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7212C"/>
                          </a:solidFill>
                        </a:rPr>
                        <a:t>21.0±0.6</a:t>
                      </a:r>
                    </a:p>
                  </a:txBody>
                  <a:tcPr>
                    <a:solidFill>
                      <a:srgbClr val="EAF4EE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7212C"/>
                          </a:solidFill>
                        </a:rPr>
                        <a:t>tagging-only control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7212C"/>
                          </a:solidFill>
                        </a:rPr>
                        <a:t>+0.154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7212C"/>
                          </a:solidFill>
                        </a:rPr>
                        <a:t>0.4728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7212C"/>
                          </a:solidFill>
                        </a:rPr>
                        <a:t>0.939±0.001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7212C"/>
                          </a:solidFill>
                        </a:rPr>
                        <a:t>122±10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7212C"/>
                          </a:solidFill>
                        </a:rPr>
                        <a:t>58±3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7212C"/>
                          </a:solidFill>
                        </a:rPr>
                        <a:t>19.5±0.9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02920" y="3017520"/>
            <a:ext cx="1115568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300">
                <a:solidFill>
                  <a:srgbClr val="17212C"/>
                </a:solidFill>
              </a:rPr>
              <a:t>• Joint vs calibration-only: ΔNLL 0.015, ΔJER 0.002 — calibration intact (≈1 seed sd). Joint vs tagging-only: rejections statistically indistinguishable at all WPs — tagging intact.</a:t>
            </a:r>
          </a:p>
          <a:p>
            <a:pPr>
              <a:spcAft>
                <a:spcPts val="500"/>
              </a:spcAft>
            </a:pPr>
            <a:r>
              <a:rPr sz="1300">
                <a:solidFill>
                  <a:srgbClr val="17212C"/>
                </a:solidFill>
              </a:rPr>
              <a:t>• The tagging-only control (JER 0.47) shows calibration is earned by the NLL term, not free.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4754880"/>
            <a:ext cx="111556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>
                <a:solidFill>
                  <a:srgbClr val="9A6A00"/>
                </a:solidFill>
              </a:rPr>
              <a:t>Internal comparison only. Scale: production taggers reach light-jet rejection O(400) (DL1r) to severalfold beyond (GN2) at the 70% WP on Run-2 samples [arXiv:2211.16345; 2505.19689], HL-LHC expectations in [arXiv:1809.02181] — none comparable to this sample (Run-4 detector, significance-selected cells, no dedicated FTAG features). Like-for-like anchor = GN2 on these ntuples: branches exist, unfilled — rerun requested.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155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0E7C8C"/>
                </a:solidFill>
                <a:latin typeface="Courier New"/>
              </a:rPr>
              <a:t>RESULT 4 — EVENT-LEVEL MISSING ET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66928"/>
            <a:ext cx="111556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7212C"/>
                </a:solidFill>
                <a:latin typeface="Georgia"/>
              </a:rPr>
              <a:t>MET from available detector subsets</a:t>
            </a:r>
          </a:p>
        </p:txBody>
      </p:sp>
      <p:pic>
        <p:nvPicPr>
          <p:cNvPr id="4" name="Picture 3" descr="T3B_resolution_vs_me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417320"/>
            <a:ext cx="4206240" cy="3154680"/>
          </a:xfrm>
          <a:prstGeom prst="rect">
            <a:avLst/>
          </a:prstGeom>
        </p:spPr>
      </p:pic>
      <p:pic>
        <p:nvPicPr>
          <p:cNvPr id="5" name="Picture 4" descr="T3C_correlat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09160" y="1417320"/>
            <a:ext cx="4206240" cy="1956391"/>
          </a:xfrm>
          <a:prstGeom prst="rect">
            <a:avLst/>
          </a:prstGeom>
        </p:spPr>
      </p:pic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9052560" y="1554480"/>
          <a:ext cx="2834640" cy="164591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37360"/>
                <a:gridCol w="1097280"/>
              </a:tblGrid>
              <a:tr h="274319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17212C"/>
                          </a:solidFill>
                        </a:rPr>
                        <a:t>estimator</a:t>
                      </a:r>
                    </a:p>
                  </a:txBody>
                  <a:tcPr>
                    <a:solidFill>
                      <a:srgbClr val="E6EC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17212C"/>
                          </a:solidFill>
                        </a:rPr>
                        <a:t>res [GeV]</a:t>
                      </a:r>
                    </a:p>
                  </a:txBody>
                  <a:tcPr>
                    <a:solidFill>
                      <a:srgbClr val="E6ECEF"/>
                    </a:solidFill>
                  </a:tcPr>
                </a:tc>
              </a:tr>
              <a:tr h="274319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7212C"/>
                          </a:solidFill>
                        </a:rPr>
                        <a:t>−Σ tracks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7212C"/>
                          </a:solidFill>
                        </a:rPr>
                        <a:t>60.6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74319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7212C"/>
                          </a:solidFill>
                        </a:rPr>
                        <a:t>−Σ jets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7212C"/>
                          </a:solidFill>
                        </a:rPr>
                        <a:t>44.2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74319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7212C"/>
                          </a:solidFill>
                        </a:rPr>
                        <a:t>−Σ cells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7212C"/>
                          </a:solidFill>
                        </a:rPr>
                        <a:t>43.2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74319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7212C"/>
                          </a:solidFill>
                        </a:rPr>
                        <a:t>model, tracks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7212C"/>
                          </a:solidFill>
                        </a:rPr>
                        <a:t>49.5±0.01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74324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7212C"/>
                          </a:solidFill>
                        </a:rPr>
                        <a:t>model, tracks+cells</a:t>
                      </a:r>
                    </a:p>
                  </a:txBody>
                  <a:tcPr>
                    <a:solidFill>
                      <a:srgbClr val="EAF4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7212C"/>
                          </a:solidFill>
                        </a:rPr>
                        <a:t>27.0±0.1</a:t>
                      </a:r>
                    </a:p>
                  </a:txBody>
                  <a:tcPr>
                    <a:solidFill>
                      <a:srgbClr val="EAF4EE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02920" y="5394960"/>
            <a:ext cx="111556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>
                <a:solidFill>
                  <a:srgbClr val="5C6975"/>
                </a:solidFill>
              </a:rPr>
              <a:t>First event-level model: all tracks + all selected cells as one token set → truth MET (x,y). Truth MET = ν vector sum from the stable-particle record (validated: truth jets include ν). No reco soft term exists in these ntuples — deliberately "MET from what we have" vs baselines with the same information. Tracks-only model collapses toward a constant prediction (49.5, no spread).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155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0E7C8C"/>
                </a:solidFill>
                <a:latin typeface="Courier New"/>
              </a:rPr>
              <a:t>RESULT 5 — SET-PREDICTION JET FINDING (DETR-STYLE)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66928"/>
            <a:ext cx="111556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7212C"/>
                </a:solidFill>
                <a:latin typeface="Georgia"/>
              </a:rPr>
              <a:t>Constituents in, jet set out — vs the ATLAS reco baseline</a:t>
            </a:r>
          </a:p>
        </p:txBody>
      </p:sp>
      <p:pic>
        <p:nvPicPr>
          <p:cNvPr id="4" name="Picture 3" descr="t4_efficiency_with_antik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371600"/>
            <a:ext cx="5486400" cy="4194047"/>
          </a:xfrm>
          <a:prstGeom prst="rect">
            <a:avLst/>
          </a:prstGeom>
        </p:spPr>
      </p:pic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217920" y="1554480"/>
          <a:ext cx="5577840" cy="1097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7440"/>
                <a:gridCol w="1188720"/>
                <a:gridCol w="1005840"/>
                <a:gridCol w="1005840"/>
              </a:tblGrid>
              <a:tr h="27432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17212C"/>
                          </a:solidFill>
                        </a:rPr>
                        <a:t>finder</a:t>
                      </a:r>
                    </a:p>
                  </a:txBody>
                  <a:tcPr>
                    <a:solidFill>
                      <a:srgbClr val="E6EC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17212C"/>
                          </a:solidFill>
                        </a:rPr>
                        <a:t>overall eff</a:t>
                      </a:r>
                    </a:p>
                  </a:txBody>
                  <a:tcPr>
                    <a:solidFill>
                      <a:srgbClr val="E6EC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17212C"/>
                          </a:solidFill>
                        </a:rPr>
                        <a:t>plateau eff</a:t>
                      </a:r>
                    </a:p>
                  </a:txBody>
                  <a:tcPr>
                    <a:solidFill>
                      <a:srgbClr val="E6EC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17212C"/>
                          </a:solidFill>
                        </a:rPr>
                        <a:t>log-pT MAE</a:t>
                      </a:r>
                    </a:p>
                  </a:txBody>
                  <a:tcPr>
                    <a:solidFill>
                      <a:srgbClr val="E6ECE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7212C"/>
                          </a:solidFill>
                        </a:rPr>
                        <a:t>anti-kT EMTopo (ATLAS reco)</a:t>
                      </a:r>
                    </a:p>
                  </a:txBody>
                  <a:tcPr>
                    <a:solidFill>
                      <a:srgbClr val="F8F1D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7212C"/>
                          </a:solidFill>
                        </a:rPr>
                        <a:t>0.892</a:t>
                      </a:r>
                    </a:p>
                  </a:txBody>
                  <a:tcPr>
                    <a:solidFill>
                      <a:srgbClr val="F8F1D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7212C"/>
                          </a:solidFill>
                        </a:rPr>
                        <a:t>≈0.999</a:t>
                      </a:r>
                    </a:p>
                  </a:txBody>
                  <a:tcPr>
                    <a:solidFill>
                      <a:srgbClr val="F8F1D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7212C"/>
                          </a:solidFill>
                        </a:rPr>
                        <a:t>—</a:t>
                      </a:r>
                    </a:p>
                  </a:txBody>
                  <a:tcPr>
                    <a:solidFill>
                      <a:srgbClr val="F8F1D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7212C"/>
                          </a:solidFill>
                        </a:rPr>
                        <a:t>learned, tracks only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7212C"/>
                          </a:solidFill>
                        </a:rPr>
                        <a:t>0.789±0.008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7212C"/>
                          </a:solidFill>
                        </a:rPr>
                        <a:t>≈0.95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7212C"/>
                          </a:solidFill>
                        </a:rPr>
                        <a:t>0.293±0.008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7212C"/>
                          </a:solidFill>
                        </a:rPr>
                        <a:t>learned, tracks+cells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7212C"/>
                          </a:solidFill>
                        </a:rPr>
                        <a:t>0.759±0.042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7212C"/>
                          </a:solidFill>
                        </a:rPr>
                        <a:t>≈0.99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7212C"/>
                          </a:solidFill>
                        </a:rPr>
                        <a:t>0.238±0.012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6217920" y="3291840"/>
            <a:ext cx="557784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150">
                <a:solidFill>
                  <a:srgbClr val="17212C"/>
                </a:solidFill>
              </a:rPr>
              <a:t>• Mechanics: learned queries + existence head, cross-attending to all constituents; Hungarian matching to truth HS jets (pT&gt;20, ≤10/event); existence BCE + matched regression.</a:t>
            </a:r>
          </a:p>
          <a:p>
            <a:pPr>
              <a:spcAft>
                <a:spcPts val="500"/>
              </a:spcAft>
            </a:pPr>
            <a:r>
              <a:rPr sz="1150">
                <a:solidFill>
                  <a:srgbClr val="17212C"/>
                </a:solidFill>
              </a:rPr>
              <a:t>• Honest read: not yet competitive with anti-kT overall — the gap is entirely low-pT; approaches the plateau within a few %. Cells sharpen kinematics but add seed variance (±0.04, unresolved — stability study queued).</a:t>
            </a:r>
          </a:p>
          <a:p>
            <a:pPr>
              <a:spcAft>
                <a:spcPts val="500"/>
              </a:spcAft>
            </a:pPr>
            <a:r>
              <a:rPr sz="1150">
                <a:solidFill>
                  <a:srgbClr val="17212C"/>
                </a:solidFill>
              </a:rPr>
              <a:t>• Fake rates not directly comparable: 57% of reco jets are pileup jets (μ=200) — anti-kT "fakes" are PU, learned-finder fakes are algorithmic.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155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0E7C8C"/>
                </a:solidFill>
                <a:latin typeface="Courier New"/>
              </a:rPr>
              <a:t>THE WIDER TASK PORTFOLIO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66928"/>
            <a:ext cx="111556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7212C"/>
                </a:solidFill>
                <a:latin typeface="Georgia"/>
              </a:rPr>
              <a:t>Same backbone, other tasks: honest status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02920" y="1371600"/>
          <a:ext cx="11155680" cy="164591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91840"/>
                <a:gridCol w="1005840"/>
                <a:gridCol w="6858000"/>
              </a:tblGrid>
              <a:tr h="274319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17212C"/>
                          </a:solidFill>
                        </a:rPr>
                        <a:t>task</a:t>
                      </a:r>
                    </a:p>
                  </a:txBody>
                  <a:tcPr>
                    <a:solidFill>
                      <a:srgbClr val="E6EC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17212C"/>
                          </a:solidFill>
                        </a:rPr>
                        <a:t>status</a:t>
                      </a:r>
                    </a:p>
                  </a:txBody>
                  <a:tcPr>
                    <a:solidFill>
                      <a:srgbClr val="E6EC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17212C"/>
                          </a:solidFill>
                        </a:rPr>
                        <a:t>what we learned</a:t>
                      </a:r>
                    </a:p>
                  </a:txBody>
                  <a:tcPr>
                    <a:solidFill>
                      <a:srgbClr val="E6ECEF"/>
                    </a:solidFill>
                  </a:tcPr>
                </a:tc>
              </a:tr>
              <a:tr h="274319"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7212C"/>
                          </a:solidFill>
                        </a:rPr>
                        <a:t>Topocluster formation as cell-edge classification (full 187,652-cell granularity)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7212C"/>
                          </a:solidFill>
                        </a:rPr>
                        <a:t>PARKED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7212C"/>
                          </a:solidFill>
                        </a:rPr>
                        <a:t>All GNN variants (GCN/GAT/GT/SAGE) plateau alike; confusion at cluster peripheries. Diagnosis: cluster membership is long-range reachability — mismatched to fixed-depth message passing. Revisit as object-condensation-style set prediction on full-granularity same-event data.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74319"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7212C"/>
                          </a:solidFill>
                        </a:rPr>
                        <a:t>Masked-cell / masked-track pretraining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7212C"/>
                          </a:solidFill>
                        </a:rPr>
                        <a:t>IN USE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7212C"/>
                          </a:solidFill>
                        </a:rPr>
                        <a:t>The "-pre" ladder rows: neutral at full labels, gains at 1–10%; cross-process transfer test (ttbar → HH→bbττ calo) planned.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74319"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7212C"/>
                          </a:solidFill>
                        </a:rPr>
                        <a:t>Event-level b-tagging (set transformer over tracks)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7212C"/>
                          </a:solidFill>
                        </a:rPr>
                        <a:t>EVOLVED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7212C"/>
                          </a:solidFill>
                        </a:rPr>
                        <a:t>Its encoder/decoder became this backbone's track path and jet-query head — survives as the panoptic head.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74319"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7212C"/>
                          </a:solidFill>
                        </a:rPr>
                        <a:t>Jet finding &amp; MET (event level)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7212C"/>
                          </a:solidFill>
                        </a:rPr>
                        <a:t>SHOWN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7212C"/>
                          </a:solidFill>
                        </a:rPr>
                        <a:t>Results 4–5 — first genuinely event-level models on the backbone.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74324"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7212C"/>
                          </a:solidFill>
                        </a:rPr>
                        <a:t>Pileup-jet discrimination; timing-aware reco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7212C"/>
                          </a:solidFill>
                        </a:rPr>
                        <a:t>QUEUED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7212C"/>
                          </a:solidFill>
                        </a:rPr>
                        <a:t>Enabled by newly verified branches (in/out-of-time PU truth jets; cell time/quality) — not yet attempted.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155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0E7C8C"/>
                </a:solidFill>
                <a:latin typeface="Courier New"/>
              </a:rPr>
              <a:t>DO THE PER-JET UNCERTAINTIES MEAN ANYTHING?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66928"/>
            <a:ext cx="111556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7212C"/>
                </a:solidFill>
                <a:latin typeface="Georgia"/>
              </a:rPr>
              <a:t>Validation beyond pull std — first diagnostics</a:t>
            </a:r>
          </a:p>
        </p:txBody>
      </p:sp>
      <p:pic>
        <p:nvPicPr>
          <p:cNvPr id="4" name="Picture 3" descr="G0_cover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417320"/>
            <a:ext cx="5577840" cy="3028165"/>
          </a:xfrm>
          <a:prstGeom prst="rect">
            <a:avLst/>
          </a:prstGeom>
        </p:spPr>
      </p:pic>
      <p:pic>
        <p:nvPicPr>
          <p:cNvPr id="5" name="Picture 4" descr="G0_pull_tail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63640" y="1417320"/>
            <a:ext cx="5577840" cy="286043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02920" y="5532120"/>
            <a:ext cx="111556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>
                <a:solidFill>
                  <a:srgbClr val="5C6975"/>
                </a:solidFill>
              </a:rPr>
              <a:t>Coverage ~67.4% at 68.27% nominal (mildly overconfident); P(|z|&gt;3) ≈ 0.8% vs 0.27% Gaussian — a 3× tail excess, identical across headline models. Measured motivation for the mixture-density head study now starting (does one component absorb the tails, and does it align with semileptonic b's?).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155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0E7C8C"/>
                </a:solidFill>
                <a:latin typeface="Courier New"/>
              </a:rPr>
              <a:t>LIMITATIONS — STATED BEFORE ANYONE ASKS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66928"/>
            <a:ext cx="111556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7212C"/>
                </a:solidFill>
                <a:latin typeface="Georgia"/>
              </a:rPr>
              <a:t>What these results are not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463040"/>
            <a:ext cx="111556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400">
                <a:solidFill>
                  <a:srgbClr val="17212C"/>
                </a:solidFill>
              </a:rPr>
              <a:t>• All calibrations are corrections to the calo jet — no standalone single-modality measurement is claimed. (A constituents-only absolute-pT variant is planned.)</a:t>
            </a:r>
          </a:p>
          <a:p>
            <a:pPr>
              <a:spcAft>
                <a:spcPts val="500"/>
              </a:spcAft>
            </a:pPr>
            <a:r>
              <a:rPr sz="1400">
                <a:solidFill>
                  <a:srgbClr val="17212C"/>
                </a:solidFill>
              </a:rPr>
              <a:t>• 3 seeds per config; spreads shown; 10-seed re-runs under a pre-registered protocol with frozen splits and test blinding are in progress.</a:t>
            </a:r>
          </a:p>
          <a:p>
            <a:pPr>
              <a:spcAft>
                <a:spcPts val="500"/>
              </a:spcAft>
            </a:pPr>
            <a:r>
              <a:rPr sz="1400">
                <a:solidFill>
                  <a:srgbClr val="17212C"/>
                </a:solidFill>
              </a:rPr>
              <a:t>• Single physics process (ttbar) — event-level models can exploit ttbar kinematics; sample dependence unmeasured until VBF H→inv (in transfer) and ideally dijet/Z+jets arrive.</a:t>
            </a:r>
          </a:p>
          <a:p>
            <a:pPr>
              <a:spcAft>
                <a:spcPts val="500"/>
              </a:spcAft>
            </a:pPr>
            <a:r>
              <a:rPr sz="1400">
                <a:solidFill>
                  <a:srgbClr val="17212C"/>
                </a:solidFill>
              </a:rPr>
              <a:t>• Electron contamination: 5.3% of "light" jets overlap the hard lepton (measured); veto in progress — small shifts expected.</a:t>
            </a:r>
          </a:p>
          <a:p>
            <a:pPr>
              <a:spcAft>
                <a:spcPts val="500"/>
              </a:spcAft>
            </a:pPr>
            <a:r>
              <a:rPr sz="1400">
                <a:solidFill>
                  <a:srgbClr val="17212C"/>
                </a:solidFill>
              </a:rPr>
              <a:t>• No production-tagger baseline (GN2 branches unfilled) and no reco-MET soft term — internal comparisons only where noted.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155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0E7C8C"/>
                </a:solidFill>
                <a:latin typeface="Courier New"/>
              </a:rPr>
              <a:t>NEXT STEPS &amp; ASKS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66928"/>
            <a:ext cx="111556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7212C"/>
                </a:solidFill>
                <a:latin typeface="Georgia"/>
              </a:rPr>
              <a:t>Validation program, and three requests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463040"/>
            <a:ext cx="57607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300">
                <a:solidFill>
                  <a:srgbClr val="17212C"/>
                </a:solidFill>
              </a:rPr>
              <a:t>• In progress (14-week validation program):</a:t>
            </a:r>
          </a:p>
          <a:p>
            <a:pPr lvl="1">
              <a:spcAft>
                <a:spcPts val="500"/>
              </a:spcAft>
            </a:pPr>
            <a:r>
              <a:rPr sz="1100">
                <a:solidFill>
                  <a:srgbClr val="17212C"/>
                </a:solidFill>
              </a:rPr>
              <a:t>– 10-seed re-runs, frozen event-hash splits, test blinding; every number above is a pre-registered hypothesis</a:t>
            </a:r>
          </a:p>
          <a:p>
            <a:pPr lvl="1">
              <a:spcAft>
                <a:spcPts val="500"/>
              </a:spcAft>
            </a:pPr>
            <a:r>
              <a:rPr sz="1100">
                <a:solidFill>
                  <a:srgbClr val="17212C"/>
                </a:solidFill>
              </a:rPr>
              <a:t>– Mixture-density heads (the tail evidence); coverage/σ-rescaling protocol</a:t>
            </a:r>
          </a:p>
          <a:p>
            <a:pPr lvl="1">
              <a:spcAft>
                <a:spcPts val="500"/>
              </a:spcAft>
            </a:pPr>
            <a:r>
              <a:rPr sz="1100">
                <a:solidFill>
                  <a:srgbClr val="17212C"/>
                </a:solidFill>
              </a:rPr>
              <a:t>– Feature-ablation ladder from jet(pT,η,φ)-only baseline upward</a:t>
            </a:r>
          </a:p>
          <a:p>
            <a:pPr lvl="1">
              <a:spcAft>
                <a:spcPts val="500"/>
              </a:spcAft>
            </a:pPr>
            <a:r>
              <a:rPr sz="1100">
                <a:solidFill>
                  <a:srgbClr val="17212C"/>
                </a:solidFill>
              </a:rPr>
              <a:t>– Failure-mode event displays (largest/smallest corrections)</a:t>
            </a:r>
          </a:p>
          <a:p>
            <a:pPr lvl="1">
              <a:spcAft>
                <a:spcPts val="500"/>
              </a:spcAft>
            </a:pPr>
            <a:r>
              <a:rPr sz="1100">
                <a:solidFill>
                  <a:srgbClr val="17212C"/>
                </a:solidFill>
              </a:rPr>
              <a:t>– Classical baselines: numerical inversion, GSC-like MLP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92240" y="1463040"/>
            <a:ext cx="52120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300">
                <a:solidFill>
                  <a:srgbClr val="17212C"/>
                </a:solidFill>
              </a:rPr>
              <a:t>• Asks:</a:t>
            </a:r>
          </a:p>
          <a:p>
            <a:pPr lvl="1">
              <a:spcAft>
                <a:spcPts val="500"/>
              </a:spcAft>
            </a:pPr>
            <a:r>
              <a:rPr sz="1100">
                <a:solidFill>
                  <a:srgbClr val="17212C"/>
                </a:solidFill>
              </a:rPr>
              <a:t>– SLAC side: prediction files for common-jets evaluation; SuperHJD source; gluon labeling method; GN2 fill in a rerun?</a:t>
            </a:r>
          </a:p>
          <a:p>
            <a:pPr lvl="1">
              <a:spcAft>
                <a:spcPts val="500"/>
              </a:spcAft>
            </a:pPr>
            <a:r>
              <a:rPr sz="1100">
                <a:solidFill>
                  <a:srgbClr val="17212C"/>
                </a:solidFill>
              </a:rPr>
              <a:t>– Data transfer (script ready): VBF H→inv first, then +150 ttbar files (~10× statistics), SLAC→UTA.</a:t>
            </a:r>
          </a:p>
          <a:p>
            <a:pPr lvl="1">
              <a:spcAft>
                <a:spcPts val="500"/>
              </a:spcAft>
            </a:pPr>
            <a:r>
              <a:rPr sz="1100">
                <a:solidFill>
                  <a:srgbClr val="17212C"/>
                </a:solidFill>
              </a:rPr>
              <a:t>– Group decisions: |η|&gt;2.5 scope (propose defer); electron policy (propose veto+report); freeze current dataset for re-runs, use 10× extension for scaling study.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